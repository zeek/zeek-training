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Roboto Mon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gKwfw98RHwblYCQInqzsaQNWu9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ono-boldItalic.fntdata"/><Relationship Id="rId61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925a13aa0_1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12925a13aa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925a13aa0_1_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12925a13aa0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links in the slide deck references to the Zeek Doc online, and the links are clickable.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d2135a7f0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3d2135a7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If zeek is installed on your own server/laptop, you can pull down the training-repo and use the export command.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32fb213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732fb213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c2f37c78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fc2f37c78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4fe9e3eadb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24fe9e3ead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6097b2d4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16097b2d4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ce11af4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26ce11af4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6097b2d47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16097b2d47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6097b2d47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16097b2d47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6097b2d47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16097b2d47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6097b2d47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16097b2d47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6097b2d47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16097b2d47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6097b2d47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16097b2d47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6097b2d47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16097b2d47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6097b2d47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16097b2d47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6097b2d47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16097b2d4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6097b2d47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16097b2d47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6097b2d47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16097b2d47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6097b2d47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16097b2d47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6097b2d47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16097b2d47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6097b2d47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16097b2d47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6097b2d47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16097b2d47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65f0746f2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165f0746f2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65f0746f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165f0746f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875563d872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2875563d8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75563d87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2875563d87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875563d87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2875563d87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5ab3a73bd6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15ab3a73b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ab3a73bd6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15ab3a73b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5ab3a73bd6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15ab3a73b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5ab3a73bd6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15ab3a73b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5ab3a73bd6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15ab3a73b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5ab3a73bd6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15ab3a73b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3bbd2e31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13bbd2e31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5bd595cbc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15bd595cb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639fc774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1639fc774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2925a13aa0_1_2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12925a13aa0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925a13aa0_1_3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12925a13aa0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Packet-fragments won’t work with @load...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2925a13aa0_1_3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12925a13aa0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2925a13aa0_1_3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12925a13aa0_1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875563d87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2875563d87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875563d87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2875563d87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2925a13aa0_1_3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12925a13aa0_1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a81f9c2e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fa81f9c2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81f9c2ef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fa81f9c2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a81f9c2ef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fa81f9c2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a81f9c2ef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fa81f9c2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a81f9c2ef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fa81f9c2e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2925a13aa0_1_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g12925a13aa0_1_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g12925a13aa0_1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" name="Google Shape;18;g12925a13aa0_1_10"/>
          <p:cNvGrpSpPr/>
          <p:nvPr/>
        </p:nvGrpSpPr>
        <p:grpSpPr>
          <a:xfrm>
            <a:off x="0" y="5057131"/>
            <a:ext cx="9143874" cy="146552"/>
            <a:chOff x="0" y="5056825"/>
            <a:chExt cx="9143874" cy="77100"/>
          </a:xfrm>
        </p:grpSpPr>
        <p:sp>
          <p:nvSpPr>
            <p:cNvPr id="19" name="Google Shape;19;g12925a13aa0_1_10"/>
            <p:cNvSpPr/>
            <p:nvPr/>
          </p:nvSpPr>
          <p:spPr>
            <a:xfrm>
              <a:off x="7355977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12925a13aa0_1_10"/>
            <p:cNvSpPr/>
            <p:nvPr/>
          </p:nvSpPr>
          <p:spPr>
            <a:xfrm>
              <a:off x="8249874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12925a13aa0_1_10"/>
            <p:cNvSpPr/>
            <p:nvPr/>
          </p:nvSpPr>
          <p:spPr>
            <a:xfrm>
              <a:off x="0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g12925a13aa0_1_10"/>
            <p:cNvSpPr/>
            <p:nvPr/>
          </p:nvSpPr>
          <p:spPr>
            <a:xfrm>
              <a:off x="893663" y="5056825"/>
              <a:ext cx="64623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2925a13aa0_1_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12925a13aa0_1_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12925a13aa0_1_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g12925a13aa0_1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2925a13aa0_1_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g12925a13aa0_1_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e02d27435_1_483"/>
          <p:cNvSpPr txBox="1"/>
          <p:nvPr>
            <p:ph type="ctrTitle"/>
          </p:nvPr>
        </p:nvSpPr>
        <p:spPr>
          <a:xfrm>
            <a:off x="914399" y="1597819"/>
            <a:ext cx="77628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33" name="Google Shape;33;g38e02d27435_1_483"/>
          <p:cNvSpPr txBox="1"/>
          <p:nvPr>
            <p:ph idx="1" type="subTitle"/>
          </p:nvPr>
        </p:nvSpPr>
        <p:spPr>
          <a:xfrm>
            <a:off x="914400" y="2901950"/>
            <a:ext cx="3597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63738"/>
              </a:buClr>
              <a:buSzPts val="17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36373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Merriweather Sans"/>
              <a:buNone/>
              <a:defRPr b="0" i="0" sz="14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A1A2A3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A1A2A3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A1A2A3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A1A2A3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g38e02d27435_1_483"/>
          <p:cNvSpPr txBox="1"/>
          <p:nvPr>
            <p:ph idx="10" type="dt"/>
          </p:nvPr>
        </p:nvSpPr>
        <p:spPr>
          <a:xfrm>
            <a:off x="930274" y="4862516"/>
            <a:ext cx="1686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g38e02d27435_1_483"/>
          <p:cNvSpPr txBox="1"/>
          <p:nvPr>
            <p:ph idx="11" type="ftr"/>
          </p:nvPr>
        </p:nvSpPr>
        <p:spPr>
          <a:xfrm>
            <a:off x="4572000" y="486251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g38e02d27435_1_483"/>
          <p:cNvSpPr txBox="1"/>
          <p:nvPr>
            <p:ph idx="12" type="sldNum"/>
          </p:nvPr>
        </p:nvSpPr>
        <p:spPr>
          <a:xfrm>
            <a:off x="457200" y="4862516"/>
            <a:ext cx="44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DOE_logo.png" id="37" name="Google Shape;37;g38e02d27435_1_4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4467" y="4374071"/>
            <a:ext cx="1179576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b_Logo.png" id="38" name="Google Shape;38;g38e02d27435_1_4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4250626"/>
            <a:ext cx="681228" cy="516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net_Logo_Header.png" id="39" name="Google Shape;39;g38e02d27435_1_4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333" y="488950"/>
            <a:ext cx="2466594" cy="72009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8e02d27435_1_483"/>
          <p:cNvSpPr txBox="1"/>
          <p:nvPr>
            <p:ph idx="2" type="body"/>
          </p:nvPr>
        </p:nvSpPr>
        <p:spPr>
          <a:xfrm>
            <a:off x="5116513" y="2901553"/>
            <a:ext cx="3570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19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Merriweather Sans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8e02d27435_1_49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43" name="Google Shape;43;g38e02d27435_1_493"/>
          <p:cNvSpPr txBox="1"/>
          <p:nvPr>
            <p:ph idx="1" type="body"/>
          </p:nvPr>
        </p:nvSpPr>
        <p:spPr>
          <a:xfrm>
            <a:off x="457200" y="1200151"/>
            <a:ext cx="8229600" cy="3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655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 Sans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g38e02d27435_1_493"/>
          <p:cNvSpPr txBox="1"/>
          <p:nvPr>
            <p:ph idx="10" type="dt"/>
          </p:nvPr>
        </p:nvSpPr>
        <p:spPr>
          <a:xfrm>
            <a:off x="930274" y="4862516"/>
            <a:ext cx="1686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g38e02d27435_1_493"/>
          <p:cNvSpPr txBox="1"/>
          <p:nvPr>
            <p:ph idx="11" type="ftr"/>
          </p:nvPr>
        </p:nvSpPr>
        <p:spPr>
          <a:xfrm>
            <a:off x="4572000" y="486251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g38e02d27435_1_493"/>
          <p:cNvSpPr txBox="1"/>
          <p:nvPr>
            <p:ph idx="12" type="sldNum"/>
          </p:nvPr>
        </p:nvSpPr>
        <p:spPr>
          <a:xfrm>
            <a:off x="457200" y="4862516"/>
            <a:ext cx="44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eek Project - General slide Deck">
  <p:cSld name="TITLE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2925a13aa0_1_56"/>
          <p:cNvSpPr txBox="1"/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400"/>
              <a:buNone/>
              <a:defRPr sz="4400">
                <a:solidFill>
                  <a:srgbClr val="2185C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g12925a13aa0_1_56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12925a13aa0_1_56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12925a13aa0_1_56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12925a13aa0_1_56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g12925a13aa0_1_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925a13aa0_1_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g12925a13aa0_1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g12925a13aa0_1_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925a13aa0_1_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g12925a13aa0_1_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g12925a13aa0_1_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g12925a13aa0_1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g12925a13aa0_1_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2925a13aa0_1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g12925a13aa0_1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g12925a13aa0_1_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925a13aa0_1_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" name="Google Shape;70;g12925a13aa0_1_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g12925a13aa0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g12925a13aa0_1_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2925a13aa0_1_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5" name="Google Shape;75;g12925a13aa0_1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g12925a13aa0_1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925a13aa0_1_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12925a13aa0_1_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g12925a13aa0_1_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g12925a13aa0_1_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g12925a13aa0_1_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925a13aa0_1_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5" name="Google Shape;85;g12925a13aa0_1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g12925a13aa0_1_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925a13aa0_1_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g12925a13aa0_1_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g12925a13aa0_1_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g12925a13aa0_1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2925a13aa0_1_62"/>
          <p:cNvSpPr txBox="1"/>
          <p:nvPr>
            <p:ph idx="1" type="body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1"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1"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9pPr>
          </a:lstStyle>
          <a:p/>
        </p:txBody>
      </p:sp>
      <p:sp>
        <p:nvSpPr>
          <p:cNvPr id="94" name="Google Shape;94;g12925a13aa0_1_62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" sz="9600" u="none" cap="none" strike="noStrike">
                <a:solidFill>
                  <a:srgbClr val="FFEA7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9600" u="none" cap="none" strike="noStrike">
              <a:solidFill>
                <a:srgbClr val="FFEA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2925a13aa0_1_62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2925a13aa0_1_62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12925a13aa0_1_62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2925a13aa0_1_62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12925a13aa0_1_62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g12925a13aa0_1_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2925a13aa0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2925a13aa0_1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2925a13aa0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g12925a13aa0_1_0"/>
          <p:cNvGrpSpPr/>
          <p:nvPr/>
        </p:nvGrpSpPr>
        <p:grpSpPr>
          <a:xfrm>
            <a:off x="0" y="5057131"/>
            <a:ext cx="9143874" cy="146552"/>
            <a:chOff x="0" y="5056825"/>
            <a:chExt cx="9143874" cy="77100"/>
          </a:xfrm>
        </p:grpSpPr>
        <p:sp>
          <p:nvSpPr>
            <p:cNvPr id="10" name="Google Shape;10;g12925a13aa0_1_0"/>
            <p:cNvSpPr/>
            <p:nvPr/>
          </p:nvSpPr>
          <p:spPr>
            <a:xfrm>
              <a:off x="7355977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g12925a13aa0_1_0"/>
            <p:cNvSpPr/>
            <p:nvPr/>
          </p:nvSpPr>
          <p:spPr>
            <a:xfrm>
              <a:off x="8249874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12925a13aa0_1_0"/>
            <p:cNvSpPr/>
            <p:nvPr/>
          </p:nvSpPr>
          <p:spPr>
            <a:xfrm>
              <a:off x="0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12925a13aa0_1_0"/>
            <p:cNvSpPr/>
            <p:nvPr/>
          </p:nvSpPr>
          <p:spPr>
            <a:xfrm>
              <a:off x="893663" y="5056825"/>
              <a:ext cx="64623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zeek.org/en/master/" TargetMode="External"/><Relationship Id="rId4" Type="http://schemas.openxmlformats.org/officeDocument/2006/relationships/hyperlink" Target="https://zeek.org/slack" TargetMode="External"/><Relationship Id="rId5" Type="http://schemas.openxmlformats.org/officeDocument/2006/relationships/hyperlink" Target="https://zeekorg.slack.com/archives/C01SW22P8UX" TargetMode="External"/><Relationship Id="rId6" Type="http://schemas.openxmlformats.org/officeDocument/2006/relationships/hyperlink" Target="https://github.com/zeek/zeek-training/tree/master/Intro-to-Zee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b.docker.com/u/zeek" TargetMode="External"/><Relationship Id="rId4" Type="http://schemas.openxmlformats.org/officeDocument/2006/relationships/hyperlink" Target="https://github.com/zeek/zeek-training.git" TargetMode="External"/><Relationship Id="rId5" Type="http://schemas.openxmlformats.org/officeDocument/2006/relationships/hyperlink" Target="http://setup.sh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esnet/dpdk-plugin" TargetMode="External"/><Relationship Id="rId4" Type="http://schemas.openxmlformats.org/officeDocument/2006/relationships/hyperlink" Target="https://www.youtube.com/watch?v=a8nBmIwwF_I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ommons.lbl.gov/display/cpp/100G+Intrusion+Detection" TargetMode="External"/><Relationship Id="rId4" Type="http://schemas.openxmlformats.org/officeDocument/2006/relationships/hyperlink" Target="https://github.com/pevma/SEPTun-Mark-II" TargetMode="External"/><Relationship Id="rId5" Type="http://schemas.openxmlformats.org/officeDocument/2006/relationships/hyperlink" Target="https://github.com/esnet/zeek-exporter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ncsa/dumbno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cs.zeek.org/en/v4.1.0/quickstart.html#filesystem-walkthrough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ocs.zeek.org/en/master/script-reference/statements.html#keyword-module" TargetMode="External"/><Relationship Id="rId4" Type="http://schemas.openxmlformats.org/officeDocument/2006/relationships/hyperlink" Target="https://docs.zeek.org/en/master/script-reference/statements.html#export" TargetMode="External"/><Relationship Id="rId5" Type="http://schemas.openxmlformats.org/officeDocument/2006/relationships/hyperlink" Target="https://docs.zeek.org/en/master/script-reference/statements.html#redef" TargetMode="External"/><Relationship Id="rId6" Type="http://schemas.openxmlformats.org/officeDocument/2006/relationships/hyperlink" Target="https://docs.zeek.org/en/master/script-reference/statements.html#redef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ocs.zeek.org/en/master/script-reference/statements.html#keyword-option" TargetMode="External"/><Relationship Id="rId4" Type="http://schemas.openxmlformats.org/officeDocument/2006/relationships/hyperlink" Target="https://docs.zeek.org/en/master/frameworks/configuration.html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docs.zeek.org/projects/package-manager/en/stable/index.html" TargetMode="External"/><Relationship Id="rId4" Type="http://schemas.openxmlformats.org/officeDocument/2006/relationships/hyperlink" Target="https://packages.zeek.org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github.com/salesforce/ja3/tree/master/zeek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packages.zeek.org/packages/view/cb34c106-9348-11eb-81e7-0a598146b5c6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925a13aa0_1_70"/>
          <p:cNvSpPr txBox="1"/>
          <p:nvPr>
            <p:ph type="ctrTitle"/>
          </p:nvPr>
        </p:nvSpPr>
        <p:spPr>
          <a:xfrm>
            <a:off x="311700" y="1705375"/>
            <a:ext cx="85206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4016"/>
              <a:buNone/>
            </a:pPr>
            <a:r>
              <a:rPr lang="en"/>
              <a:t>Introduction to real-world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4017"/>
              <a:buNone/>
            </a:pPr>
            <a:r>
              <a:rPr lang="en"/>
              <a:t>Zeek deployment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8146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106" name="Google Shape;106;g12925a13aa0_1_70"/>
          <p:cNvSpPr txBox="1"/>
          <p:nvPr>
            <p:ph idx="1" type="subTitle"/>
          </p:nvPr>
        </p:nvSpPr>
        <p:spPr>
          <a:xfrm>
            <a:off x="311700" y="34119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2615"/>
              <a:t>Zeek Workshop Berkeley</a:t>
            </a:r>
            <a:endParaRPr sz="2615"/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2364"/>
              <a:t>Sept 11, 2026</a:t>
            </a:r>
            <a:endParaRPr sz="2615"/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605"/>
              <a:buNone/>
            </a:pPr>
            <a:r>
              <a:t/>
            </a:r>
            <a:endParaRPr sz="2340"/>
          </a:p>
        </p:txBody>
      </p:sp>
      <p:pic>
        <p:nvPicPr>
          <p:cNvPr id="107" name="Google Shape;107;g12925a13aa0_1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2437" y="150225"/>
            <a:ext cx="1579124" cy="140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3333"/>
              <a:buFont typeface="Arial"/>
              <a:buNone/>
            </a:pPr>
            <a:r>
              <a:rPr lang="en" sz="3000">
                <a:solidFill>
                  <a:srgbClr val="00B0F0"/>
                </a:solidFill>
              </a:rPr>
              <a:t>Who Am I?</a:t>
            </a:r>
            <a:endParaRPr sz="3000"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544500" y="1078750"/>
            <a:ext cx="82125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18"/>
              <a:buNone/>
            </a:pPr>
            <a:r>
              <a:rPr lang="en" sz="2000"/>
              <a:t>Fatema Bannat Wala</a:t>
            </a:r>
            <a:endParaRPr sz="24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Security Engineer @ ESnet/LBNL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</a:t>
            </a:r>
            <a:r>
              <a:rPr lang="en"/>
              <a:t>1</a:t>
            </a:r>
            <a:r>
              <a:rPr lang="en" sz="1800"/>
              <a:t>+ yrs of hands-on network defense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Zeek LT Member / Zeek Training Subgroup Lead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Agenda (9am - 12pm)</a:t>
            </a:r>
            <a:endParaRPr sz="3000">
              <a:solidFill>
                <a:srgbClr val="00B0F0"/>
              </a:solidFill>
            </a:endParaRPr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311700" y="832225"/>
            <a:ext cx="7921200" cy="3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is a Zeek / Cluster? </a:t>
            </a: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Become familiar with Cluster Configs </a:t>
            </a:r>
            <a:endParaRPr sz="1400"/>
          </a:p>
          <a:p>
            <a:pPr indent="-3175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Zeek’s Filesystem Layout </a:t>
            </a:r>
            <a:endParaRPr sz="1400">
              <a:solidFill>
                <a:srgbClr val="25C804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Running Zeek in a Cluster</a:t>
            </a:r>
            <a:endParaRPr sz="1400"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5C804"/>
                </a:solidFill>
              </a:rPr>
              <a:t>&lt;break 15 &gt; 10:45 am - 11 am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Customizing Zeek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accent1"/>
                </a:solidFill>
              </a:rPr>
              <a:t>Zeek Package Manager (zkg)</a:t>
            </a:r>
            <a:endParaRPr sz="1400"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1"/>
              </a:solidFill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25C804"/>
                </a:solidFill>
              </a:rPr>
              <a:t>&lt;Lunch 1hr&gt; 12:</a:t>
            </a:r>
            <a:r>
              <a:rPr lang="en" sz="1400">
                <a:solidFill>
                  <a:srgbClr val="25C804"/>
                </a:solidFill>
              </a:rPr>
              <a:t>15 pm</a:t>
            </a:r>
            <a:r>
              <a:rPr lang="en" sz="1400">
                <a:solidFill>
                  <a:srgbClr val="25C804"/>
                </a:solidFill>
              </a:rPr>
              <a:t> - 1:</a:t>
            </a:r>
            <a:r>
              <a:rPr lang="en" sz="1400">
                <a:solidFill>
                  <a:srgbClr val="25C804"/>
                </a:solidFill>
              </a:rPr>
              <a:t>30 pm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FF"/>
              </a:solidFill>
            </a:endParaRPr>
          </a:p>
        </p:txBody>
      </p:sp>
      <p:sp>
        <p:nvSpPr>
          <p:cNvPr id="120" name="Google Shape;1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925a13aa0_1_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Housekeeping</a:t>
            </a:r>
            <a:endParaRPr sz="3000">
              <a:solidFill>
                <a:srgbClr val="00B0F0"/>
              </a:solidFill>
            </a:endParaRPr>
          </a:p>
        </p:txBody>
      </p:sp>
      <p:sp>
        <p:nvSpPr>
          <p:cNvPr id="126" name="Google Shape;126;g12925a13aa0_1_87"/>
          <p:cNvSpPr txBox="1"/>
          <p:nvPr>
            <p:ph idx="1" type="body"/>
          </p:nvPr>
        </p:nvSpPr>
        <p:spPr>
          <a:xfrm>
            <a:off x="311700" y="1302050"/>
            <a:ext cx="7857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Zeek’s Official Documentation: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https://docs.zeek.org</a:t>
            </a:r>
            <a:endParaRPr sz="2000">
              <a:solidFill>
                <a:schemeClr val="accent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Join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Zeek Slack</a:t>
            </a:r>
            <a:r>
              <a:rPr lang="en" sz="2000"/>
              <a:t> channel 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#training</a:t>
            </a:r>
            <a:endParaRPr sz="1600">
              <a:solidFill>
                <a:srgbClr val="00AAE3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Slide deck for this training can be found here: </a:t>
            </a:r>
            <a:r>
              <a:rPr lang="en" sz="1600" u="sng">
                <a:solidFill>
                  <a:schemeClr val="hlink"/>
                </a:solidFill>
                <a:hlinkClick r:id="rId6"/>
              </a:rPr>
              <a:t>https://github.com/zeek/zeek-training/tree/master/Intro-to-Zeek</a:t>
            </a:r>
            <a:endParaRPr sz="1600">
              <a:solidFill>
                <a:srgbClr val="00AAE3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51A3"/>
              </a:buClr>
              <a:buSzPts val="1600"/>
              <a:buChar char="○"/>
            </a:pPr>
            <a:r>
              <a:rPr lang="en" sz="1600">
                <a:solidFill>
                  <a:srgbClr val="2A51A3"/>
                </a:solidFill>
              </a:rPr>
              <a:t>Highly recommend to have a copy of slide deck open in a browser tab, for easy copy paste of the commands in exercises.</a:t>
            </a:r>
            <a:endParaRPr sz="1600">
              <a:solidFill>
                <a:srgbClr val="2A51A3"/>
              </a:solidFill>
            </a:endParaRPr>
          </a:p>
        </p:txBody>
      </p:sp>
      <p:sp>
        <p:nvSpPr>
          <p:cNvPr id="127" name="Google Shape;127;g12925a13aa0_1_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d2135a7f0_0_5"/>
          <p:cNvSpPr txBox="1"/>
          <p:nvPr>
            <p:ph type="title"/>
          </p:nvPr>
        </p:nvSpPr>
        <p:spPr>
          <a:xfrm>
            <a:off x="311700" y="27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Docker / Zeek Usage</a:t>
            </a:r>
            <a:endParaRPr sz="3000"/>
          </a:p>
        </p:txBody>
      </p:sp>
      <p:sp>
        <p:nvSpPr>
          <p:cNvPr id="133" name="Google Shape;133;g23d2135a7f0_0_5"/>
          <p:cNvSpPr txBox="1"/>
          <p:nvPr>
            <p:ph idx="1" type="body"/>
          </p:nvPr>
        </p:nvSpPr>
        <p:spPr>
          <a:xfrm>
            <a:off x="311700" y="764850"/>
            <a:ext cx="8520600" cy="4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1"/>
          </a:p>
          <a:p>
            <a:pPr indent="-325932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532"/>
              <a:buChar char="●"/>
            </a:pPr>
            <a:r>
              <a:rPr lang="en" sz="1531"/>
              <a:t>Setup your Zeek Docker image</a:t>
            </a:r>
            <a:endParaRPr sz="1531"/>
          </a:p>
          <a:p>
            <a:pPr indent="-30988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280"/>
              <a:buChar char="○"/>
            </a:pPr>
            <a:r>
              <a:rPr lang="en" sz="1280">
                <a:solidFill>
                  <a:srgbClr val="00589D"/>
                </a:solidFill>
              </a:rPr>
              <a:t>Grab the latest Zeek LTS image from </a:t>
            </a:r>
            <a:r>
              <a:rPr lang="en" sz="1280" u="sng">
                <a:solidFill>
                  <a:schemeClr val="hlink"/>
                </a:solidFill>
                <a:hlinkClick r:id="rId3"/>
              </a:rPr>
              <a:t>https://hub.docker.com/u/zeek</a:t>
            </a:r>
            <a:endParaRPr sz="1280">
              <a:solidFill>
                <a:srgbClr val="00589D"/>
              </a:solidFill>
            </a:endParaRPr>
          </a:p>
          <a:p>
            <a:pPr indent="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docker pull zeek/zeek:lts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docker run -it zeek/zeek:lts /bin/bash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988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280"/>
              <a:buChar char="○"/>
            </a:pPr>
            <a:r>
              <a:rPr lang="en" sz="1280">
                <a:solidFill>
                  <a:srgbClr val="00589D"/>
                </a:solidFill>
              </a:rPr>
              <a:t>Inside the container, set up resources used during this training:</a:t>
            </a:r>
            <a:endParaRPr sz="1280"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git clone </a:t>
            </a:r>
            <a:r>
              <a:rPr lang="en" sz="128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https://github.com/zeek/zeek-training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ln -sfn /usr/local/zeek zeek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ln -sfn /zeek-training/Intro-to-Zeek/training-res training-res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cd zeek-training</a:t>
            </a:r>
            <a:endParaRPr sz="850">
              <a:solidFill>
                <a:srgbClr val="25C804"/>
              </a:solidFill>
              <a:highlight>
                <a:srgbClr val="111111"/>
              </a:highlight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./</a:t>
            </a:r>
            <a:r>
              <a:rPr lang="en" sz="128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setup.sh</a:t>
            </a: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all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988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280"/>
              <a:buChar char="○"/>
            </a:pPr>
            <a:r>
              <a:rPr lang="en" sz="1280">
                <a:solidFill>
                  <a:srgbClr val="00589D"/>
                </a:solidFill>
              </a:rPr>
              <a:t>To run additional shells in the container:</a:t>
            </a:r>
            <a:endParaRPr sz="1280">
              <a:solidFill>
                <a:srgbClr val="00589D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rgbClr val="00589D"/>
                </a:solidFill>
              </a:rPr>
              <a:t>	</a:t>
            </a: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docker exec -it &lt;container name&gt; /bin/bash 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623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380"/>
              <a:buChar char="●"/>
            </a:pPr>
            <a:r>
              <a:rPr lang="en" sz="1565">
                <a:solidFill>
                  <a:srgbClr val="00589D"/>
                </a:solidFill>
              </a:rPr>
              <a:t>Verify</a:t>
            </a:r>
            <a:r>
              <a:rPr lang="en" sz="1565"/>
              <a:t> that </a:t>
            </a:r>
            <a:r>
              <a:rPr lang="en" sz="1565">
                <a:solidFill>
                  <a:srgbClr val="00589D"/>
                </a:solidFill>
              </a:rPr>
              <a:t>Zeek </a:t>
            </a:r>
            <a:r>
              <a:rPr lang="en" sz="1565"/>
              <a:t>runs</a:t>
            </a:r>
            <a:r>
              <a:rPr lang="en" sz="1565">
                <a:solidFill>
                  <a:srgbClr val="00589D"/>
                </a:solidFill>
              </a:rPr>
              <a:t> correctly: </a:t>
            </a:r>
            <a:r>
              <a:rPr lang="en" sz="1565">
                <a:solidFill>
                  <a:srgbClr val="2185C5"/>
                </a:solidFill>
                <a:latin typeface="Roboto Mono"/>
                <a:ea typeface="Roboto Mono"/>
                <a:cs typeface="Roboto Mono"/>
                <a:sym typeface="Roboto Mono"/>
              </a:rPr>
              <a:t># zeek --version</a:t>
            </a:r>
            <a:endParaRPr sz="1842">
              <a:solidFill>
                <a:srgbClr val="2185C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4" name="Google Shape;134;g23d2135a7f0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32fb21386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What is Zeek?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40" name="Google Shape;140;g2732fb2138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002" y="3051700"/>
            <a:ext cx="2023650" cy="1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732fb213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1038" y="1017713"/>
            <a:ext cx="187642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732fb2138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9977" y="2817938"/>
            <a:ext cx="2280575" cy="202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732fb2138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3275" y="1619949"/>
            <a:ext cx="1534275" cy="109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732fb21386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3125" y="1690625"/>
            <a:ext cx="1534275" cy="10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732fb21386_0_0"/>
          <p:cNvSpPr txBox="1"/>
          <p:nvPr/>
        </p:nvSpPr>
        <p:spPr>
          <a:xfrm>
            <a:off x="1525075" y="1956350"/>
            <a:ext cx="1469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Sniffs traffic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2732fb21386_0_0"/>
          <p:cNvSpPr txBox="1"/>
          <p:nvPr/>
        </p:nvSpPr>
        <p:spPr>
          <a:xfrm>
            <a:off x="5934800" y="1956350"/>
            <a:ext cx="19854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Generates logs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2732fb21386_0_0"/>
          <p:cNvSpPr txBox="1"/>
          <p:nvPr/>
        </p:nvSpPr>
        <p:spPr>
          <a:xfrm>
            <a:off x="6294500" y="3319475"/>
            <a:ext cx="18345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http.log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ssl.log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ssh.log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smtp.log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weird.log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notice.log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732fb21386_0_0"/>
          <p:cNvSpPr txBox="1"/>
          <p:nvPr/>
        </p:nvSpPr>
        <p:spPr>
          <a:xfrm>
            <a:off x="3625625" y="665225"/>
            <a:ext cx="129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Zeek NSM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c2f37c78a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Zeek Packet Pipeline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54" name="Google Shape;154;g2fc2f37c78a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738" y="1626325"/>
            <a:ext cx="62579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fc2f37c78a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8679" y="1891150"/>
            <a:ext cx="88951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4fe9e3eadb_0_88"/>
          <p:cNvSpPr txBox="1"/>
          <p:nvPr>
            <p:ph type="title"/>
          </p:nvPr>
        </p:nvSpPr>
        <p:spPr>
          <a:xfrm>
            <a:off x="311700" y="1957325"/>
            <a:ext cx="85206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4800">
                <a:solidFill>
                  <a:srgbClr val="00B0F0"/>
                </a:solidFill>
              </a:rPr>
              <a:t>What is a Zeek </a:t>
            </a:r>
            <a:r>
              <a:rPr lang="en" sz="4800">
                <a:solidFill>
                  <a:srgbClr val="00B0F0"/>
                </a:solidFill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Cluster</a:t>
            </a:r>
            <a:r>
              <a:rPr lang="en" sz="4800">
                <a:solidFill>
                  <a:srgbClr val="00B0F0"/>
                </a:solidFill>
              </a:rPr>
              <a:t>?</a:t>
            </a:r>
            <a:endParaRPr sz="4800"/>
          </a:p>
        </p:txBody>
      </p:sp>
      <p:sp>
        <p:nvSpPr>
          <p:cNvPr id="161" name="Google Shape;161;g24fe9e3eadb_0_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6097b2d47b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What / Why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7" name="Google Shape;167;g16097b2d47b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A Zeek Cluster</a:t>
            </a:r>
            <a:r>
              <a:rPr lang="en"/>
              <a:t> is a set of system processes, all running Zeek, with a set of scripts that adjust their purpose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opposed to running a single Zeek process, reading from a pcap, for instance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run on one or more host environments — machines, VMs, containers, etc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scale Zeek to keep up with more traffic, one adds processes (“nodes”) to the cluster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Supporting tools handle tasks like monitoring processes and log rotation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need 24x7 network monitoring, clustering is your answer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ce11af40f_0_0"/>
          <p:cNvSpPr txBox="1"/>
          <p:nvPr/>
        </p:nvSpPr>
        <p:spPr>
          <a:xfrm>
            <a:off x="2422050" y="4613800"/>
            <a:ext cx="42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Zeek Project.  Creative Commons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26ce11af40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900" y="152400"/>
            <a:ext cx="6074362" cy="43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16097b2d47b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375" y="56613"/>
            <a:ext cx="6149650" cy="46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16097b2d47b_0_80"/>
          <p:cNvSpPr txBox="1"/>
          <p:nvPr/>
        </p:nvSpPr>
        <p:spPr>
          <a:xfrm>
            <a:off x="2231250" y="4591050"/>
            <a:ext cx="42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Zeek Project.  Creative Commons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6097b2d47b_0_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Sniffing Packets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5" name="Google Shape;185;g16097b2d47b_0_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SPAN/MIRROR ports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Configured on the router/switch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Pros :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Flexible (could mirror only certain network segments)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Might keep your network people happy (they can control the setup)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Cons :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Consumes router resources (CPU/physical ports)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Vulnerable/Visible to attackers (modifying/viewing configs)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Mistakes in managing network gear can impact flows</a:t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6097b2d47b_0_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Sniffing Packets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1" name="Google Shape;191;g16097b2d47b_0_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Taps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No moving parts, no config, invisible to attackers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Each link consumes two ports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Passive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Split light at fixed ratios (50/50 or 70/30 are common)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Light budget requires coordination with networking team based on distances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Reliable for Fiber optics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Active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Electrically powered device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Useful for converting signal types (such as 10 Gb SR to 10 Gb LR)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Useful for copper infrastructure</a:t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6097b2d47b_0_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Tap Aggregation (Packet Brokers)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7" name="Google Shape;197;g16097b2d47b_0_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Merges multiple tap sources</a:t>
            </a:r>
            <a:endParaRPr>
              <a:solidFill>
                <a:srgbClr val="00589D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Can output to groups of tools</a:t>
            </a:r>
            <a:endParaRPr>
              <a:solidFill>
                <a:srgbClr val="00589D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Arista / Gigamon / Ixia, for example</a:t>
            </a:r>
            <a:endParaRPr>
              <a:solidFill>
                <a:srgbClr val="00589D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/>
              <a:t>A</a:t>
            </a:r>
            <a:r>
              <a:rPr lang="en">
                <a:solidFill>
                  <a:srgbClr val="00589D"/>
                </a:solidFill>
              </a:rPr>
              <a:t>dvanced features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Packet deduplication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Packet Slicing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Timestamping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Tagging</a:t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6097b2d47b_0_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Worker Load Balancing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3" name="Google Shape;203;g16097b2d47b_0_92"/>
          <p:cNvSpPr txBox="1"/>
          <p:nvPr>
            <p:ph idx="1" type="body"/>
          </p:nvPr>
        </p:nvSpPr>
        <p:spPr>
          <a:xfrm>
            <a:off x="311700" y="1152475"/>
            <a:ext cx="8520600" cy="3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Open Source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AF_PACKET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Built into Linux kernel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Out of the box support in Zeek (AF_packet Plugin)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Can be challenging to setup and tune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Interrupt-based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DPDK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3"/>
              </a:rPr>
              <a:t>Zeek package</a:t>
            </a:r>
            <a:r>
              <a:rPr lang="en">
                <a:solidFill>
                  <a:srgbClr val="00589D"/>
                </a:solidFill>
              </a:rPr>
              <a:t> handles configuration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Also check out Vlad’s </a:t>
            </a:r>
            <a:r>
              <a:rPr lang="en" u="sng">
                <a:solidFill>
                  <a:schemeClr val="hlink"/>
                </a:solidFill>
                <a:hlinkClick r:id="rId4"/>
              </a:rPr>
              <a:t>talk at ZeekWeek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Comes with ~ 50 NIC drivers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Polling-based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Does not currently support bonded interfaces</a:t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6097b2d47b_0_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Worker Load Balancing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9" name="Google Shape;209;g16097b2d47b_0_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Commercial Solutions - NICs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Examples</a:t>
            </a:r>
            <a:r>
              <a:rPr lang="en">
                <a:solidFill>
                  <a:srgbClr val="00589D"/>
                </a:solidFill>
              </a:rPr>
              <a:t> : Endace / Napatech / Myricom</a:t>
            </a:r>
            <a:r>
              <a:rPr lang="en"/>
              <a:t> / Intel (ex. X710)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Expensive solution for very high performance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I’m most familiar with Myricom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Provides in-memory ring buffers with symmetric hashing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Very easy to support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Proprietary driver, updates can lag behind kernel versions</a:t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6097b2d47b_0_75"/>
          <p:cNvSpPr txBox="1"/>
          <p:nvPr/>
        </p:nvSpPr>
        <p:spPr>
          <a:xfrm>
            <a:off x="2422050" y="4613800"/>
            <a:ext cx="42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Zeek Project.  Creative Commons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16097b2d47b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475" y="162075"/>
            <a:ext cx="6074362" cy="43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6097b2d47b_0_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21" name="Google Shape;221;g16097b2d47b_0_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Logger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6097b2d47b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27" name="Google Shape;227;g16097b2d47b_0_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Every cluster has exactly one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Writing logs from workers (when not using separate logger nodes)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Useful for smaller volumes or limited hardware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also run scripts when you want to conduct analysis across multiple workers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Natural point in the cluster for centralized state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6097b2d47b_0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3" name="Google Shape;233;g16097b2d47b_0_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Manager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 network packets to create (most) events &amp; logs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scripts to alert on interesting traffic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6097b2d47b_0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9" name="Google Shape;239;g16097b2d47b_0_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Manager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Worker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 sharing among cluster workers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one, then add more if load is an issue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6097b2d47b_0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45" name="Google Shape;245;g16097b2d47b_0_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Manager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Worker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Proxy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Logger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Write logs via configurable writer plugins for files, Kafka, Elastic, etc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Easy support to load balancing among multiple logger nodes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Log rates vary depending on traffic and writer technology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Very roughly, up to 100K events/sec per logger should work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Good way to scale log I/O in high volume environments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Defaults to TSV-format file logging, but easy to switch to JSON or alternatives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6097b2d47b_0_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Architecture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1" name="Google Shape;251;g16097b2d47b_0_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Single Physical Box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Inexpensive, easy management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Useful for a single feed</a:t>
            </a:r>
            <a:endParaRPr>
              <a:solidFill>
                <a:srgbClr val="00589D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/>
              <a:t>For example: A 2U box with Intel(R) Xeon(R) Silver 4209T CPU @ 2.20GHz with 16 physical cores, and 376G memory for two 10G links monitoring</a:t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6097b2d47b_0_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Architecture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7" name="Google Shape;257;g16097b2d47b_0_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Hardware Cluster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Separate boxes for workers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1U boxes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Fast CPU, Lots of RAM, small disk (low I/O requirements)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Allows horizontal scaling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Not good candidates for VM environments</a:t>
            </a:r>
            <a:endParaRPr>
              <a:solidFill>
                <a:srgbClr val="00589D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○"/>
            </a:pPr>
            <a:r>
              <a:rPr lang="en">
                <a:solidFill>
                  <a:srgbClr val="00589D"/>
                </a:solidFill>
              </a:rPr>
              <a:t>Manager/Proxy/Logger on a single host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Moderate CPU/RAM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Fast Disk, ideal for logger node(s)</a:t>
            </a:r>
            <a:endParaRPr>
              <a:solidFill>
                <a:srgbClr val="00589D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Char char="■"/>
            </a:pPr>
            <a:r>
              <a:rPr lang="en">
                <a:solidFill>
                  <a:srgbClr val="00589D"/>
                </a:solidFill>
              </a:rPr>
              <a:t>Good components to consider running in a VM environment</a:t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6097b2d47b_0_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Performance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63" name="Google Shape;263;g16097b2d47b_0_104"/>
          <p:cNvSpPr txBox="1"/>
          <p:nvPr>
            <p:ph idx="1" type="body"/>
          </p:nvPr>
        </p:nvSpPr>
        <p:spPr>
          <a:xfrm>
            <a:off x="311700" y="1152475"/>
            <a:ext cx="8520600" cy="3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●"/>
            </a:pPr>
            <a:r>
              <a:rPr lang="en">
                <a:solidFill>
                  <a:srgbClr val="00589D"/>
                </a:solidFill>
              </a:rPr>
              <a:t>How big?</a:t>
            </a:r>
            <a:endParaRPr>
              <a:solidFill>
                <a:srgbClr val="00589D"/>
              </a:solidFill>
            </a:endParaRPr>
          </a:p>
          <a:p>
            <a:pPr indent="-30913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○"/>
            </a:pPr>
            <a:r>
              <a:rPr lang="en" sz="1635">
                <a:solidFill>
                  <a:srgbClr val="00589D"/>
                </a:solidFill>
              </a:rPr>
              <a:t>That depends.  A lot.</a:t>
            </a:r>
            <a:endParaRPr sz="1635">
              <a:solidFill>
                <a:srgbClr val="00589D"/>
              </a:solidFill>
            </a:endParaRPr>
          </a:p>
          <a:p>
            <a:pPr indent="-30913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○"/>
            </a:pPr>
            <a:r>
              <a:rPr lang="en" sz="1635">
                <a:solidFill>
                  <a:srgbClr val="00589D"/>
                </a:solidFill>
              </a:rPr>
              <a:t>~ 6 GB per worker process</a:t>
            </a:r>
            <a:endParaRPr sz="1635">
              <a:solidFill>
                <a:srgbClr val="00589D"/>
              </a:solidFill>
            </a:endParaRPr>
          </a:p>
          <a:p>
            <a:pPr indent="-30913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○"/>
            </a:pPr>
            <a:r>
              <a:rPr lang="en" sz="1635">
                <a:solidFill>
                  <a:srgbClr val="00589D"/>
                </a:solidFill>
              </a:rPr>
              <a:t>Faster CPUs are always better</a:t>
            </a:r>
            <a:endParaRPr sz="1635">
              <a:solidFill>
                <a:srgbClr val="00589D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LBL 100G Paper</a:t>
            </a:r>
            <a:endParaRPr>
              <a:solidFill>
                <a:srgbClr val="00589D"/>
              </a:solidFill>
            </a:endParaRPr>
          </a:p>
          <a:p>
            <a:pPr indent="-31033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○"/>
            </a:pPr>
            <a:r>
              <a:rPr lang="en" sz="1658">
                <a:solidFill>
                  <a:srgbClr val="00589D"/>
                </a:solidFill>
              </a:rPr>
              <a:t>Good architecture overviews</a:t>
            </a:r>
            <a:endParaRPr sz="1658">
              <a:solidFill>
                <a:srgbClr val="00589D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SEPTun-Mark-II</a:t>
            </a:r>
            <a:endParaRPr>
              <a:solidFill>
                <a:srgbClr val="00589D"/>
              </a:solidFill>
            </a:endParaRPr>
          </a:p>
          <a:p>
            <a:pPr indent="-31033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○"/>
            </a:pPr>
            <a:r>
              <a:rPr lang="en" sz="1658"/>
              <a:t>Originally written for </a:t>
            </a:r>
            <a:r>
              <a:rPr lang="en" sz="1658">
                <a:solidFill>
                  <a:srgbClr val="00589D"/>
                </a:solidFill>
              </a:rPr>
              <a:t>Suricata, but all concepts on </a:t>
            </a:r>
            <a:r>
              <a:rPr lang="en" sz="1658"/>
              <a:t>packet queues, </a:t>
            </a:r>
            <a:r>
              <a:rPr lang="en" sz="1658">
                <a:solidFill>
                  <a:srgbClr val="00589D"/>
                </a:solidFill>
              </a:rPr>
              <a:t>NUMA, OS tuning, etc apply</a:t>
            </a:r>
            <a:endParaRPr sz="1658">
              <a:solidFill>
                <a:srgbClr val="00589D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●"/>
            </a:pPr>
            <a:r>
              <a:rPr lang="en">
                <a:solidFill>
                  <a:srgbClr val="00589D"/>
                </a:solidFill>
              </a:rPr>
              <a:t>CPU Pinning</a:t>
            </a:r>
            <a:endParaRPr>
              <a:solidFill>
                <a:srgbClr val="00589D"/>
              </a:solidFill>
            </a:endParaRPr>
          </a:p>
          <a:p>
            <a:pPr indent="-31033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○"/>
            </a:pPr>
            <a:r>
              <a:rPr lang="en" sz="1658">
                <a:solidFill>
                  <a:srgbClr val="00589D"/>
                </a:solidFill>
              </a:rPr>
              <a:t>Avoid using hyperthreaded cores for workers</a:t>
            </a:r>
            <a:endParaRPr sz="1658">
              <a:solidFill>
                <a:srgbClr val="00589D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ct val="100000"/>
              <a:buChar char="●"/>
            </a:pPr>
            <a:r>
              <a:rPr lang="en"/>
              <a:t>Fine tuning via ethtool - tro/tso/rx/tx/ etc..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Metrics/Monitoring</a:t>
            </a:r>
            <a:endParaRPr/>
          </a:p>
          <a:p>
            <a:pPr indent="-31033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58"/>
              <a:t>Zeek 7+ features a new telemetry framework with built-in Prometheus scraping support</a:t>
            </a:r>
            <a:endParaRPr sz="1658"/>
          </a:p>
          <a:p>
            <a:pPr indent="-31033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58"/>
              <a:t>Alternatively, consider the </a:t>
            </a:r>
            <a:r>
              <a:rPr lang="en" sz="1658" u="sng">
                <a:solidFill>
                  <a:schemeClr val="hlink"/>
                </a:solidFill>
                <a:hlinkClick r:id="rId5"/>
              </a:rPr>
              <a:t>Zeek Exporter from ESNET</a:t>
            </a:r>
            <a:endParaRPr sz="1658"/>
          </a:p>
          <a:p>
            <a:pPr indent="-31033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58"/>
              <a:t>Collectd </a:t>
            </a:r>
            <a:endParaRPr sz="1658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65f0746f2c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Shunting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69" name="Google Shape;269;g165f0746f2c_0_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/>
              <a:t>Reduce load by blocking elephant flows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Streams/large file transfers over TLS, for example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Ideally, you block the data packets, but let TCP control packets through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Zeek can tell you conn size, packet count, duration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Dumbno</a:t>
            </a:r>
            <a:r>
              <a:rPr lang="en"/>
              <a:t> (for Arista)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65f0746f2c_0_0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Shunting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275" name="Google Shape;275;g165f0746f2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29850"/>
            <a:ext cx="8839204" cy="3383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875563d872_0_7"/>
          <p:cNvSpPr txBox="1"/>
          <p:nvPr>
            <p:ph type="title"/>
          </p:nvPr>
        </p:nvSpPr>
        <p:spPr>
          <a:xfrm>
            <a:off x="311700" y="1957325"/>
            <a:ext cx="85206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4800">
                <a:solidFill>
                  <a:srgbClr val="00B0F0"/>
                </a:solidFill>
              </a:rPr>
              <a:t>Real-world Deployments</a:t>
            </a:r>
            <a:endParaRPr sz="4800"/>
          </a:p>
        </p:txBody>
      </p:sp>
      <p:sp>
        <p:nvSpPr>
          <p:cNvPr id="281" name="Google Shape;281;g2875563d872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875563d872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N/W Architecture for Zeek deployment #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287" name="Google Shape;287;g2875563d872_0_12"/>
          <p:cNvPicPr preferRelativeResize="0"/>
          <p:nvPr/>
        </p:nvPicPr>
        <p:blipFill rotWithShape="1">
          <a:blip r:embed="rId3">
            <a:alphaModFix/>
          </a:blip>
          <a:srcRect b="4021" l="6429" r="3389" t="3539"/>
          <a:stretch/>
        </p:blipFill>
        <p:spPr>
          <a:xfrm>
            <a:off x="2826337" y="1190000"/>
            <a:ext cx="3491326" cy="367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75563d872_0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N/W Architecture for Zeek</a:t>
            </a:r>
            <a:r>
              <a:rPr lang="en" sz="1800">
                <a:solidFill>
                  <a:schemeClr val="accent3"/>
                </a:solidFill>
              </a:rPr>
              <a:t> </a:t>
            </a:r>
            <a:r>
              <a:rPr lang="en"/>
              <a:t>deployment #2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293" name="Google Shape;293;g2875563d872_0_18"/>
          <p:cNvPicPr preferRelativeResize="0"/>
          <p:nvPr/>
        </p:nvPicPr>
        <p:blipFill rotWithShape="1">
          <a:blip r:embed="rId3">
            <a:alphaModFix/>
          </a:blip>
          <a:srcRect b="7041" l="3846" r="-2972" t="4829"/>
          <a:stretch/>
        </p:blipFill>
        <p:spPr>
          <a:xfrm>
            <a:off x="1755275" y="1039775"/>
            <a:ext cx="5633450" cy="37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 txBox="1"/>
          <p:nvPr>
            <p:ph type="title"/>
          </p:nvPr>
        </p:nvSpPr>
        <p:spPr>
          <a:xfrm>
            <a:off x="311700" y="1957325"/>
            <a:ext cx="85206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4800">
                <a:solidFill>
                  <a:srgbClr val="00B0F0"/>
                </a:solidFill>
              </a:rPr>
              <a:t>Zeek’s Filesystem Layout</a:t>
            </a:r>
            <a:endParaRPr sz="4800"/>
          </a:p>
        </p:txBody>
      </p:sp>
      <p:sp>
        <p:nvSpPr>
          <p:cNvPr id="299" name="Google Shape;29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5ab3a73bd6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Filesystem Layout</a:t>
            </a:r>
            <a:endParaRPr sz="3000"/>
          </a:p>
        </p:txBody>
      </p:sp>
      <p:sp>
        <p:nvSpPr>
          <p:cNvPr id="305" name="Google Shape;305;g15ab3a73bd6_0_0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 sz="2200">
                <a:solidFill>
                  <a:srgbClr val="00589D"/>
                </a:solidFill>
              </a:rPr>
              <a:t>Not an exhaustive tour!</a:t>
            </a:r>
            <a:endParaRPr sz="1200">
              <a:solidFill>
                <a:srgbClr val="00589D"/>
              </a:solidFill>
            </a:endParaRPr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 sz="2200">
                <a:solidFill>
                  <a:srgbClr val="00589D"/>
                </a:solidFill>
              </a:rPr>
              <a:t>Default top lev</a:t>
            </a:r>
            <a:r>
              <a:rPr lang="en" sz="2200"/>
              <a:t>el p</a:t>
            </a:r>
            <a:r>
              <a:rPr lang="en" sz="2200">
                <a:solidFill>
                  <a:srgbClr val="00589D"/>
                </a:solidFill>
              </a:rPr>
              <a:t>ath: </a:t>
            </a:r>
            <a:r>
              <a:rPr lang="en" sz="2200">
                <a:solidFill>
                  <a:srgbClr val="00AAE3"/>
                </a:solidFill>
              </a:rPr>
              <a:t>/opt/zeek/ or /usr/local/zeek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bin/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etc/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include/</a:t>
            </a:r>
            <a:r>
              <a:rPr lang="en" sz="2200">
                <a:solidFill>
                  <a:srgbClr val="0070C0"/>
                </a:solidFill>
              </a:rPr>
              <a:t> </a:t>
            </a:r>
            <a:r>
              <a:rPr lang="en" sz="2200">
                <a:solidFill>
                  <a:srgbClr val="00589D"/>
                </a:solidFill>
              </a:rPr>
              <a:t>- ignoring today</a:t>
            </a:r>
            <a:endParaRPr sz="1200"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lib/  lib64/ var/ </a:t>
            </a:r>
            <a:r>
              <a:rPr lang="en" sz="2200">
                <a:solidFill>
                  <a:srgbClr val="00589D"/>
                </a:solidFill>
              </a:rPr>
              <a:t>- ignoring today</a:t>
            </a:r>
            <a:endParaRPr sz="1200"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logs/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share/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spool/</a:t>
            </a:r>
            <a:endParaRPr sz="1200"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rgbClr val="00589D"/>
              </a:solidFill>
            </a:endParaRPr>
          </a:p>
        </p:txBody>
      </p:sp>
      <p:sp>
        <p:nvSpPr>
          <p:cNvPr id="306" name="Google Shape;306;g15ab3a73bd6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ab3a73bd6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312" name="Google Shape;312;g15ab3a73bd6_0_6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●"/>
            </a:pPr>
            <a:r>
              <a:rPr lang="en" sz="1900">
                <a:solidFill>
                  <a:srgbClr val="00AAE3"/>
                </a:solidFill>
              </a:rPr>
              <a:t>bin/</a:t>
            </a:r>
            <a:endParaRPr sz="1300">
              <a:solidFill>
                <a:srgbClr val="00AAE3"/>
              </a:solidFill>
            </a:endParaRPr>
          </a:p>
          <a:p>
            <a:pPr indent="-374650" lvl="1" marL="9144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○"/>
            </a:pPr>
            <a:r>
              <a:rPr lang="en" sz="1900">
                <a:solidFill>
                  <a:srgbClr val="00AAE3"/>
                </a:solidFill>
              </a:rPr>
              <a:t>zeek-cut</a:t>
            </a:r>
            <a:endParaRPr sz="13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Extract columns from </a:t>
            </a:r>
            <a:r>
              <a:rPr lang="en" sz="1700"/>
              <a:t>Z</a:t>
            </a:r>
            <a:r>
              <a:rPr lang="en" sz="1700">
                <a:solidFill>
                  <a:srgbClr val="00589D"/>
                </a:solidFill>
              </a:rPr>
              <a:t>eek</a:t>
            </a:r>
            <a:r>
              <a:rPr lang="en" sz="1700"/>
              <a:t>’s TSV</a:t>
            </a:r>
            <a:r>
              <a:rPr lang="en" sz="1700">
                <a:solidFill>
                  <a:srgbClr val="00589D"/>
                </a:solidFill>
              </a:rPr>
              <a:t> logs (non-JSON)</a:t>
            </a:r>
            <a:endParaRPr sz="1700">
              <a:solidFill>
                <a:srgbClr val="00589D"/>
              </a:solidFill>
            </a:endParaRPr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Convert Unix epoch</a:t>
            </a:r>
            <a:endParaRPr sz="1700">
              <a:solidFill>
                <a:srgbClr val="00589D"/>
              </a:solidFill>
            </a:endParaRPr>
          </a:p>
          <a:p>
            <a:pPr indent="-374650" lvl="1" marL="9144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○"/>
            </a:pPr>
            <a:r>
              <a:rPr lang="en" sz="1900">
                <a:solidFill>
                  <a:srgbClr val="00AAE3"/>
                </a:solidFill>
              </a:rPr>
              <a:t>zeek</a:t>
            </a:r>
            <a:endParaRPr sz="13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/>
              <a:t>Zeek executable with various options to run</a:t>
            </a:r>
            <a:endParaRPr sz="1700"/>
          </a:p>
          <a:p>
            <a:pPr indent="-374650" lvl="1" marL="914400" marR="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○"/>
            </a:pPr>
            <a:r>
              <a:rPr lang="en" sz="1900">
                <a:solidFill>
                  <a:srgbClr val="00AAE3"/>
                </a:solidFill>
              </a:rPr>
              <a:t>zkg</a:t>
            </a:r>
            <a:endParaRPr sz="1900"/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/>
              <a:t>Zeek package manager executable</a:t>
            </a:r>
            <a:endParaRPr sz="1700"/>
          </a:p>
          <a:p>
            <a:pPr indent="-374650" lvl="1" marL="9144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○"/>
            </a:pPr>
            <a:r>
              <a:rPr lang="en" sz="1900">
                <a:solidFill>
                  <a:srgbClr val="00AAE3"/>
                </a:solidFill>
              </a:rPr>
              <a:t>zeekctl</a:t>
            </a:r>
            <a:endParaRPr sz="19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Cluster management tool</a:t>
            </a:r>
            <a:endParaRPr sz="1700"/>
          </a:p>
        </p:txBody>
      </p:sp>
      <p:sp>
        <p:nvSpPr>
          <p:cNvPr id="313" name="Google Shape;313;g15ab3a73bd6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5ab3a73bd6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319" name="Google Shape;319;g15ab3a73bd6_0_12"/>
          <p:cNvSpPr txBox="1"/>
          <p:nvPr>
            <p:ph idx="1" type="body"/>
          </p:nvPr>
        </p:nvSpPr>
        <p:spPr>
          <a:xfrm>
            <a:off x="311700" y="1246825"/>
            <a:ext cx="8520600" cy="3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Char char="●"/>
            </a:pPr>
            <a:r>
              <a:rPr lang="en" sz="2100">
                <a:solidFill>
                  <a:schemeClr val="accent5"/>
                </a:solidFill>
              </a:rPr>
              <a:t>etc/</a:t>
            </a:r>
            <a:endParaRPr sz="1100">
              <a:solidFill>
                <a:schemeClr val="accent5"/>
              </a:solidFill>
            </a:endParaRPr>
          </a:p>
          <a:p>
            <a:pPr indent="-36195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100"/>
              <a:buChar char="○"/>
            </a:pPr>
            <a:r>
              <a:rPr lang="en" sz="2100">
                <a:solidFill>
                  <a:srgbClr val="00AAE3"/>
                </a:solidFill>
              </a:rPr>
              <a:t>network.cfg</a:t>
            </a:r>
            <a:endParaRPr sz="21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Define your local networks</a:t>
            </a:r>
            <a:endParaRPr sz="1700">
              <a:solidFill>
                <a:srgbClr val="00589D"/>
              </a:solidFill>
            </a:endParaRPr>
          </a:p>
          <a:p>
            <a:pPr indent="-36195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100"/>
              <a:buChar char="○"/>
            </a:pPr>
            <a:r>
              <a:rPr lang="en" sz="2100">
                <a:solidFill>
                  <a:srgbClr val="00AAE3"/>
                </a:solidFill>
              </a:rPr>
              <a:t>node.cfg</a:t>
            </a:r>
            <a:endParaRPr sz="21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Configure a cluster</a:t>
            </a:r>
            <a:endParaRPr sz="1700">
              <a:solidFill>
                <a:srgbClr val="00589D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Extra features (lb_procs, pin_cpu, lb_method)</a:t>
            </a:r>
            <a:endParaRPr sz="1700"/>
          </a:p>
          <a:p>
            <a:pPr indent="-36195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100"/>
              <a:buChar char="○"/>
            </a:pPr>
            <a:r>
              <a:rPr lang="en" sz="2100">
                <a:solidFill>
                  <a:srgbClr val="00AAE3"/>
                </a:solidFill>
              </a:rPr>
              <a:t>zeekctl.cfg</a:t>
            </a:r>
            <a:endParaRPr sz="21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Configure cluster management tool</a:t>
            </a:r>
            <a:endParaRPr sz="1700">
              <a:solidFill>
                <a:srgbClr val="00589D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Set shorter rotation time</a:t>
            </a:r>
            <a:endParaRPr sz="1700"/>
          </a:p>
        </p:txBody>
      </p:sp>
      <p:sp>
        <p:nvSpPr>
          <p:cNvPr id="320" name="Google Shape;320;g15ab3a73bd6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5ab3a73bd6_0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326" name="Google Shape;326;g15ab3a73bd6_0_18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●"/>
            </a:pPr>
            <a:r>
              <a:rPr lang="en" sz="2000">
                <a:solidFill>
                  <a:srgbClr val="00AAE3"/>
                </a:solidFill>
              </a:rPr>
              <a:t>logs/</a:t>
            </a:r>
            <a:endParaRPr sz="1000">
              <a:solidFill>
                <a:srgbClr val="00AAE3"/>
              </a:solidFill>
            </a:endParaRPr>
          </a:p>
          <a:p>
            <a:pPr indent="-355600" lvl="1" marL="9144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current</a:t>
            </a:r>
            <a:endParaRPr sz="1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Default Log Path (cluster-mode)</a:t>
            </a:r>
            <a:endParaRPr sz="17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current directory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Default Log Path (CLI mode, logs overwritten </a:t>
            </a:r>
            <a:endParaRPr sz="17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00589D"/>
                </a:solidFill>
              </a:rPr>
              <a:t>    			each run)</a:t>
            </a:r>
            <a:endParaRPr sz="17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YYYY-MM-DD</a:t>
            </a:r>
            <a:endParaRPr sz="1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Logs archived to this dir,rotated hourly by default</a:t>
            </a:r>
            <a:endParaRPr sz="1700">
              <a:solidFill>
                <a:srgbClr val="00589D"/>
              </a:solidFill>
            </a:endParaRPr>
          </a:p>
        </p:txBody>
      </p:sp>
      <p:sp>
        <p:nvSpPr>
          <p:cNvPr id="327" name="Google Shape;327;g15ab3a73bd6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5ab3a73bd6_0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333" name="Google Shape;333;g15ab3a73bd6_0_24"/>
          <p:cNvSpPr txBox="1"/>
          <p:nvPr>
            <p:ph idx="1" type="body"/>
          </p:nvPr>
        </p:nvSpPr>
        <p:spPr>
          <a:xfrm>
            <a:off x="311700" y="1246825"/>
            <a:ext cx="8520600" cy="3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●"/>
            </a:pPr>
            <a:r>
              <a:rPr lang="en" sz="2000">
                <a:solidFill>
                  <a:srgbClr val="00AAE3"/>
                </a:solidFill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spool</a:t>
            </a:r>
            <a:r>
              <a:rPr lang="en" sz="2000">
                <a:solidFill>
                  <a:srgbClr val="00AAE3"/>
                </a:solidFill>
              </a:rPr>
              <a:t>/</a:t>
            </a:r>
            <a:endParaRPr sz="2000">
              <a:solidFill>
                <a:srgbClr val="00AAE3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○"/>
            </a:pPr>
            <a:r>
              <a:rPr lang="en" sz="2000">
                <a:solidFill>
                  <a:srgbClr val="00AAE3"/>
                </a:solidFill>
              </a:rPr>
              <a:t>state.db</a:t>
            </a:r>
            <a:endParaRPr sz="20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/>
              <a:t>C</a:t>
            </a:r>
            <a:r>
              <a:rPr lang="en" sz="1700">
                <a:solidFill>
                  <a:srgbClr val="00589D"/>
                </a:solidFill>
              </a:rPr>
              <a:t>luster worker state (zeekctl)</a:t>
            </a:r>
            <a:endParaRPr sz="1700">
              <a:solidFill>
                <a:srgbClr val="00589D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○"/>
            </a:pPr>
            <a:r>
              <a:rPr lang="en" sz="2000">
                <a:solidFill>
                  <a:srgbClr val="00AAE3"/>
                </a:solidFill>
              </a:rPr>
              <a:t>zeekctl-config.sh</a:t>
            </a:r>
            <a:endParaRPr sz="20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Cluster management variables (zeekctl)</a:t>
            </a:r>
            <a:endParaRPr sz="1700">
              <a:solidFill>
                <a:srgbClr val="00589D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○"/>
            </a:pPr>
            <a:r>
              <a:rPr lang="en" sz="2000">
                <a:solidFill>
                  <a:srgbClr val="00AAE3"/>
                </a:solidFill>
              </a:rPr>
              <a:t>worker-&lt;n&gt;</a:t>
            </a:r>
            <a:endParaRPr sz="20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.pid</a:t>
            </a:r>
            <a:endParaRPr sz="1700">
              <a:solidFill>
                <a:srgbClr val="00589D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.cmdline</a:t>
            </a:r>
            <a:endParaRPr sz="1700">
              <a:solidFill>
                <a:srgbClr val="00589D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.env_vars</a:t>
            </a:r>
            <a:endParaRPr sz="1700">
              <a:solidFill>
                <a:srgbClr val="00589D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○"/>
            </a:pPr>
            <a:r>
              <a:rPr lang="en" sz="2000">
                <a:solidFill>
                  <a:srgbClr val="00AAE3"/>
                </a:solidFill>
              </a:rPr>
              <a:t>logger</a:t>
            </a:r>
            <a:endParaRPr sz="20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logs (</a:t>
            </a:r>
            <a:r>
              <a:rPr lang="en" sz="1700"/>
              <a:t>“</a:t>
            </a:r>
            <a:r>
              <a:rPr lang="en" sz="1700">
                <a:solidFill>
                  <a:srgbClr val="00589D"/>
                </a:solidFill>
              </a:rPr>
              <a:t>current</a:t>
            </a:r>
            <a:r>
              <a:rPr lang="en" sz="1700"/>
              <a:t>”</a:t>
            </a:r>
            <a:r>
              <a:rPr lang="en" sz="1700">
                <a:solidFill>
                  <a:srgbClr val="00589D"/>
                </a:solidFill>
              </a:rPr>
              <a:t> is a symlink)</a:t>
            </a:r>
            <a:endParaRPr sz="17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extract_files/&lt;node&gt;/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</a:pPr>
            <a:r>
              <a:rPr lang="en" sz="1700">
                <a:solidFill>
                  <a:schemeClr val="accent1"/>
                </a:solidFill>
              </a:rPr>
              <a:t>Extracted (“carved”) files, when configured</a:t>
            </a:r>
            <a:endParaRPr sz="1700">
              <a:solidFill>
                <a:schemeClr val="accent1"/>
              </a:solidFill>
            </a:endParaRPr>
          </a:p>
        </p:txBody>
      </p:sp>
      <p:sp>
        <p:nvSpPr>
          <p:cNvPr id="334" name="Google Shape;334;g15ab3a73bd6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5ab3a73bd6_0_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340" name="Google Shape;340;g15ab3a73bd6_0_30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●"/>
            </a:pPr>
            <a:r>
              <a:rPr lang="en" sz="2000">
                <a:solidFill>
                  <a:srgbClr val="00AAE3"/>
                </a:solidFill>
              </a:rPr>
              <a:t>share/</a:t>
            </a:r>
            <a:endParaRPr sz="2000">
              <a:solidFill>
                <a:srgbClr val="00AAE3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zeek/base/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Base scripts</a:t>
            </a:r>
            <a:endParaRPr sz="17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zeek/policy/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Additional scripts</a:t>
            </a:r>
            <a:endParaRPr sz="17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zeek/site/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Site</a:t>
            </a:r>
            <a:r>
              <a:rPr lang="en" sz="1700"/>
              <a:t>-</a:t>
            </a:r>
            <a:r>
              <a:rPr lang="en" sz="1700">
                <a:solidFill>
                  <a:srgbClr val="00589D"/>
                </a:solidFill>
              </a:rPr>
              <a:t>specific scripts</a:t>
            </a:r>
            <a:endParaRPr sz="1700">
              <a:solidFill>
                <a:srgbClr val="00589D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</a:pPr>
            <a:r>
              <a:rPr lang="en" sz="1700">
                <a:solidFill>
                  <a:schemeClr val="accent1"/>
                </a:solidFill>
              </a:rPr>
              <a:t>Packages installed via zkg, our package manager</a:t>
            </a:r>
            <a:endParaRPr sz="1700">
              <a:solidFill>
                <a:schemeClr val="accent1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○"/>
            </a:pPr>
            <a:r>
              <a:rPr lang="en" sz="2000">
                <a:solidFill>
                  <a:schemeClr val="accent5"/>
                </a:solidFill>
              </a:rPr>
              <a:t>hilti/ </a:t>
            </a:r>
            <a:r>
              <a:rPr lang="en" sz="2000">
                <a:solidFill>
                  <a:schemeClr val="accent1"/>
                </a:solidFill>
              </a:rPr>
              <a:t>and</a:t>
            </a:r>
            <a:r>
              <a:rPr lang="en" sz="2000">
                <a:solidFill>
                  <a:schemeClr val="accent5"/>
                </a:solidFill>
              </a:rPr>
              <a:t> spicy/</a:t>
            </a:r>
            <a:endParaRPr sz="2000">
              <a:solidFill>
                <a:schemeClr val="accent5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</a:pPr>
            <a:r>
              <a:rPr lang="en" sz="1700">
                <a:solidFill>
                  <a:schemeClr val="accent1"/>
                </a:solidFill>
              </a:rPr>
              <a:t>Analyzers written in Spicy, our parser generator</a:t>
            </a:r>
            <a:endParaRPr sz="1700">
              <a:solidFill>
                <a:schemeClr val="accent1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○"/>
            </a:pPr>
            <a:r>
              <a:rPr lang="en" sz="2000">
                <a:solidFill>
                  <a:schemeClr val="accent5"/>
                </a:solidFill>
              </a:rPr>
              <a:t>zeekctl/</a:t>
            </a:r>
            <a:endParaRPr sz="2000">
              <a:solidFill>
                <a:schemeClr val="accent5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</a:pPr>
            <a:r>
              <a:rPr lang="en" sz="1700">
                <a:solidFill>
                  <a:schemeClr val="accent1"/>
                </a:solidFill>
              </a:rPr>
              <a:t>Helper scripts for cluster management (e.g. log post-processing)</a:t>
            </a:r>
            <a:endParaRPr sz="1700">
              <a:solidFill>
                <a:schemeClr val="accent1"/>
              </a:solidFill>
            </a:endParaRPr>
          </a:p>
        </p:txBody>
      </p:sp>
      <p:sp>
        <p:nvSpPr>
          <p:cNvPr id="341" name="Google Shape;341;g15ab3a73bd6_0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3bbd2e318f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3000"/>
              <a:t>Exercise #1: fire up a cluster (10 mins)</a:t>
            </a:r>
            <a:endParaRPr sz="3000"/>
          </a:p>
        </p:txBody>
      </p:sp>
      <p:sp>
        <p:nvSpPr>
          <p:cNvPr id="347" name="Google Shape;347;g13bbd2e318f_0_5"/>
          <p:cNvSpPr txBox="1"/>
          <p:nvPr>
            <p:ph idx="1" type="body"/>
          </p:nvPr>
        </p:nvSpPr>
        <p:spPr>
          <a:xfrm>
            <a:off x="336575" y="1048100"/>
            <a:ext cx="8470200" cy="3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Edit node.cfg - comment out the standalone section, and uncomment the logger, proxy, manager and worker-1 sections.</a:t>
            </a:r>
            <a:endParaRPr sz="1600"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/zeek/etc/node.cfg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[worker-1]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type=worker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host=localhost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interface=</a:t>
            </a:r>
            <a:r>
              <a:rPr lang="en" sz="1544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af_packet::eth0</a:t>
            </a:r>
            <a:endParaRPr sz="1544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lb_method</a:t>
            </a: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=custom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lb_procs</a:t>
            </a: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=2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pin_cpus</a:t>
            </a: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=0,1</a:t>
            </a:r>
            <a:endParaRPr b="1" sz="1700">
              <a:solidFill>
                <a:srgbClr val="00AAE3"/>
              </a:solidFill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Set shorter rotation time</a:t>
            </a:r>
            <a:endParaRPr sz="16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/zeek/etc/zeekctl.cfg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LogRotationInterval = 300 //(5mins)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Set your local network </a:t>
            </a:r>
            <a:endParaRPr sz="16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/zeek/etc/network.cfg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bd595cbc6_1_0"/>
          <p:cNvSpPr txBox="1"/>
          <p:nvPr>
            <p:ph idx="1" type="body"/>
          </p:nvPr>
        </p:nvSpPr>
        <p:spPr>
          <a:xfrm>
            <a:off x="325900" y="424225"/>
            <a:ext cx="7740000" cy="4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80201"/>
              <a:buChar char="●"/>
            </a:pPr>
            <a:r>
              <a:rPr lang="en"/>
              <a:t>turn off the checksum with Zeek redef</a:t>
            </a:r>
            <a:endParaRPr sz="1600">
              <a:solidFill>
                <a:srgbClr val="FF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/zeek/share/zeek/site/local.zeek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	   redef ignore_checksums = T;</a:t>
            </a:r>
            <a:endParaRPr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Then run: 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zeekctl deploy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Make sure cluster is running: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zeekctl status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some traffic for the cluster to sniff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wget google.com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ls /zeek/logs/current/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Send few pcaps to the sniffing interface: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tcpreplay -i eth0 --mbps=500 /training-res/traces/*.pcap</a:t>
            </a:r>
            <a:endParaRPr>
              <a:solidFill>
                <a:schemeClr val="lt2"/>
              </a:solidFill>
              <a:highlight>
                <a:srgbClr val="11111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ls /zeek/logs/current/</a:t>
            </a:r>
            <a:endParaRPr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rgbClr val="2A51A3"/>
                </a:solidFill>
              </a:rPr>
              <a:t>Stop the cluster</a:t>
            </a:r>
            <a:endParaRPr>
              <a:solidFill>
                <a:srgbClr val="2A51A3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zeekctl stop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639fc7746d_0_5"/>
          <p:cNvSpPr txBox="1"/>
          <p:nvPr>
            <p:ph type="title"/>
          </p:nvPr>
        </p:nvSpPr>
        <p:spPr>
          <a:xfrm>
            <a:off x="1015125" y="2285400"/>
            <a:ext cx="65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7776"/>
              <a:buFont typeface="Arial"/>
              <a:buNone/>
            </a:pPr>
            <a:r>
              <a:rPr lang="en" sz="3600">
                <a:solidFill>
                  <a:srgbClr val="25C804"/>
                </a:solidFill>
              </a:rPr>
              <a:t>MORNING</a:t>
            </a:r>
            <a:r>
              <a:rPr lang="en">
                <a:solidFill>
                  <a:srgbClr val="25C804"/>
                </a:solidFill>
              </a:rPr>
              <a:t> </a:t>
            </a:r>
            <a:r>
              <a:rPr lang="en" sz="3600">
                <a:solidFill>
                  <a:srgbClr val="25C804"/>
                </a:solidFill>
              </a:rPr>
              <a:t>BREAK [15 mins]</a:t>
            </a:r>
            <a:endParaRPr sz="3600">
              <a:solidFill>
                <a:srgbClr val="25C804"/>
              </a:solidFill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7777"/>
              <a:buFont typeface="Arial"/>
              <a:buNone/>
            </a:pPr>
            <a:r>
              <a:rPr lang="en" sz="3600">
                <a:solidFill>
                  <a:srgbClr val="25C804"/>
                </a:solidFill>
              </a:rPr>
              <a:t>[10:45-11am]</a:t>
            </a:r>
            <a:endParaRPr sz="3600">
              <a:solidFill>
                <a:srgbClr val="25C804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2925a13aa0_1_2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Customizing Zeek</a:t>
            </a:r>
            <a:endParaRPr sz="3000"/>
          </a:p>
        </p:txBody>
      </p:sp>
      <p:sp>
        <p:nvSpPr>
          <p:cNvPr id="363" name="Google Shape;363;g12925a13aa0_1_296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●"/>
            </a:pPr>
            <a:r>
              <a:rPr lang="en" sz="2400">
                <a:solidFill>
                  <a:srgbClr val="00AAE3"/>
                </a:solidFill>
              </a:rPr>
              <a:t>/zeek/share/zeek/site/local.zeek</a:t>
            </a:r>
            <a:endParaRPr sz="24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○"/>
            </a:pPr>
            <a:r>
              <a:rPr lang="en" sz="2200">
                <a:solidFill>
                  <a:srgbClr val="00589D"/>
                </a:solidFill>
              </a:rPr>
              <a:t>local customizations</a:t>
            </a:r>
            <a:endParaRPr sz="1200">
              <a:solidFill>
                <a:srgbClr val="00589D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Can be done inline or separate script</a:t>
            </a:r>
            <a:endParaRPr sz="1700"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○"/>
            </a:pPr>
            <a:r>
              <a:rPr lang="en" sz="2200">
                <a:solidFill>
                  <a:srgbClr val="00589D"/>
                </a:solidFill>
              </a:rPr>
              <a:t>enable or disable scripts</a:t>
            </a:r>
            <a:endParaRPr sz="1200"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○"/>
            </a:pPr>
            <a:r>
              <a:rPr lang="en" sz="2200">
                <a:solidFill>
                  <a:srgbClr val="00589D"/>
                </a:solidFill>
              </a:rPr>
              <a:t>change variables</a:t>
            </a:r>
            <a:endParaRPr sz="1900">
              <a:solidFill>
                <a:srgbClr val="00589D"/>
              </a:solidFill>
            </a:endParaRPr>
          </a:p>
        </p:txBody>
      </p:sp>
      <p:sp>
        <p:nvSpPr>
          <p:cNvPr id="364" name="Google Shape;364;g12925a13aa0_1_2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2925a13aa0_1_3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Customizing Zeek</a:t>
            </a:r>
            <a:endParaRPr sz="3000"/>
          </a:p>
        </p:txBody>
      </p:sp>
      <p:sp>
        <p:nvSpPr>
          <p:cNvPr id="370" name="Google Shape;370;g12925a13aa0_1_302"/>
          <p:cNvSpPr txBox="1"/>
          <p:nvPr>
            <p:ph idx="1" type="body"/>
          </p:nvPr>
        </p:nvSpPr>
        <p:spPr>
          <a:xfrm>
            <a:off x="311700" y="1246825"/>
            <a:ext cx="8520600" cy="3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00589D"/>
                </a:solidFill>
              </a:rPr>
              <a:t>Loading additional scripts:</a:t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/zeek/share/zeek/site/local.zeek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chemeClr val="accent4"/>
                </a:solidFill>
              </a:rPr>
              <a:t>Changes to local.zeek require restart in cluster mode!</a:t>
            </a:r>
            <a:endParaRPr sz="2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@load policy/protocols/http/header-names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zeek --help 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/>
              <a:t>Note the $</a:t>
            </a:r>
            <a:r>
              <a:rPr lang="en" sz="2000">
                <a:solidFill>
                  <a:srgbClr val="00589D"/>
                </a:solidFill>
              </a:rPr>
              <a:t>ZEEKPATH output, which </a:t>
            </a:r>
            <a:r>
              <a:rPr lang="en" sz="2000"/>
              <a:t>defines the script file search path:</a:t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100909"/>
              <a:buNone/>
            </a:pPr>
            <a:r>
              <a:rPr lang="en" sz="17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. (current directory)</a:t>
            </a:r>
            <a:endParaRPr sz="11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100909"/>
              <a:buNone/>
            </a:pPr>
            <a:r>
              <a:rPr lang="en" sz="17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/usr/local/zeek/share/zeek</a:t>
            </a:r>
            <a:endParaRPr sz="17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100909"/>
              <a:buNone/>
            </a:pPr>
            <a:r>
              <a:rPr lang="en" sz="17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/usr/local/zeek/share/zeek/policy</a:t>
            </a:r>
            <a:endParaRPr sz="11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100909"/>
              <a:buNone/>
            </a:pPr>
            <a:r>
              <a:rPr lang="en" sz="17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/usr/local/zeek/share/zeek/site</a:t>
            </a:r>
            <a:endParaRPr sz="21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1" name="Google Shape;371;g12925a13aa0_1_3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2925a13aa0_1_3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Customizing Zeek</a:t>
            </a:r>
            <a:endParaRPr sz="3000"/>
          </a:p>
        </p:txBody>
      </p:sp>
      <p:sp>
        <p:nvSpPr>
          <p:cNvPr id="377" name="Google Shape;377;g12925a13aa0_1_308"/>
          <p:cNvSpPr txBox="1"/>
          <p:nvPr>
            <p:ph idx="1" type="body"/>
          </p:nvPr>
        </p:nvSpPr>
        <p:spPr>
          <a:xfrm>
            <a:off x="423950" y="1246825"/>
            <a:ext cx="8408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00589D"/>
                </a:solidFill>
              </a:rPr>
              <a:t>Zeek scripts can have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modules</a:t>
            </a:r>
            <a:r>
              <a:rPr lang="en" sz="2000">
                <a:solidFill>
                  <a:srgbClr val="00589D"/>
                </a:solidFill>
              </a:rPr>
              <a:t>, with an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export</a:t>
            </a:r>
            <a:r>
              <a:rPr lang="en" sz="2000">
                <a:solidFill>
                  <a:srgbClr val="00589D"/>
                </a:solidFill>
              </a:rPr>
              <a:t> section</a:t>
            </a:r>
            <a:endParaRPr sz="1400">
              <a:solidFill>
                <a:srgbClr val="00589D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Font typeface="Times New Roman"/>
              <a:buChar char="○"/>
            </a:pPr>
            <a:r>
              <a:rPr lang="en" sz="1700"/>
              <a:t>An interface to a particular component of Zeek, basically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Font typeface="Times New Roman"/>
              <a:buChar char="○"/>
            </a:pPr>
            <a:r>
              <a:rPr lang="en" sz="1700"/>
              <a:t>Usually features “</a:t>
            </a:r>
            <a:r>
              <a:rPr lang="en" sz="1700" u="sng">
                <a:solidFill>
                  <a:schemeClr val="hlink"/>
                </a:solidFill>
                <a:hlinkClick r:id="rId5"/>
              </a:rPr>
              <a:t>r</a:t>
            </a:r>
            <a:r>
              <a:rPr lang="en" sz="1700" u="sng">
                <a:solidFill>
                  <a:schemeClr val="hlink"/>
                </a:solidFill>
                <a:hlinkClick r:id="rId6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edefinable</a:t>
            </a:r>
            <a:r>
              <a:rPr lang="en" sz="1700"/>
              <a:t>”</a:t>
            </a:r>
            <a:r>
              <a:rPr lang="en" sz="1700">
                <a:solidFill>
                  <a:srgbClr val="00589D"/>
                </a:solidFill>
              </a:rPr>
              <a:t> variables</a:t>
            </a:r>
            <a:endParaRPr sz="1700">
              <a:solidFill>
                <a:srgbClr val="00589D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Redefinitions are tweaks to constants, types, etc at Zeek startup</a:t>
            </a:r>
            <a:endParaRPr sz="1500"/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Adjustments then become constants</a:t>
            </a:r>
            <a:endParaRPr sz="15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Font typeface="Times New Roman"/>
              <a:buChar char="○"/>
            </a:pPr>
            <a:r>
              <a:rPr lang="en" sz="1700"/>
              <a:t>In each framework, </a:t>
            </a:r>
            <a:r>
              <a:rPr lang="en" sz="1700">
                <a:solidFill>
                  <a:srgbClr val="00589D"/>
                </a:solidFill>
              </a:rPr>
              <a:t>main.zeek is best place to start looking</a:t>
            </a:r>
            <a:endParaRPr sz="1700">
              <a:solidFill>
                <a:srgbClr val="00589D"/>
              </a:solidFill>
            </a:endParaRPr>
          </a:p>
          <a:p>
            <a:pPr indent="-158750" lvl="0" marL="95968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589D"/>
              </a:solidFill>
            </a:endParaRPr>
          </a:p>
          <a:p>
            <a:pPr indent="45720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less /zeek/share/zeek/base/protocols/http/main.zeek</a:t>
            </a:r>
            <a:endParaRPr sz="9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export {</a:t>
            </a:r>
            <a:endParaRPr sz="9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This setting changes if passwords used in </a:t>
            </a:r>
            <a:endParaRPr sz="9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Basic-Auth are captured or not.	</a:t>
            </a:r>
            <a:endParaRPr sz="9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option default_capture_password = F;</a:t>
            </a:r>
            <a:endParaRPr sz="9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83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9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8" name="Google Shape;378;g12925a13aa0_1_3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925a13aa0_1_3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Customizing Zeek</a:t>
            </a:r>
            <a:endParaRPr sz="3000"/>
          </a:p>
        </p:txBody>
      </p:sp>
      <p:sp>
        <p:nvSpPr>
          <p:cNvPr id="384" name="Google Shape;384;g12925a13aa0_1_314"/>
          <p:cNvSpPr txBox="1"/>
          <p:nvPr>
            <p:ph idx="1" type="body"/>
          </p:nvPr>
        </p:nvSpPr>
        <p:spPr>
          <a:xfrm>
            <a:off x="507025" y="1246825"/>
            <a:ext cx="8325300" cy="3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A number:</a:t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redef SSH::password_guesses_limit = 15;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A t</a:t>
            </a:r>
            <a:r>
              <a:rPr lang="en" sz="2000">
                <a:solidFill>
                  <a:srgbClr val="00589D"/>
                </a:solidFill>
              </a:rPr>
              <a:t>able</a:t>
            </a:r>
            <a:r>
              <a:rPr lang="en" sz="2000"/>
              <a:t>:</a:t>
            </a:r>
            <a:endParaRPr sz="2000"/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redef SSH::ignore_guessers += { 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 [192.168.1.2/32] = 192.168.1.20/32 };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589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A b</a:t>
            </a:r>
            <a:r>
              <a:rPr lang="en" sz="2000">
                <a:solidFill>
                  <a:srgbClr val="00589D"/>
                </a:solidFill>
              </a:rPr>
              <a:t>oolean:</a:t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redef HTTP::log_server_header_names = T;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5" name="Google Shape;385;g12925a13aa0_1_3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875563d872_0_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Config framework</a:t>
            </a:r>
            <a:endParaRPr/>
          </a:p>
        </p:txBody>
      </p:sp>
      <p:sp>
        <p:nvSpPr>
          <p:cNvPr id="391" name="Google Shape;391;g2875563d872_0_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Zeek configurability via config files, with run-time updates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tunables defined with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option</a:t>
            </a:r>
            <a:r>
              <a:rPr lang="en"/>
              <a:t> keyword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Supports callbacks to react to changes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 nature can be tricky, particularly at startup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sure to read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documentation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875563d872_0_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Config framework example</a:t>
            </a:r>
            <a:endParaRPr/>
          </a:p>
        </p:txBody>
      </p:sp>
      <p:sp>
        <p:nvSpPr>
          <p:cNvPr id="397" name="Google Shape;397;g2875563d872_0_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049"/>
              <a:buNone/>
            </a:pPr>
            <a:r>
              <a:rPr lang="en" sz="2181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module Test;</a:t>
            </a:r>
            <a:endParaRPr sz="2181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049"/>
              <a:buNone/>
            </a:pPr>
            <a:r>
              <a:t/>
            </a:r>
            <a:endParaRPr sz="2181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049"/>
              <a:buNone/>
            </a:pPr>
            <a:r>
              <a:rPr lang="en" sz="2181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export {</a:t>
            </a:r>
            <a:endParaRPr sz="2181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049"/>
              <a:buNone/>
            </a:pPr>
            <a:r>
              <a:rPr lang="en" sz="2181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  option enable_feature = F;</a:t>
            </a:r>
            <a:endParaRPr sz="2181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049"/>
              <a:buNone/>
            </a:pPr>
            <a:r>
              <a:rPr lang="en" sz="2181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181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4137"/>
              <a:buNone/>
            </a:pPr>
            <a:r>
              <a:rPr lang="en" sz="2320">
                <a:solidFill>
                  <a:schemeClr val="accent1"/>
                </a:solidFill>
              </a:rPr>
              <a:t>Options are a kind of redefinable value, so this still works: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32049"/>
              <a:buNone/>
            </a:pPr>
            <a:r>
              <a:rPr lang="en" sz="2181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@redef Test::enable_feature = T;</a:t>
            </a:r>
            <a:endParaRPr sz="2181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4137"/>
              <a:buNone/>
            </a:pPr>
            <a:r>
              <a:rPr lang="en" sz="2320">
                <a:solidFill>
                  <a:schemeClr val="accent1"/>
                </a:solidFill>
              </a:rPr>
              <a:t>Now define config option file for Zeek to watch: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32049"/>
              <a:buNone/>
            </a:pPr>
            <a:r>
              <a:rPr lang="en" sz="2181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redef Config::config_files += { “/zeek/share/zeek/site/config.dat” };</a:t>
            </a:r>
            <a:endParaRPr sz="2181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4137"/>
              <a:buNone/>
            </a:pPr>
            <a:r>
              <a:rPr lang="en" sz="2320">
                <a:solidFill>
                  <a:schemeClr val="accent1"/>
                </a:solidFill>
              </a:rPr>
              <a:t>Put content in the file with lines of the form “[option name][tab/space][new value]”</a:t>
            </a:r>
            <a:endParaRPr sz="2320">
              <a:solidFill>
                <a:schemeClr val="accent1"/>
              </a:solidFill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19999"/>
              <a:buNone/>
            </a:pPr>
            <a:r>
              <a:t/>
            </a:r>
            <a:endParaRPr sz="900">
              <a:solidFill>
                <a:srgbClr val="666666"/>
              </a:solidFill>
              <a:highlight>
                <a:srgbClr val="EEFF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4000"/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Test::enable_feature	T</a:t>
            </a:r>
            <a:endParaRPr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2925a13aa0_1_320"/>
          <p:cNvSpPr txBox="1"/>
          <p:nvPr>
            <p:ph type="title"/>
          </p:nvPr>
        </p:nvSpPr>
        <p:spPr>
          <a:xfrm>
            <a:off x="311700" y="117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Exercise #2: </a:t>
            </a:r>
            <a:r>
              <a:rPr lang="en" sz="3000">
                <a:solidFill>
                  <a:srgbClr val="00B0F0"/>
                </a:solidFill>
              </a:rPr>
              <a:t>Customizing Zeek (10 min)</a:t>
            </a:r>
            <a:endParaRPr sz="3000"/>
          </a:p>
        </p:txBody>
      </p:sp>
      <p:sp>
        <p:nvSpPr>
          <p:cNvPr id="403" name="Google Shape;403;g12925a13aa0_1_320"/>
          <p:cNvSpPr txBox="1"/>
          <p:nvPr>
            <p:ph idx="1" type="body"/>
          </p:nvPr>
        </p:nvSpPr>
        <p:spPr>
          <a:xfrm>
            <a:off x="245175" y="976725"/>
            <a:ext cx="85206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105882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/zeek/share/zeek/site/local.zeek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rgbClr val="00589D"/>
                </a:solidFill>
              </a:rPr>
              <a:t>Log server header names in HTTP (</a:t>
            </a:r>
            <a:r>
              <a:rPr lang="en" sz="2000"/>
              <a:t>in local.zeek)</a:t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SzPct val="105882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@load policy/protocols/http/header-names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Start with: /training/http-auth.pcap</a:t>
            </a:r>
            <a:endParaRPr sz="2000"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SzPct val="113073"/>
              <a:buNone/>
            </a:pPr>
            <a:r>
              <a:rPr lang="en" sz="1592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tcpreplay -i eth0 --mbps=500 /training-res/traces/http-basic-auth.pcap</a:t>
            </a:r>
            <a:endParaRPr sz="1592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/>
              <a:t>Log http usernames and passwords:</a:t>
            </a:r>
            <a:endParaRPr sz="2000"/>
          </a:p>
          <a:p>
            <a:pPr indent="0" lvl="0" marL="0" rtl="0" algn="l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SzPct val="105882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redef HTTP::default_capture_password=T;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chemeClr val="accent1"/>
                </a:solidFill>
              </a:rPr>
              <a:t>Replay traffic: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</a:t>
            </a: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tcpreplay -i eth0 --mbps=500 /training-res/traces/http-auth.pcap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30152"/>
              <a:buFont typeface="Arial"/>
              <a:buNone/>
            </a:pPr>
            <a:r>
              <a:t/>
            </a:r>
            <a:endParaRPr sz="1383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30152"/>
              <a:buFont typeface="Arial"/>
              <a:buNone/>
            </a:pPr>
            <a:r>
              <a:rPr lang="en" sz="1383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Note: don’t forget to restart (deploy) after making changes in local.zeek</a:t>
            </a:r>
            <a:endParaRPr sz="1383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4" name="Google Shape;404;g12925a13aa0_1_3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a81f9c2ef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Package Manager (zkg)</a:t>
            </a:r>
            <a:endParaRPr sz="3000"/>
          </a:p>
        </p:txBody>
      </p:sp>
      <p:sp>
        <p:nvSpPr>
          <p:cNvPr id="410" name="Google Shape;410;g3fa81f9c2ef_0_0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>
                <a:solidFill>
                  <a:srgbClr val="00589D"/>
                </a:solidFill>
              </a:rPr>
              <a:t>Package Manager</a:t>
            </a:r>
            <a:endParaRPr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○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zkg</a:t>
            </a:r>
            <a:endParaRPr sz="1800">
              <a:solidFill>
                <a:srgbClr val="00589D"/>
              </a:solidFill>
            </a:endParaRPr>
          </a:p>
          <a:p>
            <a:pPr indent="-3810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400"/>
              <a:buChar char="○"/>
            </a:pPr>
            <a:r>
              <a:rPr lang="en" sz="1800" u="sng">
                <a:solidFill>
                  <a:srgbClr val="00589D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https://packages.zeek.org</a:t>
            </a:r>
            <a:endParaRPr sz="1800">
              <a:solidFill>
                <a:srgbClr val="00589D"/>
              </a:solidFill>
            </a:endParaRPr>
          </a:p>
          <a:p>
            <a:pPr indent="-203200" lvl="0" marL="3429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>
                <a:solidFill>
                  <a:srgbClr val="00589D"/>
                </a:solidFill>
              </a:rPr>
              <a:t>Can add new scripts or analyzers</a:t>
            </a:r>
            <a:endParaRPr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○"/>
            </a:pPr>
            <a:r>
              <a:rPr lang="en" sz="1800">
                <a:solidFill>
                  <a:srgbClr val="00589D"/>
                </a:solidFill>
              </a:rPr>
              <a:t>Analyzer examples :</a:t>
            </a:r>
            <a:endParaRPr sz="1800">
              <a:solidFill>
                <a:srgbClr val="00589D"/>
              </a:solidFill>
            </a:endParaRPr>
          </a:p>
          <a:p>
            <a:pPr indent="-36830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■"/>
            </a:pPr>
            <a:r>
              <a:rPr lang="en" sz="1800">
                <a:solidFill>
                  <a:srgbClr val="00589D"/>
                </a:solidFill>
              </a:rPr>
              <a:t>QUIC</a:t>
            </a:r>
            <a:endParaRPr sz="1800">
              <a:solidFill>
                <a:srgbClr val="00589D"/>
              </a:solidFill>
            </a:endParaRPr>
          </a:p>
          <a:p>
            <a:pPr indent="-36830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■"/>
            </a:pPr>
            <a:r>
              <a:rPr lang="en" sz="1800">
                <a:solidFill>
                  <a:srgbClr val="00589D"/>
                </a:solidFill>
              </a:rPr>
              <a:t>PerfSonar</a:t>
            </a:r>
            <a:endParaRPr sz="1800"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○"/>
            </a:pPr>
            <a:r>
              <a:rPr lang="en" sz="1800">
                <a:solidFill>
                  <a:srgbClr val="00589D"/>
                </a:solidFill>
              </a:rPr>
              <a:t>Scripts : </a:t>
            </a:r>
            <a:endParaRPr sz="1800">
              <a:solidFill>
                <a:srgbClr val="00589D"/>
              </a:solidFill>
            </a:endParaRPr>
          </a:p>
          <a:p>
            <a:pPr indent="-36830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■"/>
            </a:pPr>
            <a:r>
              <a:rPr lang="en" sz="1800">
                <a:solidFill>
                  <a:srgbClr val="00589D"/>
                </a:solidFill>
              </a:rPr>
              <a:t>BZAR </a:t>
            </a:r>
            <a:endParaRPr sz="1800">
              <a:solidFill>
                <a:srgbClr val="00589D"/>
              </a:solidFill>
            </a:endParaRPr>
          </a:p>
          <a:p>
            <a:pPr indent="-36830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■"/>
            </a:pPr>
            <a:r>
              <a:rPr lang="en" sz="1800">
                <a:solidFill>
                  <a:srgbClr val="00589D"/>
                </a:solidFill>
              </a:rPr>
              <a:t>DHCP OUI data</a:t>
            </a:r>
            <a:endParaRPr sz="2100">
              <a:solidFill>
                <a:srgbClr val="00589D"/>
              </a:solidFill>
            </a:endParaRPr>
          </a:p>
        </p:txBody>
      </p:sp>
      <p:sp>
        <p:nvSpPr>
          <p:cNvPr id="411" name="Google Shape;411;g3fa81f9c2e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a81f9c2ef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Let’s Use zkg!</a:t>
            </a:r>
            <a:endParaRPr sz="3000"/>
          </a:p>
        </p:txBody>
      </p:sp>
      <p:sp>
        <p:nvSpPr>
          <p:cNvPr id="417" name="Google Shape;417;g3fa81f9c2ef_0_6"/>
          <p:cNvSpPr txBox="1"/>
          <p:nvPr>
            <p:ph idx="1" type="body"/>
          </p:nvPr>
        </p:nvSpPr>
        <p:spPr>
          <a:xfrm>
            <a:off x="311700" y="1246825"/>
            <a:ext cx="8520600" cy="3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>
                <a:solidFill>
                  <a:srgbClr val="00589D"/>
                </a:solidFill>
              </a:rPr>
              <a:t>List all zeek packages and install a few</a:t>
            </a:r>
            <a:endParaRPr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refresh</a:t>
            </a:r>
            <a:endParaRPr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list all</a:t>
            </a:r>
            <a:endParaRPr sz="1400"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install cve-2020-0601</a:t>
            </a:r>
            <a:endParaRPr sz="1400"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>
                <a:solidFill>
                  <a:srgbClr val="00589D"/>
                </a:solidFill>
              </a:rPr>
              <a:t>Check if they got installed</a:t>
            </a:r>
            <a:endParaRPr sz="1400"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list installed</a:t>
            </a:r>
            <a:endParaRPr sz="1400"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ls /zeek/share/zeek/site</a:t>
            </a:r>
            <a:endParaRPr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>
                <a:solidFill>
                  <a:srgbClr val="00589D"/>
                </a:solidFill>
              </a:rPr>
              <a:t>Let’s load the packages</a:t>
            </a:r>
            <a:endParaRPr sz="1400"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uncomment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i="1" lang="en">
                <a:solidFill>
                  <a:srgbClr val="00AAE3"/>
                </a:solidFill>
              </a:rPr>
              <a:t>@load packages</a:t>
            </a:r>
            <a:r>
              <a:rPr lang="en">
                <a:solidFill>
                  <a:srgbClr val="00AAE3"/>
                </a:solidFill>
              </a:rPr>
              <a:t> </a:t>
            </a:r>
            <a:r>
              <a:rPr lang="en">
                <a:solidFill>
                  <a:srgbClr val="00589D"/>
                </a:solidFill>
              </a:rPr>
              <a:t>in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AAE3"/>
                </a:solidFill>
              </a:rPr>
              <a:t>site/local.zeek</a:t>
            </a:r>
            <a:endParaRPr sz="2100">
              <a:solidFill>
                <a:srgbClr val="00AAE3"/>
              </a:solidFill>
            </a:endParaRPr>
          </a:p>
        </p:txBody>
      </p:sp>
      <p:sp>
        <p:nvSpPr>
          <p:cNvPr id="418" name="Google Shape;418;g3fa81f9c2ef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a81f9c2ef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Let’s Use zkg!</a:t>
            </a:r>
            <a:endParaRPr sz="3000"/>
          </a:p>
        </p:txBody>
      </p:sp>
      <p:sp>
        <p:nvSpPr>
          <p:cNvPr id="424" name="Google Shape;424;g3fa81f9c2ef_0_12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>
                <a:solidFill>
                  <a:srgbClr val="00589D"/>
                </a:solidFill>
              </a:rPr>
              <a:t>zkg load/unload and info</a:t>
            </a:r>
            <a:endParaRPr sz="1400"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unload cve-2020-0601</a:t>
            </a:r>
            <a:endParaRPr sz="1400"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info cve-2020-0601</a:t>
            </a:r>
            <a:endParaRPr sz="1400"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>
                <a:solidFill>
                  <a:srgbClr val="00589D"/>
                </a:solidFill>
              </a:rPr>
              <a:t>Remove and uninstall all the packages</a:t>
            </a:r>
            <a:endParaRPr sz="1400"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purge</a:t>
            </a:r>
            <a:endParaRPr sz="1400"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list installed</a:t>
            </a:r>
            <a:endParaRPr>
              <a:solidFill>
                <a:srgbClr val="00AAE3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>
                <a:solidFill>
                  <a:srgbClr val="00589D"/>
                </a:solidFill>
              </a:rPr>
              <a:t>Other useful zkg commands</a:t>
            </a:r>
            <a:endParaRPr sz="1400"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remove, pin, unpin, upgrade, refresh</a:t>
            </a:r>
            <a:endParaRPr sz="2100">
              <a:solidFill>
                <a:srgbClr val="00AAE3"/>
              </a:solidFill>
            </a:endParaRPr>
          </a:p>
        </p:txBody>
      </p:sp>
      <p:sp>
        <p:nvSpPr>
          <p:cNvPr id="425" name="Google Shape;425;g3fa81f9c2ef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a81f9c2ef_0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Exercise #3: </a:t>
            </a:r>
            <a:r>
              <a:rPr lang="en" sz="3000">
                <a:solidFill>
                  <a:srgbClr val="00B0F0"/>
                </a:solidFill>
              </a:rPr>
              <a:t>Zkg </a:t>
            </a:r>
            <a:endParaRPr sz="3000"/>
          </a:p>
        </p:txBody>
      </p:sp>
      <p:sp>
        <p:nvSpPr>
          <p:cNvPr id="431" name="Google Shape;431;g3fa81f9c2ef_0_18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589D"/>
                </a:solidFill>
              </a:rPr>
              <a:t>10 minutes..</a:t>
            </a:r>
            <a:endParaRPr>
              <a:solidFill>
                <a:srgbClr val="00589D"/>
              </a:solidFill>
            </a:endParaRPr>
          </a:p>
          <a:p>
            <a:pPr indent="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589D"/>
                </a:solidFill>
              </a:rPr>
              <a:t>Running Zeek with zkg installed packages, specifically with </a:t>
            </a:r>
            <a:r>
              <a:rPr lang="en" u="sng">
                <a:solidFill>
                  <a:srgbClr val="00589D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JA3</a:t>
            </a:r>
            <a:r>
              <a:rPr lang="en">
                <a:solidFill>
                  <a:srgbClr val="00589D"/>
                </a:solidFill>
              </a:rPr>
              <a:t>.</a:t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zkg install ja3</a:t>
            </a:r>
            <a:endParaRPr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zeekctl deploy</a:t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0AAE3"/>
                </a:solidFill>
              </a:rPr>
              <a:t># tcpreplay -i eth0 --mbps=500 /training-res/traces/</a:t>
            </a:r>
            <a:r>
              <a:rPr lang="en">
                <a:solidFill>
                  <a:srgbClr val="00AAE3"/>
                </a:solidFill>
              </a:rPr>
              <a:t>extract</a:t>
            </a:r>
            <a:r>
              <a:rPr lang="en" sz="1800">
                <a:solidFill>
                  <a:srgbClr val="00AAE3"/>
                </a:solidFill>
              </a:rPr>
              <a:t>.pcap</a:t>
            </a:r>
            <a:endParaRPr sz="1800"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" sz="1800">
                <a:solidFill>
                  <a:srgbClr val="00AAE3"/>
                </a:solidFill>
              </a:rPr>
              <a:t># less /zeek/logs/current/ssl.lo</a:t>
            </a:r>
            <a:r>
              <a:rPr lang="en">
                <a:solidFill>
                  <a:srgbClr val="00AAE3"/>
                </a:solidFill>
              </a:rPr>
              <a:t>g</a:t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">
                <a:solidFill>
                  <a:srgbClr val="00AAE3"/>
                </a:solidFill>
              </a:rPr>
              <a:t># cat ssl.log | zeek-cut -d ja3 ja3s</a:t>
            </a:r>
            <a:endParaRPr>
              <a:solidFill>
                <a:srgbClr val="00AAE3"/>
              </a:solidFill>
            </a:endParaRPr>
          </a:p>
        </p:txBody>
      </p:sp>
      <p:sp>
        <p:nvSpPr>
          <p:cNvPr id="432" name="Google Shape;432;g3fa81f9c2ef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a81f9c2ef_0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Exercise #4: </a:t>
            </a:r>
            <a:r>
              <a:rPr lang="en" sz="3000">
                <a:solidFill>
                  <a:srgbClr val="00B0F0"/>
                </a:solidFill>
              </a:rPr>
              <a:t>Zkg </a:t>
            </a:r>
            <a:endParaRPr sz="3000"/>
          </a:p>
        </p:txBody>
      </p:sp>
      <p:sp>
        <p:nvSpPr>
          <p:cNvPr id="438" name="Google Shape;438;g3fa81f9c2ef_0_24"/>
          <p:cNvSpPr txBox="1"/>
          <p:nvPr>
            <p:ph idx="1" type="body"/>
          </p:nvPr>
        </p:nvSpPr>
        <p:spPr>
          <a:xfrm>
            <a:off x="311700" y="1054425"/>
            <a:ext cx="8520600" cy="4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00589D"/>
                </a:solidFill>
              </a:rPr>
              <a:t>Extract a file from a file transfer connection using file-extract </a:t>
            </a:r>
            <a:r>
              <a:rPr lang="en" u="sng">
                <a:solidFill>
                  <a:srgbClr val="00589D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zkg package</a:t>
            </a:r>
            <a:r>
              <a:rPr lang="en">
                <a:solidFill>
                  <a:srgbClr val="00589D"/>
                </a:solidFill>
              </a:rPr>
              <a:t> </a:t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00AAE3"/>
                </a:solidFill>
              </a:rPr>
              <a:t># zkg install file-extraction</a:t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Add all file types extraction to the config of the package:</a:t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00AAE3"/>
                </a:solidFill>
              </a:rPr>
              <a:t># vi /zeek/share/zeek/site/packages/file-extraction/config.zeek</a:t>
            </a:r>
            <a:endParaRPr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AAE3"/>
                </a:solidFill>
              </a:rPr>
              <a:t>redef path = "/extracted_files/";</a:t>
            </a:r>
            <a:endParaRPr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AAE3"/>
                </a:solidFill>
              </a:rPr>
              <a:t>@load ./plugins/extract-all-files.zeek</a:t>
            </a:r>
            <a:endParaRPr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rgbClr val="25C804"/>
              </a:solidFill>
              <a:highlight>
                <a:srgbClr val="11111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00AAE3"/>
                </a:solidFill>
              </a:rPr>
              <a:t># mkdir /extracted_files</a:t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00AAE3"/>
                </a:solidFill>
              </a:rPr>
              <a:t># zeekctl deploy </a:t>
            </a:r>
            <a:endParaRPr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AAE3"/>
                </a:solidFill>
              </a:rPr>
              <a:t># tcpreplay -i eth0 --mbps=500 /training-res/traces/extract.pcap</a:t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00AAE3"/>
                </a:solidFill>
              </a:rPr>
              <a:t># ls /extracted_files/ </a:t>
            </a:r>
            <a:endParaRPr>
              <a:solidFill>
                <a:srgbClr val="00AAE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00AAE3"/>
                </a:solidFill>
              </a:rPr>
              <a:t># less files.log</a:t>
            </a:r>
            <a:endParaRPr>
              <a:solidFill>
                <a:srgbClr val="00AAE3"/>
              </a:solidFill>
            </a:endParaRPr>
          </a:p>
        </p:txBody>
      </p:sp>
      <p:sp>
        <p:nvSpPr>
          <p:cNvPr id="439" name="Google Shape;439;g3fa81f9c2ef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type="title"/>
          </p:nvPr>
        </p:nvSpPr>
        <p:spPr>
          <a:xfrm>
            <a:off x="128900" y="1716375"/>
            <a:ext cx="852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800">
                <a:solidFill>
                  <a:srgbClr val="25C804"/>
                </a:solidFill>
              </a:rPr>
              <a:t>Lunch Break</a:t>
            </a:r>
            <a:endParaRPr sz="4800">
              <a:solidFill>
                <a:srgbClr val="25C804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800">
                <a:solidFill>
                  <a:srgbClr val="25C804"/>
                </a:solidFill>
              </a:rPr>
              <a:t>[12:15-1:30 pm]</a:t>
            </a:r>
            <a:endParaRPr sz="4800">
              <a:solidFill>
                <a:srgbClr val="25C804"/>
              </a:solidFill>
            </a:endParaRPr>
          </a:p>
        </p:txBody>
      </p:sp>
      <p:sp>
        <p:nvSpPr>
          <p:cNvPr id="445" name="Google Shape;44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2185C5"/>
      </a:lt2>
      <a:accent1>
        <a:srgbClr val="00589D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B0F0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
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gLLIJlj1Au1Vf2m6doPK0PXiG2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925a13aa0_1_7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2925a13aa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2925a13aa0_1_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2925a13aa0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The links in the slide deck references to the Zeek Doc online, and the links are clickable.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3d2135a7f0_0_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23d2135a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If zeek is installed on your own server/laptop, you can pull down the training-repo and use the export command.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32fb213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732fb213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c2f37c7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fc2f37c7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4fe9e3eadb_0_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24fe9e3ead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6097b2d4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16097b2d4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6ce11af4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26ce11af4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6097b2d47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16097b2d47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6097b2d4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16097b2d4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6097b2d47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16097b2d4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6097b2d4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16097b2d4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6097b2d47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16097b2d47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6097b2d47b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16097b2d47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5ab3a73bd6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15ab3a73b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5ab3a73bd6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15ab3a73bd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5ab3a73bd6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15ab3a73b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5ab3a73bd6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15ab3a73bd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5ab3a73bd6_0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15ab3a73bd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5ab3a73bd6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15ab3a73b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3bbd2e318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13bbd2e318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5bd595cbc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15bd595cbc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639fc7746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1639fc7746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2925a13aa0_1_30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12925a13aa0_1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Packet-fragments won’t work with @load...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2925a13aa0_1_30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12925a13aa0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2925a13aa0_1_3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12925a13aa0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875563d87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2875563d87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1b877334921b5a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1b877334921b5a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1b877334921b5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1b877334921b5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81f9c2ef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a81f9c2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875563d87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2875563d87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2925a13aa0_1_3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g12925a13aa0_1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1b877334921b5a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h1b877334921b5a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a81f9c2ef_0_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fa81f9c2e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fa81f9c2ef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fa81f9c2e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2925a13aa0_1_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g12925a13aa0_1_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g12925a13aa0_1_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8" name="Google Shape;18;g12925a13aa0_1_10"/>
          <p:cNvGrpSpPr/>
          <p:nvPr/>
        </p:nvGrpSpPr>
        <p:grpSpPr>
          <a:xfrm>
            <a:off x="0" y="5057131"/>
            <a:ext cx="9143874" cy="146552"/>
            <a:chOff x="0" y="5056825"/>
            <a:chExt cx="9143874" cy="77100"/>
          </a:xfrm>
        </p:grpSpPr>
        <p:sp>
          <p:nvSpPr>
            <p:cNvPr id="19" name="Google Shape;19;g12925a13aa0_1_10"/>
            <p:cNvSpPr/>
            <p:nvPr/>
          </p:nvSpPr>
          <p:spPr>
            <a:xfrm>
              <a:off x="7355977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12925a13aa0_1_10"/>
            <p:cNvSpPr/>
            <p:nvPr/>
          </p:nvSpPr>
          <p:spPr>
            <a:xfrm>
              <a:off x="8249874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12925a13aa0_1_10"/>
            <p:cNvSpPr/>
            <p:nvPr/>
          </p:nvSpPr>
          <p:spPr>
            <a:xfrm>
              <a:off x="0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g12925a13aa0_1_10"/>
            <p:cNvSpPr/>
            <p:nvPr/>
          </p:nvSpPr>
          <p:spPr>
            <a:xfrm>
              <a:off x="893663" y="5056825"/>
              <a:ext cx="64623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2925a13aa0_1_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g12925a13aa0_1_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g12925a13aa0_1_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g12925a13aa0_1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2925a13aa0_1_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g12925a13aa0_1_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e02d27435_1_483"/>
          <p:cNvSpPr txBox="1"/>
          <p:nvPr>
            <p:ph type="ctrTitle"/>
          </p:nvPr>
        </p:nvSpPr>
        <p:spPr>
          <a:xfrm>
            <a:off x="914399" y="1597819"/>
            <a:ext cx="77628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33" name="Google Shape;33;g38e02d27435_1_483"/>
          <p:cNvSpPr txBox="1"/>
          <p:nvPr>
            <p:ph idx="1" type="subTitle"/>
          </p:nvPr>
        </p:nvSpPr>
        <p:spPr>
          <a:xfrm>
            <a:off x="914400" y="2901950"/>
            <a:ext cx="3597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63738"/>
              </a:buClr>
              <a:buSzPts val="17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36373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Merriweather Sans"/>
              <a:buNone/>
              <a:defRPr b="0" i="0" sz="14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A1A2A3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A1A2A3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g38e02d27435_1_483"/>
          <p:cNvSpPr txBox="1"/>
          <p:nvPr>
            <p:ph idx="10" type="dt"/>
          </p:nvPr>
        </p:nvSpPr>
        <p:spPr>
          <a:xfrm>
            <a:off x="930274" y="4862516"/>
            <a:ext cx="1686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g38e02d27435_1_483"/>
          <p:cNvSpPr txBox="1"/>
          <p:nvPr>
            <p:ph idx="11" type="ftr"/>
          </p:nvPr>
        </p:nvSpPr>
        <p:spPr>
          <a:xfrm>
            <a:off x="4572000" y="486251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g38e02d27435_1_483"/>
          <p:cNvSpPr txBox="1"/>
          <p:nvPr>
            <p:ph idx="12" type="sldNum"/>
          </p:nvPr>
        </p:nvSpPr>
        <p:spPr>
          <a:xfrm>
            <a:off x="457200" y="4862516"/>
            <a:ext cx="44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DOE_logo.png" id="37" name="Google Shape;37;g38e02d27435_1_4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4467" y="4374071"/>
            <a:ext cx="1179576" cy="393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b_Logo.png" id="38" name="Google Shape;38;g38e02d27435_1_4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4250626"/>
            <a:ext cx="681228" cy="5166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net_Logo_Header.png" id="39" name="Google Shape;39;g38e02d27435_1_4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333" y="488950"/>
            <a:ext cx="2466594" cy="72009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38e02d27435_1_483"/>
          <p:cNvSpPr txBox="1"/>
          <p:nvPr>
            <p:ph idx="2" type="body"/>
          </p:nvPr>
        </p:nvSpPr>
        <p:spPr>
          <a:xfrm>
            <a:off x="5116513" y="2901553"/>
            <a:ext cx="35703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19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Merriweather Sans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rgbClr val="363738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e02d27435_1_49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  <p:sp>
        <p:nvSpPr>
          <p:cNvPr id="43" name="Google Shape;43;g38e02d27435_1_493"/>
          <p:cNvSpPr txBox="1"/>
          <p:nvPr>
            <p:ph idx="1" type="body"/>
          </p:nvPr>
        </p:nvSpPr>
        <p:spPr>
          <a:xfrm>
            <a:off x="457200" y="1200151"/>
            <a:ext cx="8229600" cy="3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algn="l">
              <a:lnSpc>
                <a:spcPct val="115000"/>
              </a:lnSpc>
              <a:spcBef>
                <a:spcPts val="88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3655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 Sans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g38e02d27435_1_493"/>
          <p:cNvSpPr txBox="1"/>
          <p:nvPr>
            <p:ph idx="10" type="dt"/>
          </p:nvPr>
        </p:nvSpPr>
        <p:spPr>
          <a:xfrm>
            <a:off x="930274" y="4862516"/>
            <a:ext cx="1686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g38e02d27435_1_493"/>
          <p:cNvSpPr txBox="1"/>
          <p:nvPr>
            <p:ph idx="11" type="ftr"/>
          </p:nvPr>
        </p:nvSpPr>
        <p:spPr>
          <a:xfrm>
            <a:off x="4572000" y="4862516"/>
            <a:ext cx="411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g38e02d27435_1_493"/>
          <p:cNvSpPr txBox="1"/>
          <p:nvPr>
            <p:ph idx="12" type="sldNum"/>
          </p:nvPr>
        </p:nvSpPr>
        <p:spPr>
          <a:xfrm>
            <a:off x="457200" y="4862516"/>
            <a:ext cx="447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900" u="none" cap="none" strike="noStrike">
                <a:solidFill>
                  <a:srgbClr val="36373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eek Project - General slide Deck">
  <p:cSld name="TITLE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2925a13aa0_1_56"/>
          <p:cNvSpPr txBox="1"/>
          <p:nvPr>
            <p:ph type="ctrTitle"/>
          </p:nvPr>
        </p:nvSpPr>
        <p:spPr>
          <a:xfrm>
            <a:off x="645225" y="2762725"/>
            <a:ext cx="67365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85C5"/>
              </a:buClr>
              <a:buSzPts val="4400"/>
              <a:buNone/>
              <a:defRPr sz="4400">
                <a:solidFill>
                  <a:srgbClr val="2185C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None/>
              <a:defRPr sz="4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g12925a13aa0_1_56"/>
          <p:cNvSpPr/>
          <p:nvPr/>
        </p:nvSpPr>
        <p:spPr>
          <a:xfrm>
            <a:off x="5938246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12925a13aa0_1_56"/>
          <p:cNvSpPr/>
          <p:nvPr/>
        </p:nvSpPr>
        <p:spPr>
          <a:xfrm>
            <a:off x="6659861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12925a13aa0_1_56"/>
          <p:cNvSpPr/>
          <p:nvPr/>
        </p:nvSpPr>
        <p:spPr>
          <a:xfrm>
            <a:off x="-1" y="2533163"/>
            <a:ext cx="7218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12925a13aa0_1_56"/>
          <p:cNvSpPr/>
          <p:nvPr/>
        </p:nvSpPr>
        <p:spPr>
          <a:xfrm>
            <a:off x="721425" y="2533163"/>
            <a:ext cx="52167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g12925a13aa0_1_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925a13aa0_1_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g12925a13aa0_1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" name="Google Shape;57;g12925a13aa0_1_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925a13aa0_1_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12925a13aa0_1_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1" name="Google Shape;61;g12925a13aa0_1_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2" name="Google Shape;62;g12925a13aa0_1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g12925a13aa0_1_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2925a13aa0_1_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g12925a13aa0_1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g12925a13aa0_1_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925a13aa0_1_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0" name="Google Shape;70;g12925a13aa0_1_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g12925a13aa0_1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g12925a13aa0_1_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2925a13aa0_1_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" name="Google Shape;75;g12925a13aa0_1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g12925a13aa0_1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2925a13aa0_1_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12925a13aa0_1_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g12925a13aa0_1_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g12925a13aa0_1_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g12925a13aa0_1_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2925a13aa0_1_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5" name="Google Shape;85;g12925a13aa0_1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g12925a13aa0_1_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925a13aa0_1_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g12925a13aa0_1_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0" name="Google Shape;90;g12925a13aa0_1_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g12925a13aa0_1_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925a13aa0_1_62"/>
          <p:cNvSpPr txBox="1"/>
          <p:nvPr>
            <p:ph idx="1" type="body"/>
          </p:nvPr>
        </p:nvSpPr>
        <p:spPr>
          <a:xfrm>
            <a:off x="1710425" y="2161800"/>
            <a:ext cx="57237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i="1"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i="1"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i="1"/>
            </a:lvl9pPr>
          </a:lstStyle>
          <a:p/>
        </p:txBody>
      </p:sp>
      <p:sp>
        <p:nvSpPr>
          <p:cNvPr id="94" name="Google Shape;94;g12925a13aa0_1_62"/>
          <p:cNvSpPr txBox="1"/>
          <p:nvPr/>
        </p:nvSpPr>
        <p:spPr>
          <a:xfrm>
            <a:off x="3593400" y="1181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" sz="9600" u="none" cap="none" strike="noStrike">
                <a:solidFill>
                  <a:srgbClr val="FFEA79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1" i="0" sz="9600" u="none" cap="none" strike="noStrike">
              <a:solidFill>
                <a:srgbClr val="FFEA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12925a13aa0_1_62"/>
          <p:cNvSpPr/>
          <p:nvPr/>
        </p:nvSpPr>
        <p:spPr>
          <a:xfrm>
            <a:off x="5723283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2925a13aa0_1_62"/>
          <p:cNvSpPr/>
          <p:nvPr/>
        </p:nvSpPr>
        <p:spPr>
          <a:xfrm>
            <a:off x="7434177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12925a13aa0_1_62"/>
          <p:cNvSpPr/>
          <p:nvPr/>
        </p:nvSpPr>
        <p:spPr>
          <a:xfrm>
            <a:off x="0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2925a13aa0_1_62"/>
          <p:cNvSpPr/>
          <p:nvPr/>
        </p:nvSpPr>
        <p:spPr>
          <a:xfrm>
            <a:off x="1710425" y="1599675"/>
            <a:ext cx="1710300" cy="77100"/>
          </a:xfrm>
          <a:prstGeom prst="rect">
            <a:avLst/>
          </a:prstGeom>
          <a:solidFill>
            <a:srgbClr val="00A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12925a13aa0_1_62"/>
          <p:cNvSpPr txBox="1"/>
          <p:nvPr>
            <p:ph idx="12" type="sldNum"/>
          </p:nvPr>
        </p:nvSpPr>
        <p:spPr>
          <a:xfrm>
            <a:off x="-125" y="4830281"/>
            <a:ext cx="914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g12925a13aa0_1_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50425" y="301675"/>
            <a:ext cx="781875" cy="85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2925a13aa0_1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2925a13aa0_1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589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2925a13aa0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" name="Google Shape;9;g12925a13aa0_1_0"/>
          <p:cNvGrpSpPr/>
          <p:nvPr/>
        </p:nvGrpSpPr>
        <p:grpSpPr>
          <a:xfrm>
            <a:off x="0" y="5057131"/>
            <a:ext cx="9143874" cy="146552"/>
            <a:chOff x="0" y="5056825"/>
            <a:chExt cx="9143874" cy="77100"/>
          </a:xfrm>
        </p:grpSpPr>
        <p:sp>
          <p:nvSpPr>
            <p:cNvPr id="10" name="Google Shape;10;g12925a13aa0_1_0"/>
            <p:cNvSpPr/>
            <p:nvPr/>
          </p:nvSpPr>
          <p:spPr>
            <a:xfrm>
              <a:off x="7355977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g12925a13aa0_1_0"/>
            <p:cNvSpPr/>
            <p:nvPr/>
          </p:nvSpPr>
          <p:spPr>
            <a:xfrm>
              <a:off x="8249874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12925a13aa0_1_0"/>
            <p:cNvSpPr/>
            <p:nvPr/>
          </p:nvSpPr>
          <p:spPr>
            <a:xfrm>
              <a:off x="0" y="5056825"/>
              <a:ext cx="8940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12925a13aa0_1_0"/>
            <p:cNvSpPr/>
            <p:nvPr/>
          </p:nvSpPr>
          <p:spPr>
            <a:xfrm>
              <a:off x="893663" y="5056825"/>
              <a:ext cx="6462300" cy="77100"/>
            </a:xfrm>
            <a:prstGeom prst="rect">
              <a:avLst/>
            </a:prstGeom>
            <a:solidFill>
              <a:srgbClr val="00AA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zeek.org/en/master/" TargetMode="External"/><Relationship Id="rId4" Type="http://schemas.openxmlformats.org/officeDocument/2006/relationships/hyperlink" Target="https://zeek.org/slack" TargetMode="External"/><Relationship Id="rId5" Type="http://schemas.openxmlformats.org/officeDocument/2006/relationships/hyperlink" Target="https://zeekorg.slack.com/archives/C01SW22P8UX" TargetMode="External"/><Relationship Id="rId6" Type="http://schemas.openxmlformats.org/officeDocument/2006/relationships/hyperlink" Target="https://github.com/zeek/zeek-training/tree/master/Intro-to-Zeek/training-res" TargetMode="External"/><Relationship Id="rId7" Type="http://schemas.openxmlformats.org/officeDocument/2006/relationships/hyperlink" Target="https://github.com/zeek/zeek-training/blob/master/Intro-to-Zeek/training-res/ZeekWorkshop26%20Training.pptx" TargetMode="External"/><Relationship Id="rId8" Type="http://schemas.openxmlformats.org/officeDocument/2006/relationships/hyperlink" Target="https://bit.ly/intro-zeek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b.docker.com/u/zeek" TargetMode="External"/><Relationship Id="rId4" Type="http://schemas.openxmlformats.org/officeDocument/2006/relationships/hyperlink" Target="https://github.com/zeek/zeek-training.git" TargetMode="External"/><Relationship Id="rId5" Type="http://schemas.openxmlformats.org/officeDocument/2006/relationships/hyperlink" Target="http://setup.sh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ommons.lbl.gov/display/cpp/100G+Intrusion+Detection" TargetMode="External"/><Relationship Id="rId4" Type="http://schemas.openxmlformats.org/officeDocument/2006/relationships/hyperlink" Target="https://github.com/pevma/SEPTun-Mark-II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zeek.org/en/v4.1.0/quickstart.html#filesystem-walkthrough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zeek.org/projects/package-manager/en/stable/index.html" TargetMode="External"/><Relationship Id="rId4" Type="http://schemas.openxmlformats.org/officeDocument/2006/relationships/hyperlink" Target="https://packages.zeek.org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ithub.com/salesforce/ja3/tree/master/zeek" TargetMode="External"/></Relationships>
</file>

<file path=ppt/slides/_rels/slide38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corelight/zeek-log-writer-nats" TargetMode="External"/><Relationship Id="rId10" Type="http://schemas.openxmlformats.org/officeDocument/2006/relationships/hyperlink" Target="https://github.com/SeisoLLC/zeek-kafka" TargetMode="External"/><Relationship Id="rId13" Type="http://schemas.openxmlformats.org/officeDocument/2006/relationships/hyperlink" Target="https://github.com/zeek/zeek-perf-support" TargetMode="External"/><Relationship Id="rId12" Type="http://schemas.openxmlformats.org/officeDocument/2006/relationships/hyperlink" Target="https://github.com/J-Gras/zeek-fuzzy-hashin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hub.com/corelight/emudhra-weak-keys" TargetMode="External"/><Relationship Id="rId4" Type="http://schemas.openxmlformats.org/officeDocument/2006/relationships/hyperlink" Target="https://github.com/corelight/php2shell-detect" TargetMode="External"/><Relationship Id="rId9" Type="http://schemas.openxmlformats.org/officeDocument/2006/relationships/hyperlink" Target="https://github.com/evantypanski/spicy-nats" TargetMode="External"/><Relationship Id="rId14" Type="http://schemas.openxmlformats.org/officeDocument/2006/relationships/hyperlink" Target="https://github.com/zeek/zeek-xdp" TargetMode="External"/><Relationship Id="rId5" Type="http://schemas.openxmlformats.org/officeDocument/2006/relationships/hyperlink" Target="https://github.com/zeek/redis-rce" TargetMode="External"/><Relationship Id="rId6" Type="http://schemas.openxmlformats.org/officeDocument/2006/relationships/hyperlink" Target="https://github.com/J-Gras/add-interfaces" TargetMode="External"/><Relationship Id="rId7" Type="http://schemas.openxmlformats.org/officeDocument/2006/relationships/hyperlink" Target="http://amarokinc/remote_asn_geoip_conn" TargetMode="External"/><Relationship Id="rId8" Type="http://schemas.openxmlformats.org/officeDocument/2006/relationships/hyperlink" Target="https://github.com/cisagov/ICSNPP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925a13aa0_1_70"/>
          <p:cNvSpPr txBox="1"/>
          <p:nvPr>
            <p:ph type="ctrTitle"/>
          </p:nvPr>
        </p:nvSpPr>
        <p:spPr>
          <a:xfrm>
            <a:off x="311700" y="1705375"/>
            <a:ext cx="8520600" cy="16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89"/>
              <a:buNone/>
            </a:pPr>
            <a:r>
              <a:rPr lang="en"/>
              <a:t>Introduction to Zeek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9"/>
              <a:buFont typeface="Arial"/>
              <a:buNone/>
            </a:pPr>
            <a:r>
              <a:t/>
            </a:r>
            <a:endParaRPr sz="3300"/>
          </a:p>
        </p:txBody>
      </p:sp>
      <p:sp>
        <p:nvSpPr>
          <p:cNvPr id="106" name="Google Shape;106;g12925a13aa0_1_70"/>
          <p:cNvSpPr txBox="1"/>
          <p:nvPr>
            <p:ph idx="1" type="subTitle"/>
          </p:nvPr>
        </p:nvSpPr>
        <p:spPr>
          <a:xfrm>
            <a:off x="311700" y="34119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2615"/>
              <a:t>NSF Cybersecurity Summit</a:t>
            </a:r>
            <a:endParaRPr sz="2615"/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2364"/>
              <a:t>Oct 27</a:t>
            </a:r>
            <a:r>
              <a:rPr lang="en" sz="2364"/>
              <a:t>, 2026</a:t>
            </a:r>
            <a:endParaRPr sz="2615"/>
          </a:p>
          <a:p>
            <a:pPr indent="0" lvl="0" marL="0" rtl="0" algn="ctr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605"/>
              <a:buNone/>
            </a:pPr>
            <a:r>
              <a:t/>
            </a:r>
            <a:endParaRPr sz="2340"/>
          </a:p>
        </p:txBody>
      </p:sp>
      <p:pic>
        <p:nvPicPr>
          <p:cNvPr id="107" name="Google Shape;107;g12925a13aa0_1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2437" y="150225"/>
            <a:ext cx="1579124" cy="140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3333"/>
              <a:buFont typeface="Arial"/>
              <a:buNone/>
            </a:pPr>
            <a:r>
              <a:rPr lang="en" sz="3000">
                <a:solidFill>
                  <a:srgbClr val="00B0F0"/>
                </a:solidFill>
              </a:rPr>
              <a:t>Who Are We?</a:t>
            </a:r>
            <a:endParaRPr sz="3000"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544500" y="1078750"/>
            <a:ext cx="82125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Christian Kreibich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Zeek Technical Lead and LT member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Engineer at Corelight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20+ years of network security, research, and engineering</a:t>
            </a:r>
            <a:endParaRPr sz="20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Fatema Bannat Wala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Security Engineer @ ESnet/LBNL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11+ yrs of hands-on network defense</a:t>
            </a:r>
            <a:endParaRPr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000"/>
              <a:t>Zeek LT Member / Zeek Training Subgroup Lead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 txBox="1"/>
          <p:nvPr>
            <p:ph type="title"/>
          </p:nvPr>
        </p:nvSpPr>
        <p:spPr>
          <a:xfrm>
            <a:off x="311700" y="3678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Agenda (9am - 12pm)</a:t>
            </a:r>
            <a:endParaRPr sz="3000">
              <a:solidFill>
                <a:srgbClr val="00B0F0"/>
              </a:solidFill>
            </a:endParaRPr>
          </a:p>
        </p:txBody>
      </p:sp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311700" y="1086850"/>
            <a:ext cx="7921200" cy="3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What is a Zeek / Cluster? - Fatema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Become familiar with Cluster Configs - Fatema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Zeek’s Filesystem Layout - Fatema</a:t>
            </a:r>
            <a:endParaRPr sz="1700">
              <a:solidFill>
                <a:srgbClr val="25C804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Running Zeek in a Cluster - Fatema</a:t>
            </a:r>
            <a:endParaRPr sz="1700">
              <a:solidFill>
                <a:srgbClr val="25C804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</a:rPr>
              <a:t>(break 10:30 am - 10:45 am)</a:t>
            </a:r>
            <a:endParaRPr b="1" sz="1700">
              <a:solidFill>
                <a:schemeClr val="accent1"/>
              </a:solidFill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Invoking Zeek via cmd line - Christian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Zeek log analysis - Christian</a:t>
            </a:r>
            <a:endParaRPr sz="1700">
              <a:solidFill>
                <a:schemeClr val="accent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</a:pPr>
            <a:r>
              <a:rPr lang="en" sz="1700">
                <a:solidFill>
                  <a:schemeClr val="accent1"/>
                </a:solidFill>
              </a:rPr>
              <a:t>Zeek Package Manager - Christian</a:t>
            </a:r>
            <a:endParaRPr sz="1700">
              <a:solidFill>
                <a:schemeClr val="accent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accent1"/>
                </a:solidFill>
              </a:rPr>
              <a:t>(Lunch 12:00 pm - 1 pm)</a:t>
            </a:r>
            <a:endParaRPr b="1" sz="1700">
              <a:solidFill>
                <a:srgbClr val="25C804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25C804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FF"/>
              </a:solidFill>
            </a:endParaRPr>
          </a:p>
        </p:txBody>
      </p:sp>
      <p:sp>
        <p:nvSpPr>
          <p:cNvPr id="120" name="Google Shape;1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925a13aa0_1_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Housekeeping</a:t>
            </a:r>
            <a:endParaRPr sz="3000">
              <a:solidFill>
                <a:srgbClr val="00B0F0"/>
              </a:solidFill>
            </a:endParaRPr>
          </a:p>
        </p:txBody>
      </p:sp>
      <p:sp>
        <p:nvSpPr>
          <p:cNvPr id="126" name="Google Shape;126;g12925a13aa0_1_87"/>
          <p:cNvSpPr txBox="1"/>
          <p:nvPr>
            <p:ph idx="1" type="body"/>
          </p:nvPr>
        </p:nvSpPr>
        <p:spPr>
          <a:xfrm>
            <a:off x="311700" y="1302050"/>
            <a:ext cx="7857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Zeek’s Official Documentation: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https://docs.zeek.org</a:t>
            </a:r>
            <a:endParaRPr sz="2000">
              <a:solidFill>
                <a:schemeClr val="accent1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Join </a:t>
            </a:r>
            <a:r>
              <a:rPr lang="en" sz="2000" u="sng">
                <a:solidFill>
                  <a:schemeClr val="hlink"/>
                </a:solidFill>
                <a:hlinkClick r:id="rId4"/>
              </a:rPr>
              <a:t>Zeek Slack</a:t>
            </a:r>
            <a:r>
              <a:rPr lang="en" sz="2000"/>
              <a:t> channel </a:t>
            </a:r>
            <a:r>
              <a:rPr lang="en" sz="2000" u="sng">
                <a:solidFill>
                  <a:schemeClr val="hlink"/>
                </a:solidFill>
                <a:hlinkClick r:id="rId5"/>
              </a:rPr>
              <a:t>#training</a:t>
            </a:r>
            <a:endParaRPr sz="1600">
              <a:solidFill>
                <a:srgbClr val="00AAE3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Slide deck for this training can be found here: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https://github.com/zeek/zeek-training/tree/master/Intro-to-Zeek/training-res</a:t>
            </a:r>
            <a:r>
              <a:rPr lang="en" sz="1600" u="sng">
                <a:solidFill>
                  <a:schemeClr val="hlink"/>
                </a:solidFill>
              </a:rPr>
              <a:t>/</a:t>
            </a:r>
            <a:r>
              <a:rPr lang="en" sz="1600" u="sng">
                <a:solidFill>
                  <a:schemeClr val="hlink"/>
                </a:solidFill>
                <a:hlinkClick r:id="rId7"/>
              </a:rPr>
              <a:t>ZeekWorkshop26 Training.pptx</a:t>
            </a:r>
            <a:endParaRPr sz="1600" u="sng">
              <a:solidFill>
                <a:schemeClr val="hlink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51A3"/>
              </a:buClr>
              <a:buSzPts val="1600"/>
              <a:buChar char="○"/>
            </a:pPr>
            <a:r>
              <a:rPr lang="en" sz="1600">
                <a:solidFill>
                  <a:srgbClr val="2A51A3"/>
                </a:solidFill>
              </a:rPr>
              <a:t>H</a:t>
            </a:r>
            <a:r>
              <a:rPr lang="en" sz="1600">
                <a:solidFill>
                  <a:srgbClr val="2A51A3"/>
                </a:solidFill>
              </a:rPr>
              <a:t>ave a copy of slide deck open in a browser tab, for easy copy/paste of the commands in exercises!</a:t>
            </a:r>
            <a:endParaRPr sz="1600">
              <a:solidFill>
                <a:srgbClr val="2A51A3"/>
              </a:solidFill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51A3"/>
              </a:buClr>
              <a:buSzPts val="1600"/>
              <a:buChar char="○"/>
            </a:pPr>
            <a:r>
              <a:rPr lang="en" sz="1600">
                <a:solidFill>
                  <a:srgbClr val="2A51A3"/>
                </a:solidFill>
              </a:rPr>
              <a:t>Shortened link: </a:t>
            </a:r>
            <a:r>
              <a:rPr b="1" lang="en" sz="1600" u="sng">
                <a:solidFill>
                  <a:schemeClr val="hlink"/>
                </a:solidFill>
                <a:hlinkClick r:id="rId8"/>
              </a:rPr>
              <a:t>https://bit.ly/intro-zeek</a:t>
            </a:r>
            <a:endParaRPr b="1" sz="1600">
              <a:solidFill>
                <a:srgbClr val="2A51A3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2A51A3"/>
              </a:solidFill>
            </a:endParaRPr>
          </a:p>
        </p:txBody>
      </p:sp>
      <p:sp>
        <p:nvSpPr>
          <p:cNvPr id="127" name="Google Shape;127;g12925a13aa0_1_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3d2135a7f0_0_5"/>
          <p:cNvSpPr txBox="1"/>
          <p:nvPr>
            <p:ph type="title"/>
          </p:nvPr>
        </p:nvSpPr>
        <p:spPr>
          <a:xfrm>
            <a:off x="311700" y="274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Docker / Zeek Usage</a:t>
            </a:r>
            <a:endParaRPr sz="3000"/>
          </a:p>
        </p:txBody>
      </p:sp>
      <p:sp>
        <p:nvSpPr>
          <p:cNvPr id="133" name="Google Shape;133;g23d2135a7f0_0_5"/>
          <p:cNvSpPr txBox="1"/>
          <p:nvPr>
            <p:ph idx="1" type="body"/>
          </p:nvPr>
        </p:nvSpPr>
        <p:spPr>
          <a:xfrm>
            <a:off x="311700" y="764850"/>
            <a:ext cx="8520600" cy="4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31"/>
          </a:p>
          <a:p>
            <a:pPr indent="-325932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532"/>
              <a:buChar char="●"/>
            </a:pPr>
            <a:r>
              <a:rPr lang="en" sz="1531"/>
              <a:t>Setup your Zeek Docker image</a:t>
            </a:r>
            <a:endParaRPr sz="1531"/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Grab the latest Zeek LTS image from </a:t>
            </a:r>
            <a:r>
              <a:rPr lang="en" sz="1280" u="sng">
                <a:solidFill>
                  <a:schemeClr val="hlink"/>
                </a:solidFill>
                <a:hlinkClick r:id="rId3"/>
              </a:rPr>
              <a:t>https://hub.docker.com/u/zeek</a:t>
            </a:r>
            <a:endParaRPr sz="1280">
              <a:solidFill>
                <a:srgbClr val="00589D"/>
              </a:solidFill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pull zeek/zeek:lts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run -it zeek/zeek:lts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Inside the container, set up resources used during this training:</a:t>
            </a:r>
            <a:endParaRPr sz="128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git clone 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--depth 1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28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https://github.com/zeek/zeek-training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ln -sfn /usr/local/zeek zeek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ln -sfn /zeek-training/Intro-to-Zeek/training-res training-res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cd zeek-training</a:t>
            </a:r>
            <a:endParaRPr sz="850">
              <a:solidFill>
                <a:srgbClr val="25C804"/>
              </a:solidFill>
              <a:highlight>
                <a:srgbClr val="111111"/>
              </a:highlight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./</a:t>
            </a:r>
            <a:r>
              <a:rPr lang="en" sz="128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setup.sh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intro-to-zeek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988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280"/>
              <a:buChar char="○"/>
            </a:pPr>
            <a:r>
              <a:rPr lang="en" sz="1280">
                <a:solidFill>
                  <a:srgbClr val="00589D"/>
                </a:solidFill>
              </a:rPr>
              <a:t>To run additional shells in the container</a:t>
            </a:r>
            <a:r>
              <a:rPr lang="en" sz="1280"/>
              <a:t>, use tmux or</a:t>
            </a:r>
            <a:endParaRPr sz="1280">
              <a:solidFill>
                <a:srgbClr val="00589D"/>
              </a:solidFill>
            </a:endParaRPr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280">
                <a:solidFill>
                  <a:srgbClr val="00589D"/>
                </a:solidFill>
              </a:rPr>
              <a:t>	</a:t>
            </a:r>
            <a:r>
              <a:rPr lang="en" sz="128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docker exec -it &lt;container name&gt; /bin/bash </a:t>
            </a:r>
            <a:endParaRPr sz="128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623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380"/>
              <a:buChar char="●"/>
            </a:pPr>
            <a:r>
              <a:rPr lang="en" sz="1565">
                <a:solidFill>
                  <a:srgbClr val="00589D"/>
                </a:solidFill>
              </a:rPr>
              <a:t>Verify</a:t>
            </a:r>
            <a:r>
              <a:rPr lang="en" sz="1565"/>
              <a:t> that </a:t>
            </a:r>
            <a:r>
              <a:rPr lang="en" sz="1565">
                <a:solidFill>
                  <a:srgbClr val="00589D"/>
                </a:solidFill>
              </a:rPr>
              <a:t>Zeek </a:t>
            </a:r>
            <a:r>
              <a:rPr lang="en" sz="1565"/>
              <a:t>runs</a:t>
            </a:r>
            <a:r>
              <a:rPr lang="en" sz="1565">
                <a:solidFill>
                  <a:srgbClr val="00589D"/>
                </a:solidFill>
              </a:rPr>
              <a:t> correctly: </a:t>
            </a:r>
            <a:r>
              <a:rPr lang="en" sz="1565">
                <a:solidFill>
                  <a:srgbClr val="2185C5"/>
                </a:solidFill>
                <a:latin typeface="Roboto Mono"/>
                <a:ea typeface="Roboto Mono"/>
                <a:cs typeface="Roboto Mono"/>
                <a:sym typeface="Roboto Mono"/>
              </a:rPr>
              <a:t># zeek --version</a:t>
            </a:r>
            <a:endParaRPr sz="1842">
              <a:solidFill>
                <a:srgbClr val="2185C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4" name="Google Shape;134;g23d2135a7f0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32fb2138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What is Zeek?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40" name="Google Shape;140;g2732fb21386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002" y="3051700"/>
            <a:ext cx="2023650" cy="17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2732fb21386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1038" y="1017713"/>
            <a:ext cx="187642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2732fb21386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79977" y="2817938"/>
            <a:ext cx="2280575" cy="2020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732fb21386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3275" y="1619949"/>
            <a:ext cx="1534275" cy="109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2732fb21386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3125" y="1690625"/>
            <a:ext cx="1534275" cy="10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732fb21386_0_0"/>
          <p:cNvSpPr txBox="1"/>
          <p:nvPr/>
        </p:nvSpPr>
        <p:spPr>
          <a:xfrm>
            <a:off x="1525075" y="1956350"/>
            <a:ext cx="14697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Sniffs traffic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2732fb21386_0_0"/>
          <p:cNvSpPr txBox="1"/>
          <p:nvPr/>
        </p:nvSpPr>
        <p:spPr>
          <a:xfrm>
            <a:off x="5934800" y="1956350"/>
            <a:ext cx="19854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Generates logs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732fb21386_0_0"/>
          <p:cNvSpPr txBox="1"/>
          <p:nvPr/>
        </p:nvSpPr>
        <p:spPr>
          <a:xfrm>
            <a:off x="6294500" y="3319475"/>
            <a:ext cx="18345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ssl.log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ssh.log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smtp.log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weird.log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notice.log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732fb21386_0_0"/>
          <p:cNvSpPr txBox="1"/>
          <p:nvPr/>
        </p:nvSpPr>
        <p:spPr>
          <a:xfrm>
            <a:off x="3625625" y="665225"/>
            <a:ext cx="12948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Zeek NSM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c2f37c78a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Zeek Packet Pipeline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54" name="Google Shape;154;g2fc2f37c78a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738" y="1626325"/>
            <a:ext cx="62579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fc2f37c78a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8679" y="1891150"/>
            <a:ext cx="88951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4fe9e3eadb_0_88"/>
          <p:cNvSpPr txBox="1"/>
          <p:nvPr>
            <p:ph type="title"/>
          </p:nvPr>
        </p:nvSpPr>
        <p:spPr>
          <a:xfrm>
            <a:off x="311700" y="1957325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4800">
                <a:solidFill>
                  <a:srgbClr val="00B0F0"/>
                </a:solidFill>
              </a:rPr>
              <a:t>What is a Zeek </a:t>
            </a:r>
            <a:r>
              <a:rPr lang="en" sz="4800">
                <a:solidFill>
                  <a:srgbClr val="00B0F0"/>
                </a:solidFill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Cluster</a:t>
            </a:r>
            <a:r>
              <a:rPr lang="en" sz="4800">
                <a:solidFill>
                  <a:srgbClr val="00B0F0"/>
                </a:solidFill>
              </a:rPr>
              <a:t>?</a:t>
            </a:r>
            <a:endParaRPr sz="4800"/>
          </a:p>
        </p:txBody>
      </p:sp>
      <p:sp>
        <p:nvSpPr>
          <p:cNvPr id="161" name="Google Shape;161;g24fe9e3eadb_0_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6097b2d47b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What / Why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67" name="Google Shape;167;g16097b2d47b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A Zeek Cluster</a:t>
            </a:r>
            <a:r>
              <a:rPr lang="en"/>
              <a:t> is a set of system processes, all running Zeek, with a set of scripts that adjust their purpose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 opposed to running a single Zeek process, reading from a pcap, for instance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run on one or more host environments — machines, VMs, containers, etc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scale Zeek to keep up with more traffic, one adds processes (“nodes”) to the cluster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Supporting tools handle tasks like monitoring processes and log rotation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need 24x7 network monitoring, clustering is your answer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6ce11af40f_0_0"/>
          <p:cNvSpPr txBox="1"/>
          <p:nvPr/>
        </p:nvSpPr>
        <p:spPr>
          <a:xfrm>
            <a:off x="2422050" y="4613800"/>
            <a:ext cx="429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: Zeek Project.  Creative Commons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26ce11af40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900" y="152400"/>
            <a:ext cx="6074362" cy="43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097b2d47b_0_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9" name="Google Shape;179;g16097b2d47b_0_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6097b2d47b_0_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85" name="Google Shape;185;g16097b2d47b_0_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Manager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Every cluster has exactly one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Writing logs from workers (when not using separate logger nodes)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smaller volumes or limited hardware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also run scripts when you want to conduct analysis across multiple workers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Natural point in the cluster for centralized state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6097b2d47b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1" name="Google Shape;191;g16097b2d47b_0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network packets to create (most) events &amp; logs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scripts to alert on interesting traffic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6097b2d47b_0_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97" name="Google Shape;197;g16097b2d47b_0_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Worker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State sharing among cluster workers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Start with one, then add more if load is an issue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6097b2d47b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Cluster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3" name="Google Shape;203;g16097b2d47b_0_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Manager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Worker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</a:pPr>
            <a:r>
              <a:rPr lang="en">
                <a:solidFill>
                  <a:schemeClr val="lt2"/>
                </a:solidFill>
              </a:rPr>
              <a:t>Proxy</a:t>
            </a:r>
            <a:endParaRPr>
              <a:solidFill>
                <a:schemeClr val="lt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Write logs via configurable writer plugins for files, Kafka, Elastic, etc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Easy support to load balancing among multiple logger nodes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 rates vary depending on traffic and writer technology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Very roughly, up to 100K events/sec per logger should work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way to scale log I/O in high volume environments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Defaults to TSV-format file logging, but easy to switch to JSON or alternatives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6097b2d47b_0_10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accent5"/>
                </a:solidFill>
              </a:rPr>
              <a:t>Performance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09" name="Google Shape;209;g16097b2d47b_0_104"/>
          <p:cNvSpPr txBox="1"/>
          <p:nvPr>
            <p:ph idx="1" type="body"/>
          </p:nvPr>
        </p:nvSpPr>
        <p:spPr>
          <a:xfrm>
            <a:off x="311700" y="974450"/>
            <a:ext cx="8520600" cy="39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5">
              <a:solidFill>
                <a:srgbClr val="00589D"/>
              </a:solidFill>
            </a:endParaRPr>
          </a:p>
          <a:p>
            <a:pPr indent="-3428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LBL 100G Paper</a:t>
            </a:r>
            <a:endParaRPr>
              <a:solidFill>
                <a:srgbClr val="00589D"/>
              </a:solidFill>
            </a:endParaRPr>
          </a:p>
          <a:p>
            <a:pPr indent="-33408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658"/>
              <a:buChar char="○"/>
            </a:pPr>
            <a:r>
              <a:rPr lang="en" sz="1658">
                <a:solidFill>
                  <a:srgbClr val="00589D"/>
                </a:solidFill>
              </a:rPr>
              <a:t>Good architecture overviews</a:t>
            </a:r>
            <a:endParaRPr sz="1658">
              <a:solidFill>
                <a:srgbClr val="00589D"/>
              </a:solidFill>
            </a:endParaRPr>
          </a:p>
          <a:p>
            <a:pPr indent="-3428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SEPTun-Mark-II</a:t>
            </a:r>
            <a:endParaRPr>
              <a:solidFill>
                <a:srgbClr val="00589D"/>
              </a:solidFill>
            </a:endParaRPr>
          </a:p>
          <a:p>
            <a:pPr indent="-33408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658"/>
              <a:buChar char="○"/>
            </a:pPr>
            <a:r>
              <a:rPr lang="en" sz="1658"/>
              <a:t>Originally written for </a:t>
            </a:r>
            <a:r>
              <a:rPr lang="en" sz="1658">
                <a:solidFill>
                  <a:srgbClr val="00589D"/>
                </a:solidFill>
              </a:rPr>
              <a:t>Suricata, but all concepts on </a:t>
            </a:r>
            <a:r>
              <a:rPr lang="en" sz="1658"/>
              <a:t>packet queues, </a:t>
            </a:r>
            <a:r>
              <a:rPr lang="en" sz="1658">
                <a:solidFill>
                  <a:srgbClr val="00589D"/>
                </a:solidFill>
              </a:rPr>
              <a:t>NUMA, OS tuning, etc apply</a:t>
            </a:r>
            <a:endParaRPr sz="1658">
              <a:solidFill>
                <a:srgbClr val="00589D"/>
              </a:solidFill>
            </a:endParaRPr>
          </a:p>
          <a:p>
            <a:pPr indent="-3428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>
                <a:solidFill>
                  <a:srgbClr val="00589D"/>
                </a:solidFill>
              </a:rPr>
              <a:t>CPU Pinning</a:t>
            </a:r>
            <a:endParaRPr>
              <a:solidFill>
                <a:srgbClr val="00589D"/>
              </a:solidFill>
            </a:endParaRPr>
          </a:p>
          <a:p>
            <a:pPr indent="-334084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658"/>
              <a:buChar char="○"/>
            </a:pPr>
            <a:r>
              <a:rPr lang="en" sz="1658">
                <a:solidFill>
                  <a:srgbClr val="00589D"/>
                </a:solidFill>
              </a:rPr>
              <a:t>Avoid using hyperthreaded cores for workers</a:t>
            </a:r>
            <a:endParaRPr sz="1658">
              <a:solidFill>
                <a:srgbClr val="00589D"/>
              </a:solidFill>
            </a:endParaRPr>
          </a:p>
          <a:p>
            <a:pPr indent="-34289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800"/>
              <a:buChar char="●"/>
            </a:pPr>
            <a:r>
              <a:rPr lang="en"/>
              <a:t>Fine tuning via ethtool - tro/tso/rx/tx/ etc..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Shunting - Dumbno script (for Arista N/W LB)</a:t>
            </a:r>
            <a:endParaRPr sz="1658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type="title"/>
          </p:nvPr>
        </p:nvSpPr>
        <p:spPr>
          <a:xfrm>
            <a:off x="311700" y="1957325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4800">
                <a:solidFill>
                  <a:srgbClr val="00B0F0"/>
                </a:solidFill>
              </a:rPr>
              <a:t>Zeek’s Filesystem Layout</a:t>
            </a:r>
            <a:endParaRPr sz="4800"/>
          </a:p>
        </p:txBody>
      </p:sp>
      <p:sp>
        <p:nvSpPr>
          <p:cNvPr id="215" name="Google Shape;21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5ab3a73bd6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Filesystem Layout</a:t>
            </a:r>
            <a:endParaRPr sz="3000"/>
          </a:p>
        </p:txBody>
      </p:sp>
      <p:sp>
        <p:nvSpPr>
          <p:cNvPr id="221" name="Google Shape;221;g15ab3a73bd6_0_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 sz="2200">
                <a:solidFill>
                  <a:srgbClr val="00589D"/>
                </a:solidFill>
              </a:rPr>
              <a:t>Not an exhaustive tour!</a:t>
            </a:r>
            <a:endParaRPr sz="1200"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 sz="2200">
                <a:solidFill>
                  <a:srgbClr val="00589D"/>
                </a:solidFill>
              </a:rPr>
              <a:t>Default top lev</a:t>
            </a:r>
            <a:r>
              <a:rPr lang="en" sz="2200"/>
              <a:t>el p</a:t>
            </a:r>
            <a:r>
              <a:rPr lang="en" sz="2200">
                <a:solidFill>
                  <a:srgbClr val="00589D"/>
                </a:solidFill>
              </a:rPr>
              <a:t>ath: </a:t>
            </a:r>
            <a:r>
              <a:rPr lang="en" sz="2200">
                <a:solidFill>
                  <a:srgbClr val="00AAE3"/>
                </a:solidFill>
              </a:rPr>
              <a:t>/opt/zeek/ or /usr/local/zeek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bin/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etc/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include/</a:t>
            </a:r>
            <a:r>
              <a:rPr lang="en" sz="2200">
                <a:solidFill>
                  <a:srgbClr val="0070C0"/>
                </a:solidFill>
              </a:rPr>
              <a:t> </a:t>
            </a:r>
            <a:r>
              <a:rPr lang="en" sz="2200">
                <a:solidFill>
                  <a:srgbClr val="00589D"/>
                </a:solidFill>
              </a:rPr>
              <a:t>- ignoring today</a:t>
            </a:r>
            <a:endParaRPr sz="12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lib/  lib64/ var/ </a:t>
            </a:r>
            <a:r>
              <a:rPr lang="en" sz="2200">
                <a:solidFill>
                  <a:srgbClr val="00589D"/>
                </a:solidFill>
              </a:rPr>
              <a:t>- ignoring today</a:t>
            </a:r>
            <a:endParaRPr sz="1200"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logs/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share/</a:t>
            </a:r>
            <a:endParaRPr sz="1200">
              <a:solidFill>
                <a:srgbClr val="00AAE3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200"/>
              <a:buChar char="○"/>
            </a:pPr>
            <a:r>
              <a:rPr lang="en" sz="2200">
                <a:solidFill>
                  <a:srgbClr val="00AAE3"/>
                </a:solidFill>
              </a:rPr>
              <a:t>spool/</a:t>
            </a:r>
            <a:endParaRPr sz="1200">
              <a:solidFill>
                <a:srgbClr val="00AAE3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solidFill>
                <a:srgbClr val="00589D"/>
              </a:solidFill>
            </a:endParaRPr>
          </a:p>
        </p:txBody>
      </p:sp>
      <p:sp>
        <p:nvSpPr>
          <p:cNvPr id="222" name="Google Shape;222;g15ab3a73bd6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5ab3a73bd6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228" name="Google Shape;228;g15ab3a73bd6_0_6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●"/>
            </a:pPr>
            <a:r>
              <a:rPr lang="en" sz="1900">
                <a:solidFill>
                  <a:srgbClr val="00AAE3"/>
                </a:solidFill>
              </a:rPr>
              <a:t>bin/</a:t>
            </a:r>
            <a:endParaRPr sz="1300">
              <a:solidFill>
                <a:srgbClr val="00AAE3"/>
              </a:solidFill>
            </a:endParaRPr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zeek-cut</a:t>
            </a:r>
            <a:endParaRPr sz="13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Extract columns from </a:t>
            </a:r>
            <a:r>
              <a:rPr lang="en" sz="1700"/>
              <a:t>Z</a:t>
            </a:r>
            <a:r>
              <a:rPr lang="en" sz="1700">
                <a:solidFill>
                  <a:srgbClr val="00589D"/>
                </a:solidFill>
              </a:rPr>
              <a:t>eek</a:t>
            </a:r>
            <a:r>
              <a:rPr lang="en" sz="1700"/>
              <a:t>’s TSV</a:t>
            </a:r>
            <a:r>
              <a:rPr lang="en" sz="1700">
                <a:solidFill>
                  <a:srgbClr val="00589D"/>
                </a:solidFill>
              </a:rPr>
              <a:t> logs (non-JSON)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Convert Unix epoch</a:t>
            </a:r>
            <a:endParaRPr sz="1700">
              <a:solidFill>
                <a:srgbClr val="00589D"/>
              </a:solidFill>
            </a:endParaRPr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</a:t>
            </a:r>
            <a:endParaRPr sz="13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/>
              <a:t>Zeek executable with various options to run</a:t>
            </a:r>
            <a:endParaRPr sz="1700"/>
          </a:p>
          <a:p>
            <a:pPr indent="-374650" lvl="1" marL="914400" marR="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zkg</a:t>
            </a:r>
            <a:endParaRPr sz="1900"/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/>
              <a:t>Zeek package manager executable</a:t>
            </a:r>
            <a:endParaRPr sz="1700"/>
          </a:p>
          <a:p>
            <a:pPr indent="-374650" lvl="1" marL="9144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300"/>
              <a:buChar char="○"/>
            </a:pPr>
            <a:r>
              <a:rPr lang="en" sz="1900">
                <a:solidFill>
                  <a:srgbClr val="00AAE3"/>
                </a:solidFill>
              </a:rPr>
              <a:t>zeekctl</a:t>
            </a:r>
            <a:endParaRPr sz="19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73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Cluster management tool</a:t>
            </a:r>
            <a:endParaRPr sz="1700"/>
          </a:p>
        </p:txBody>
      </p:sp>
      <p:sp>
        <p:nvSpPr>
          <p:cNvPr id="229" name="Google Shape;229;g15ab3a73bd6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ab3a73bd6_0_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235" name="Google Shape;235;g15ab3a73bd6_0_12"/>
          <p:cNvSpPr txBox="1"/>
          <p:nvPr>
            <p:ph idx="1" type="body"/>
          </p:nvPr>
        </p:nvSpPr>
        <p:spPr>
          <a:xfrm>
            <a:off x="311700" y="1246825"/>
            <a:ext cx="8520600" cy="37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Char char="●"/>
            </a:pPr>
            <a:r>
              <a:rPr lang="en" sz="2100">
                <a:solidFill>
                  <a:schemeClr val="accent5"/>
                </a:solidFill>
              </a:rPr>
              <a:t>etc/</a:t>
            </a:r>
            <a:endParaRPr sz="1100">
              <a:solidFill>
                <a:schemeClr val="accent5"/>
              </a:solidFill>
            </a:endParaRPr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network.cfg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Define your local networks</a:t>
            </a:r>
            <a:endParaRPr sz="1700">
              <a:solidFill>
                <a:srgbClr val="00589D"/>
              </a:solidFill>
            </a:endParaRPr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node.cfg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Configure a cluster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Extra features (lb_procs, pin_cpu, lb_method)</a:t>
            </a:r>
            <a:endParaRPr sz="1700"/>
          </a:p>
          <a:p>
            <a:pPr indent="-3619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100"/>
              <a:buChar char="○"/>
            </a:pPr>
            <a:r>
              <a:rPr lang="en" sz="2100">
                <a:solidFill>
                  <a:srgbClr val="00AAE3"/>
                </a:solidFill>
              </a:rPr>
              <a:t>zeekctl.cfg</a:t>
            </a:r>
            <a:endParaRPr sz="21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Configure cluster management tool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Set shorter rotation time</a:t>
            </a:r>
            <a:endParaRPr sz="1700"/>
          </a:p>
        </p:txBody>
      </p:sp>
      <p:sp>
        <p:nvSpPr>
          <p:cNvPr id="236" name="Google Shape;236;g15ab3a73bd6_0_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5ab3a73bd6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242" name="Google Shape;242;g15ab3a73bd6_0_18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●"/>
            </a:pPr>
            <a:r>
              <a:rPr lang="en" sz="2000">
                <a:solidFill>
                  <a:srgbClr val="00AAE3"/>
                </a:solidFill>
              </a:rPr>
              <a:t>logs/</a:t>
            </a:r>
            <a:endParaRPr sz="1000">
              <a:solidFill>
                <a:srgbClr val="00AAE3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current</a:t>
            </a:r>
            <a:endParaRPr sz="1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Default Log Path (cluster-mode)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current directory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Default Log Path (CLI mode, logs overwritten 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rgbClr val="00589D"/>
                </a:solidFill>
              </a:rPr>
              <a:t>    			each run)</a:t>
            </a:r>
            <a:endParaRPr sz="17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YYYY-MM-DD</a:t>
            </a:r>
            <a:endParaRPr sz="1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Logs archived to this dir,rotated hourly by default</a:t>
            </a:r>
            <a:endParaRPr sz="1700">
              <a:solidFill>
                <a:srgbClr val="00589D"/>
              </a:solidFill>
            </a:endParaRPr>
          </a:p>
        </p:txBody>
      </p:sp>
      <p:sp>
        <p:nvSpPr>
          <p:cNvPr id="243" name="Google Shape;243;g15ab3a73bd6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5ab3a73bd6_0_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249" name="Google Shape;249;g15ab3a73bd6_0_24"/>
          <p:cNvSpPr txBox="1"/>
          <p:nvPr>
            <p:ph idx="1" type="body"/>
          </p:nvPr>
        </p:nvSpPr>
        <p:spPr>
          <a:xfrm>
            <a:off x="311700" y="1246825"/>
            <a:ext cx="8520600" cy="3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●"/>
            </a:pPr>
            <a:r>
              <a:rPr lang="en" sz="2000">
                <a:solidFill>
                  <a:srgbClr val="00AAE3"/>
                </a:solidFill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spool</a:t>
            </a:r>
            <a:r>
              <a:rPr lang="en" sz="2000">
                <a:solidFill>
                  <a:srgbClr val="00AAE3"/>
                </a:solidFill>
              </a:rPr>
              <a:t>/</a:t>
            </a:r>
            <a:endParaRPr sz="2000">
              <a:solidFill>
                <a:srgbClr val="00AAE3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state.db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/>
              <a:t>C</a:t>
            </a:r>
            <a:r>
              <a:rPr lang="en" sz="1700">
                <a:solidFill>
                  <a:srgbClr val="00589D"/>
                </a:solidFill>
              </a:rPr>
              <a:t>luster worker state (zeekctl)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zeekctl-config.sh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Cluster management variables (zeekctl)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worker-&lt;n&gt;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.pid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.cmdline</a:t>
            </a:r>
            <a:endParaRPr sz="1700">
              <a:solidFill>
                <a:srgbClr val="00589D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.env_vars</a:t>
            </a:r>
            <a:endParaRPr sz="17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400"/>
              <a:buChar char="○"/>
            </a:pPr>
            <a:r>
              <a:rPr lang="en" sz="2000">
                <a:solidFill>
                  <a:srgbClr val="00AAE3"/>
                </a:solidFill>
              </a:rPr>
              <a:t>logger</a:t>
            </a:r>
            <a:endParaRPr sz="2000">
              <a:solidFill>
                <a:srgbClr val="00AAE3"/>
              </a:solidFill>
            </a:endParaRPr>
          </a:p>
          <a:p>
            <a:pPr indent="-3619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100"/>
              <a:buChar char="■"/>
            </a:pPr>
            <a:r>
              <a:rPr lang="en" sz="1700">
                <a:solidFill>
                  <a:srgbClr val="00589D"/>
                </a:solidFill>
              </a:rPr>
              <a:t>logs (</a:t>
            </a:r>
            <a:r>
              <a:rPr lang="en" sz="1700"/>
              <a:t>“</a:t>
            </a:r>
            <a:r>
              <a:rPr lang="en" sz="1700">
                <a:solidFill>
                  <a:srgbClr val="00589D"/>
                </a:solidFill>
              </a:rPr>
              <a:t>current</a:t>
            </a:r>
            <a:r>
              <a:rPr lang="en" sz="1700"/>
              <a:t>”</a:t>
            </a:r>
            <a:r>
              <a:rPr lang="en" sz="1700">
                <a:solidFill>
                  <a:srgbClr val="00589D"/>
                </a:solidFill>
              </a:rPr>
              <a:t> is a symlink)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extract_files/&lt;node&gt;/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Extracted (“carved”) files, when configured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250" name="Google Shape;250;g15ab3a73bd6_0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5ab3a73bd6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Filesystem Layout</a:t>
            </a:r>
            <a:endParaRPr sz="3000"/>
          </a:p>
        </p:txBody>
      </p:sp>
      <p:sp>
        <p:nvSpPr>
          <p:cNvPr id="256" name="Google Shape;256;g15ab3a73bd6_0_3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●"/>
            </a:pPr>
            <a:r>
              <a:rPr lang="en" sz="2000">
                <a:solidFill>
                  <a:srgbClr val="00AAE3"/>
                </a:solidFill>
              </a:rPr>
              <a:t>share/</a:t>
            </a:r>
            <a:endParaRPr sz="2000">
              <a:solidFill>
                <a:srgbClr val="00AAE3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zeek/base/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Base scripts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zeek/policy/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Additional scripts</a:t>
            </a:r>
            <a:endParaRPr sz="1700">
              <a:solidFill>
                <a:srgbClr val="00589D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AE3"/>
              </a:buClr>
              <a:buSzPts val="2000"/>
              <a:buChar char="○"/>
            </a:pPr>
            <a:r>
              <a:rPr lang="en" sz="2000">
                <a:solidFill>
                  <a:srgbClr val="00AAE3"/>
                </a:solidFill>
              </a:rPr>
              <a:t>zeek/site/</a:t>
            </a:r>
            <a:endParaRPr sz="2000">
              <a:solidFill>
                <a:srgbClr val="00AAE3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1700"/>
              <a:buChar char="■"/>
            </a:pPr>
            <a:r>
              <a:rPr lang="en" sz="1700">
                <a:solidFill>
                  <a:srgbClr val="00589D"/>
                </a:solidFill>
              </a:rPr>
              <a:t>Site</a:t>
            </a:r>
            <a:r>
              <a:rPr lang="en" sz="1700"/>
              <a:t>-</a:t>
            </a:r>
            <a:r>
              <a:rPr lang="en" sz="1700">
                <a:solidFill>
                  <a:srgbClr val="00589D"/>
                </a:solidFill>
              </a:rPr>
              <a:t>specific scripts</a:t>
            </a:r>
            <a:endParaRPr sz="1700">
              <a:solidFill>
                <a:srgbClr val="00589D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Packages installed via zkg, our package manager</a:t>
            </a:r>
            <a:endParaRPr sz="1700">
              <a:solidFill>
                <a:schemeClr val="accent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○"/>
            </a:pPr>
            <a:r>
              <a:rPr lang="en" sz="2000">
                <a:solidFill>
                  <a:schemeClr val="accent5"/>
                </a:solidFill>
              </a:rPr>
              <a:t>hilti/ </a:t>
            </a:r>
            <a:r>
              <a:rPr lang="en" sz="2000">
                <a:solidFill>
                  <a:schemeClr val="accent1"/>
                </a:solidFill>
              </a:rPr>
              <a:t>and</a:t>
            </a:r>
            <a:r>
              <a:rPr lang="en" sz="2000">
                <a:solidFill>
                  <a:schemeClr val="accent5"/>
                </a:solidFill>
              </a:rPr>
              <a:t> spicy/</a:t>
            </a:r>
            <a:endParaRPr sz="2000">
              <a:solidFill>
                <a:schemeClr val="accent5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Analyzers written in Spicy, our parser generator</a:t>
            </a:r>
            <a:endParaRPr sz="1700">
              <a:solidFill>
                <a:schemeClr val="accent1"/>
              </a:solidFill>
            </a:endParaRPr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○"/>
            </a:pPr>
            <a:r>
              <a:rPr lang="en" sz="2000">
                <a:solidFill>
                  <a:schemeClr val="accent5"/>
                </a:solidFill>
              </a:rPr>
              <a:t>zeekctl/</a:t>
            </a:r>
            <a:endParaRPr sz="2000">
              <a:solidFill>
                <a:schemeClr val="accent5"/>
              </a:solidFill>
            </a:endParaRPr>
          </a:p>
          <a:p>
            <a:pPr indent="-3365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</a:pPr>
            <a:r>
              <a:rPr lang="en" sz="1700">
                <a:solidFill>
                  <a:schemeClr val="accent1"/>
                </a:solidFill>
              </a:rPr>
              <a:t>Helper scripts for cluster management (e.g. log post-processing)</a:t>
            </a:r>
            <a:endParaRPr sz="1700">
              <a:solidFill>
                <a:schemeClr val="accent1"/>
              </a:solidFill>
            </a:endParaRPr>
          </a:p>
        </p:txBody>
      </p:sp>
      <p:sp>
        <p:nvSpPr>
          <p:cNvPr id="257" name="Google Shape;257;g15ab3a73bd6_0_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3bbd2e318f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 sz="3000"/>
              <a:t>Exercise #1: fire up a cluster (10 mins)</a:t>
            </a:r>
            <a:endParaRPr sz="3000"/>
          </a:p>
        </p:txBody>
      </p:sp>
      <p:sp>
        <p:nvSpPr>
          <p:cNvPr id="263" name="Google Shape;263;g13bbd2e318f_0_5"/>
          <p:cNvSpPr txBox="1"/>
          <p:nvPr>
            <p:ph idx="1" type="body"/>
          </p:nvPr>
        </p:nvSpPr>
        <p:spPr>
          <a:xfrm>
            <a:off x="336575" y="1048100"/>
            <a:ext cx="8470200" cy="39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Edit node.cfg - comment out the standalone section, and uncomment the logger, proxy, manager and worker-1 sections.</a:t>
            </a:r>
            <a:endParaRPr sz="1600"/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/zeek/etc/node.cfg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[worker-1]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type=worker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host=localhost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interface=</a:t>
            </a: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af_packet::eth0</a:t>
            </a:r>
            <a:endParaRPr sz="1544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lb_method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=custom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lb_procs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=2</a:t>
            </a:r>
            <a:endParaRPr sz="1544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44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pin_cpus</a:t>
            </a:r>
            <a:r>
              <a:rPr lang="en" sz="1544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=0,1</a:t>
            </a:r>
            <a:endParaRPr b="1" sz="1700">
              <a:solidFill>
                <a:srgbClr val="00AAE3"/>
              </a:solidFill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shorter rotation time</a:t>
            </a:r>
            <a:endParaRPr sz="16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/zeek/etc/zeekctl.cfg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LogRotationInterval = 300 //(5mins)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Set your local network </a:t>
            </a:r>
            <a:endParaRPr sz="1600"/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/zeek/etc/network.cfg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5bd595cbc6_1_0"/>
          <p:cNvSpPr txBox="1"/>
          <p:nvPr>
            <p:ph idx="1" type="body"/>
          </p:nvPr>
        </p:nvSpPr>
        <p:spPr>
          <a:xfrm>
            <a:off x="325900" y="424225"/>
            <a:ext cx="7740000" cy="45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12500"/>
              <a:buChar char="●"/>
            </a:pPr>
            <a:r>
              <a:rPr lang="en"/>
              <a:t>turn off the checksum with Zeek redef</a:t>
            </a:r>
            <a:endParaRPr sz="1600">
              <a:solidFill>
                <a:srgbClr val="FF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vi /zeek/share/zeek/site/local.zeek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	   redef ignore_checksums = T;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Then</a:t>
            </a:r>
            <a:r>
              <a:rPr lang="en"/>
              <a:t> run: 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deploy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Make sure cluster is running: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status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some traffic for the cluster to sniff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wget -qO /dev/null https://google.com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ls /zeek/logs/current/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Send few pcaps to the sniffing interface: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tcpreplay -i eth0 --mbps=500 /training-res/traces/*.pcap</a:t>
            </a:r>
            <a:endParaRPr>
              <a:solidFill>
                <a:schemeClr val="lt2"/>
              </a:solidFill>
              <a:highlight>
                <a:srgbClr val="11111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ls /zeek/logs/current/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5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>
                <a:solidFill>
                  <a:srgbClr val="2A51A3"/>
                </a:solidFill>
              </a:rPr>
              <a:t>Stop the cluster</a:t>
            </a:r>
            <a:endParaRPr>
              <a:solidFill>
                <a:srgbClr val="2A51A3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32352"/>
              <a:buNone/>
            </a:pP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$ zeekctl stop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639fc7746d_0_5"/>
          <p:cNvSpPr txBox="1"/>
          <p:nvPr>
            <p:ph type="title"/>
          </p:nvPr>
        </p:nvSpPr>
        <p:spPr>
          <a:xfrm>
            <a:off x="1015125" y="2285400"/>
            <a:ext cx="658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7776"/>
              <a:buFont typeface="Arial"/>
              <a:buNone/>
            </a:pPr>
            <a:r>
              <a:rPr lang="en" sz="3600">
                <a:solidFill>
                  <a:srgbClr val="25C804"/>
                </a:solidFill>
              </a:rPr>
              <a:t>MORNING</a:t>
            </a:r>
            <a:r>
              <a:rPr lang="en">
                <a:solidFill>
                  <a:srgbClr val="25C804"/>
                </a:solidFill>
              </a:rPr>
              <a:t> </a:t>
            </a:r>
            <a:r>
              <a:rPr lang="en" sz="3600">
                <a:solidFill>
                  <a:srgbClr val="25C804"/>
                </a:solidFill>
              </a:rPr>
              <a:t>BREAK [15 mins]</a:t>
            </a:r>
            <a:endParaRPr sz="3600">
              <a:solidFill>
                <a:srgbClr val="25C804"/>
              </a:solidFill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7777"/>
              <a:buFont typeface="Arial"/>
              <a:buNone/>
            </a:pPr>
            <a:r>
              <a:rPr lang="en" sz="3600">
                <a:solidFill>
                  <a:srgbClr val="25C804"/>
                </a:solidFill>
              </a:rPr>
              <a:t>[10:30-10:45 am]</a:t>
            </a:r>
            <a:endParaRPr sz="3600">
              <a:solidFill>
                <a:srgbClr val="25C804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925a13aa0_1_3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Invoking</a:t>
            </a:r>
            <a:r>
              <a:rPr lang="en" sz="3000">
                <a:solidFill>
                  <a:srgbClr val="00B0F0"/>
                </a:solidFill>
              </a:rPr>
              <a:t> Zeek via the command line</a:t>
            </a:r>
            <a:endParaRPr sz="3000"/>
          </a:p>
        </p:txBody>
      </p:sp>
      <p:sp>
        <p:nvSpPr>
          <p:cNvPr id="279" name="Google Shape;279;g12925a13aa0_1_302"/>
          <p:cNvSpPr txBox="1"/>
          <p:nvPr>
            <p:ph idx="1" type="body"/>
          </p:nvPr>
        </p:nvSpPr>
        <p:spPr>
          <a:xfrm>
            <a:off x="311700" y="1246825"/>
            <a:ext cx="8520600" cy="36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/>
              <a:t>For offline analysis use zeek -r on a packet capture</a:t>
            </a:r>
            <a:r>
              <a:rPr lang="en" sz="2000">
                <a:solidFill>
                  <a:srgbClr val="00589D"/>
                </a:solidFill>
              </a:rPr>
              <a:t>:</a:t>
            </a:r>
            <a:endParaRPr sz="2000"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</a:t>
            </a: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mkdir /scratch &amp;&amp; cd /scratch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</a:t>
            </a: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zeek -r /training-res/traces/extract.pcap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ls -l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Zeek doesn’t remove logs at startup, so run this to clean up:</a:t>
            </a:r>
            <a:endParaRPr sz="20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000"/>
              <a:buFont typeface="Arial"/>
              <a:buNone/>
            </a:pPr>
            <a:r>
              <a:t/>
            </a:r>
            <a:endParaRPr sz="2000">
              <a:solidFill>
                <a:schemeClr val="accent1"/>
              </a:solidFill>
            </a:endParaRPr>
          </a:p>
          <a:p>
            <a:pPr indent="0" lvl="0" marL="0" marR="1143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rm -f *.log</a:t>
            </a:r>
            <a:endParaRPr sz="9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/>
              <a:t>Zeek command to analyze live traffic: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zeek -C -i eth0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listening on eth0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/>
              <a:t>Generate some test traffic in another terminal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$ docker exec -it zeek-tutorial /bin/bash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0000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ping example.com -c 1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exit</a:t>
            </a:r>
            <a:endParaRPr sz="21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0" name="Google Shape;280;g12925a13aa0_1_3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12925a13aa0_1_308"/>
          <p:cNvSpPr txBox="1"/>
          <p:nvPr>
            <p:ph type="title"/>
          </p:nvPr>
        </p:nvSpPr>
        <p:spPr>
          <a:xfrm>
            <a:off x="264550" y="1149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Providing script values</a:t>
            </a:r>
            <a:endParaRPr sz="3000"/>
          </a:p>
        </p:txBody>
      </p:sp>
      <p:sp>
        <p:nvSpPr>
          <p:cNvPr id="286" name="Google Shape;286;g12925a13aa0_1_308"/>
          <p:cNvSpPr txBox="1"/>
          <p:nvPr>
            <p:ph idx="1" type="body"/>
          </p:nvPr>
        </p:nvSpPr>
        <p:spPr>
          <a:xfrm>
            <a:off x="320650" y="1011075"/>
            <a:ext cx="86289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Modify tunable variables directly from the command line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zeek -r </a:t>
            </a: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/training-res/traces/extract.pcap </a:t>
            </a: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LogAscii::use_json=T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Change the HTTP analyzer to capture passwords. What difference do you notice in the log, with and without that addition?</a:t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zeek -r /training-res/traces/http-basic-auth.pcap \</a:t>
            </a:r>
            <a:b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   HTTP::default_capture_password=T 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http.log</a:t>
            </a:r>
            <a:endParaRPr sz="1683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7" name="Google Shape;287;g12925a13aa0_1_3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2925a13aa0_1_3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3000"/>
              <a:t>Providing script values</a:t>
            </a:r>
            <a:endParaRPr sz="3000"/>
          </a:p>
        </p:txBody>
      </p:sp>
      <p:sp>
        <p:nvSpPr>
          <p:cNvPr id="293" name="Google Shape;293;g12925a13aa0_1_314"/>
          <p:cNvSpPr txBox="1"/>
          <p:nvPr>
            <p:ph idx="1" type="body"/>
          </p:nvPr>
        </p:nvSpPr>
        <p:spPr>
          <a:xfrm>
            <a:off x="507025" y="1246825"/>
            <a:ext cx="8325300" cy="35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U</a:t>
            </a:r>
            <a:r>
              <a:rPr lang="en" sz="2000">
                <a:solidFill>
                  <a:schemeClr val="accent1"/>
                </a:solidFill>
              </a:rPr>
              <a:t>se zeek -e and provide arbitrary quoted Zeek script segments: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zeek -e "print \"hello\"; print\"there\";"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hello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there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Read script code from standard input:</a:t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echo "print \"Hello, world\!\";" | zeek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Hello, world!</a:t>
            </a:r>
            <a:endParaRPr sz="1700"/>
          </a:p>
        </p:txBody>
      </p:sp>
      <p:sp>
        <p:nvSpPr>
          <p:cNvPr id="294" name="Google Shape;294;g12925a13aa0_1_3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75563d872_0_50"/>
          <p:cNvSpPr txBox="1"/>
          <p:nvPr>
            <p:ph type="title"/>
          </p:nvPr>
        </p:nvSpPr>
        <p:spPr>
          <a:xfrm>
            <a:off x="311700" y="256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Analyzing Zeek logs</a:t>
            </a:r>
            <a:endParaRPr/>
          </a:p>
        </p:txBody>
      </p:sp>
      <p:sp>
        <p:nvSpPr>
          <p:cNvPr id="300" name="Google Shape;300;g2875563d872_0_50"/>
          <p:cNvSpPr txBox="1"/>
          <p:nvPr>
            <p:ph idx="1" type="body"/>
          </p:nvPr>
        </p:nvSpPr>
        <p:spPr>
          <a:xfrm>
            <a:off x="311700" y="897700"/>
            <a:ext cx="8832300" cy="39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</a:rPr>
              <a:t>Zeek’s default log format is tab-separated values, or TSV</a:t>
            </a:r>
            <a:endParaRPr sz="12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t/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zeek</a:t>
            </a:r>
            <a:r>
              <a:rPr lang="en" sz="175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-r </a:t>
            </a:r>
            <a:r>
              <a:rPr lang="en" sz="175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/training-res/traces/extract.pcap</a:t>
            </a:r>
            <a:endParaRPr sz="175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Using zeek-cut for more condensed log format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conn.log | zeek-cut -m</a:t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Filtering on interesting fields</a:t>
            </a: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conn.log | zeek-cut -m uid id.orig_h id.orig_p id.resp_h id.resp_p</a:t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Looking at the http.log file, notice the uid field 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http.log | zeek-cut -m uid host</a:t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0000"/>
              <a:buFont typeface="Arial"/>
              <a:buNone/>
            </a:pPr>
            <a:r>
              <a:rPr lang="en" sz="2000">
                <a:solidFill>
                  <a:schemeClr val="accent1"/>
                </a:solidFill>
              </a:rPr>
              <a:t>convert the epoch timestamps to a human-readable format:</a:t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5882"/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Font typeface="Arial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conn.log | zeek-cut -m ts</a:t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9029"/>
              <a:buNone/>
            </a:pPr>
            <a:r>
              <a:rPr lang="en" sz="18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# cat conn.log | zeek-cut -m -d ts</a:t>
            </a:r>
            <a:endParaRPr sz="1918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1b877334921b5ae_0_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Zeek JSON logs</a:t>
            </a:r>
            <a:endParaRPr/>
          </a:p>
        </p:txBody>
      </p:sp>
      <p:sp>
        <p:nvSpPr>
          <p:cNvPr id="306" name="Google Shape;306;h1b877334921b5ae_0_44"/>
          <p:cNvSpPr txBox="1"/>
          <p:nvPr>
            <p:ph idx="1" type="body"/>
          </p:nvPr>
        </p:nvSpPr>
        <p:spPr>
          <a:xfrm>
            <a:off x="311700" y="1152475"/>
            <a:ext cx="8520600" cy="3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Zeek also allows emitting logs in JSON form, rather than as TSV files.</a:t>
            </a:r>
            <a:endParaRPr sz="12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CFCFC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zeek -r </a:t>
            </a: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/training-res/traces/extract.pcap</a:t>
            </a:r>
            <a:r>
              <a:rPr lang="en" sz="16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tuning/json-logs</a:t>
            </a:r>
            <a:endParaRPr sz="16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cat conn.log | jq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jq -c '[."id.orig_h", ."id.resp_h"]' conn.log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accent1"/>
                </a:solidFill>
              </a:rPr>
              <a:t>You can do the same in a cluster by modifying your site’s local.zeek:</a:t>
            </a:r>
            <a:endParaRPr sz="1200">
              <a:solidFill>
                <a:srgbClr val="666666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vim $PREFIX/share/zeek/site/local.zeek</a:t>
            </a:r>
            <a:endParaRPr sz="900">
              <a:solidFill>
                <a:srgbClr val="666666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14300" marR="114300" rtl="0"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666666"/>
              </a:solidFill>
              <a:highlight>
                <a:srgbClr val="EEFFC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accent1"/>
                </a:solidFill>
              </a:rPr>
              <a:t>Then add a line (anywhere!) that loads the policy/tuning/json-logs script:</a:t>
            </a:r>
            <a:endParaRPr sz="1200">
              <a:solidFill>
                <a:srgbClr val="666666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@load policy/tuning/json-logs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66666"/>
              </a:solidFill>
              <a:highlight>
                <a:srgbClr val="FCFCFC"/>
              </a:highlight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h1b877334921b5ae_0_53"/>
          <p:cNvSpPr txBox="1"/>
          <p:nvPr>
            <p:ph type="title"/>
          </p:nvPr>
        </p:nvSpPr>
        <p:spPr>
          <a:xfrm>
            <a:off x="311700" y="218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Zeek logs IR example</a:t>
            </a:r>
            <a:endParaRPr/>
          </a:p>
        </p:txBody>
      </p:sp>
      <p:sp>
        <p:nvSpPr>
          <p:cNvPr id="312" name="Google Shape;312;h1b877334921b5ae_0_53"/>
          <p:cNvSpPr txBox="1"/>
          <p:nvPr>
            <p:ph idx="1" type="body"/>
          </p:nvPr>
        </p:nvSpPr>
        <p:spPr>
          <a:xfrm>
            <a:off x="311700" y="926150"/>
            <a:ext cx="8520600" cy="3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Looking at some malicious traffic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zeek -Cr /training-res</a:t>
            </a: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/t</a:t>
            </a: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races/2022-02-23-traffic-analysis-exercise.pcap</a:t>
            </a:r>
            <a:r>
              <a:rPr lang="en" sz="1000">
                <a:solidFill>
                  <a:srgbClr val="1F232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local</a:t>
            </a:r>
            <a:endParaRPr sz="15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Find suspicious connections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cat conn.log | zeek-cut id.orig_h id.resp_h id.resp_p service conn_state | grep S0 | sort | uniq -c | sort -rn | head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Find outbound connections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cat conn.log | zeek-cut id.orig_h id.resp_h id.resp_p service local_resp | grep F$ | sort | uniq -c | sort -rn | head -30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Once you find a suspicious IP, look at EVERYTHING about it</a:t>
            </a:r>
            <a:endParaRPr sz="1000">
              <a:solidFill>
                <a:srgbClr val="1F232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SUSPECT="&lt;suspicious-ip&gt;"</a:t>
            </a:r>
            <a:endParaRPr sz="1500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524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grep "$SUSPECT" *.log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a81f9c2e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Zeek’s p</a:t>
            </a:r>
            <a:r>
              <a:rPr lang="en" sz="3000">
                <a:solidFill>
                  <a:srgbClr val="00B0F0"/>
                </a:solidFill>
              </a:rPr>
              <a:t>ackage manager, zkg</a:t>
            </a:r>
            <a:endParaRPr sz="3000"/>
          </a:p>
        </p:txBody>
      </p:sp>
      <p:sp>
        <p:nvSpPr>
          <p:cNvPr id="318" name="Google Shape;318;g3fa81f9c2ef_0_0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●"/>
            </a:pPr>
            <a:r>
              <a:rPr lang="en"/>
              <a:t>Zeek comes with its own package ecosystem and p</a:t>
            </a:r>
            <a:r>
              <a:rPr lang="en">
                <a:solidFill>
                  <a:srgbClr val="00589D"/>
                </a:solidFill>
              </a:rPr>
              <a:t>ackage </a:t>
            </a:r>
            <a:r>
              <a:rPr lang="en"/>
              <a:t>m</a:t>
            </a:r>
            <a:r>
              <a:rPr lang="en">
                <a:solidFill>
                  <a:srgbClr val="00589D"/>
                </a:solidFill>
              </a:rPr>
              <a:t>anager, zkg.</a:t>
            </a:r>
            <a:endParaRPr>
              <a:solidFill>
                <a:srgbClr val="00589D"/>
              </a:solidFill>
            </a:endParaRPr>
          </a:p>
          <a:p>
            <a:pPr indent="-3683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200"/>
              <a:buChar char="○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Documentation</a:t>
            </a:r>
            <a:endParaRPr sz="1800">
              <a:solidFill>
                <a:srgbClr val="00589D"/>
              </a:solidFill>
            </a:endParaRPr>
          </a:p>
          <a:p>
            <a:pPr indent="-38100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400"/>
              <a:buChar char="○"/>
            </a:pPr>
            <a:r>
              <a:rPr lang="en" sz="1800" u="sng">
                <a:solidFill>
                  <a:srgbClr val="00589D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https://packages.zeek.org</a:t>
            </a:r>
            <a:endParaRPr sz="1800">
              <a:solidFill>
                <a:srgbClr val="00589D"/>
              </a:solidFill>
            </a:endParaRPr>
          </a:p>
          <a:p>
            <a:pPr indent="-203200" lvl="0" marL="3429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Packages can add functionality to Zeek at all levels</a:t>
            </a:r>
            <a:endParaRPr/>
          </a:p>
          <a:p>
            <a:pPr indent="-3873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1700"/>
              <a:t>Scripts add enrichments &amp; detections. They modify or add logs.</a:t>
            </a:r>
            <a:endParaRPr sz="1700"/>
          </a:p>
          <a:p>
            <a:pPr indent="-387350" lvl="1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" sz="1700"/>
              <a:t>Plugins contain native code and build at install-time. They add packet sources, protocol parsers, log writers, and more.</a:t>
            </a:r>
            <a:endParaRPr sz="1700"/>
          </a:p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Almost everything in Zeek is pluggable or extensible.</a:t>
            </a:r>
            <a:endParaRPr sz="2100">
              <a:solidFill>
                <a:srgbClr val="00589D"/>
              </a:solidFill>
            </a:endParaRPr>
          </a:p>
        </p:txBody>
      </p:sp>
      <p:sp>
        <p:nvSpPr>
          <p:cNvPr id="319" name="Google Shape;319;g3fa81f9c2ef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875563d872_0_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Example: the </a:t>
            </a:r>
            <a:r>
              <a:rPr b="1" lang="en"/>
              <a:t>logschema</a:t>
            </a:r>
            <a:r>
              <a:rPr lang="en"/>
              <a:t> package</a:t>
            </a:r>
            <a:endParaRPr/>
          </a:p>
        </p:txBody>
      </p:sp>
      <p:sp>
        <p:nvSpPr>
          <p:cNvPr id="325" name="Google Shape;325;g2875563d872_0_55"/>
          <p:cNvSpPr txBox="1"/>
          <p:nvPr>
            <p:ph idx="1" type="body"/>
          </p:nvPr>
        </p:nvSpPr>
        <p:spPr>
          <a:xfrm>
            <a:off x="311700" y="1152475"/>
            <a:ext cx="7479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Produces log schemas that detail your installation’s set of logs and their fields.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For each field, the schemas provide rich metadata including name, type, and docstrings.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They can also explain the source of a field, such as the specific script or the name of the Zeek package that added it.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</a:pPr>
            <a:r>
              <a:rPr lang="en">
                <a:solidFill>
                  <a:schemeClr val="accent1"/>
                </a:solidFill>
              </a:rPr>
              <a:t>Log schemas are also a great way to understand how and whether your logs change when you upgrade to a newer version of Zeek.</a:t>
            </a:r>
            <a:endParaRPr sz="212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2925a13aa0_1_320"/>
          <p:cNvSpPr txBox="1"/>
          <p:nvPr>
            <p:ph type="title"/>
          </p:nvPr>
        </p:nvSpPr>
        <p:spPr>
          <a:xfrm>
            <a:off x="311700" y="4090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n"/>
              <a:t>Example: the </a:t>
            </a:r>
            <a:r>
              <a:rPr b="1" lang="en"/>
              <a:t>logschema</a:t>
            </a:r>
            <a:r>
              <a:rPr lang="en"/>
              <a:t> package</a:t>
            </a:r>
            <a:endParaRPr sz="3000"/>
          </a:p>
        </p:txBody>
      </p:sp>
      <p:sp>
        <p:nvSpPr>
          <p:cNvPr id="331" name="Google Shape;331;g12925a13aa0_1_320"/>
          <p:cNvSpPr txBox="1"/>
          <p:nvPr>
            <p:ph idx="1" type="body"/>
          </p:nvPr>
        </p:nvSpPr>
        <p:spPr>
          <a:xfrm>
            <a:off x="378100" y="1268367"/>
            <a:ext cx="7714200" cy="4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To produce schemas, you need to tell Zeek which schema exporters to load. 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zkg install logschema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The following packages will be INSTALLED: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  zeek/zeek/logschema (v2.0.0)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Proceed? [Y/n] y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Running unit tests for "zeek/zeek/logschema"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Installing "zeek/zeek/logschema"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Installed "zeek/zeek/logschema" (v2.0.0)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Loaded "zeek/zeek/logschema"</a:t>
            </a:r>
            <a:endParaRPr sz="1618">
              <a:solidFill>
                <a:schemeClr val="lt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283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2" name="Google Shape;332;g12925a13aa0_1_3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h1b877334921b5ae_0_37"/>
          <p:cNvSpPr txBox="1"/>
          <p:nvPr>
            <p:ph type="title"/>
          </p:nvPr>
        </p:nvSpPr>
        <p:spPr>
          <a:xfrm>
            <a:off x="311700" y="275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333"/>
              <a:buFont typeface="Arial"/>
              <a:buNone/>
            </a:pPr>
            <a:r>
              <a:rPr lang="en" sz="3000"/>
              <a:t>Exercise: JSON-Schema for your logs</a:t>
            </a:r>
            <a:endParaRPr/>
          </a:p>
        </p:txBody>
      </p:sp>
      <p:sp>
        <p:nvSpPr>
          <p:cNvPr id="338" name="Google Shape;338;h1b877334921b5ae_0_37"/>
          <p:cNvSpPr txBox="1"/>
          <p:nvPr>
            <p:ph idx="1" type="body"/>
          </p:nvPr>
        </p:nvSpPr>
        <p:spPr>
          <a:xfrm>
            <a:off x="311700" y="935575"/>
            <a:ext cx="7592100" cy="38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1"/>
                </a:solidFill>
              </a:rPr>
              <a:t>Your local directory will now contain a JSON Schema description for each of your installation’s logs. If we want to find more about Zeek’s DNS log, we can do the following:</a:t>
            </a:r>
            <a:endParaRPr sz="1700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accent1"/>
              </a:solidFill>
            </a:endParaRPr>
          </a:p>
          <a:p>
            <a:pPr indent="0" lvl="0" marL="114300" marR="1143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18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zeek logschema/export/jsonschema</a:t>
            </a:r>
            <a:endParaRPr sz="1283">
              <a:solidFill>
                <a:srgbClr val="FF99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114300" marR="1143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lt2"/>
                </a:solidFill>
                <a:latin typeface="Roboto Mono"/>
                <a:ea typeface="Roboto Mono"/>
                <a:cs typeface="Roboto Mono"/>
                <a:sym typeface="Roboto Mono"/>
              </a:rPr>
              <a:t># cat zeek-dns-log.schema.json | jq</a:t>
            </a:r>
            <a:endParaRPr sz="1700">
              <a:solidFill>
                <a:srgbClr val="66666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114300" rtl="0" algn="l">
              <a:lnSpc>
                <a:spcPct val="200000"/>
              </a:lnSpc>
              <a:spcBef>
                <a:spcPts val="100"/>
              </a:spcBef>
              <a:spcAft>
                <a:spcPts val="18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a81f9c2ef_0_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Exercise: </a:t>
            </a:r>
            <a:r>
              <a:rPr lang="en" sz="3000">
                <a:solidFill>
                  <a:srgbClr val="00B0F0"/>
                </a:solidFill>
              </a:rPr>
              <a:t>z</a:t>
            </a:r>
            <a:r>
              <a:rPr lang="en" sz="3000">
                <a:solidFill>
                  <a:srgbClr val="00B0F0"/>
                </a:solidFill>
              </a:rPr>
              <a:t>kg and the ja3 package</a:t>
            </a:r>
            <a:endParaRPr sz="3000"/>
          </a:p>
        </p:txBody>
      </p:sp>
      <p:sp>
        <p:nvSpPr>
          <p:cNvPr id="344" name="Google Shape;344;g3fa81f9c2ef_0_18"/>
          <p:cNvSpPr txBox="1"/>
          <p:nvPr>
            <p:ph idx="1" type="body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run </a:t>
            </a:r>
            <a:r>
              <a:rPr lang="en">
                <a:solidFill>
                  <a:srgbClr val="00589D"/>
                </a:solidFill>
              </a:rPr>
              <a:t>Zeek with the </a:t>
            </a:r>
            <a:r>
              <a:rPr lang="en" u="sng">
                <a:solidFill>
                  <a:srgbClr val="00589D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JA3</a:t>
            </a:r>
            <a:r>
              <a:rPr lang="en"/>
              <a:t> package.</a:t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589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2"/>
                </a:solidFill>
              </a:rPr>
              <a:t># zkg install ja3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lt2"/>
                </a:solidFill>
              </a:rPr>
              <a:t># zeek -r </a:t>
            </a:r>
            <a:r>
              <a:rPr lang="en" sz="1800">
                <a:solidFill>
                  <a:schemeClr val="lt2"/>
                </a:solidFill>
              </a:rPr>
              <a:t>/training-res/traces/</a:t>
            </a:r>
            <a:r>
              <a:rPr lang="en">
                <a:solidFill>
                  <a:schemeClr val="lt2"/>
                </a:solidFill>
              </a:rPr>
              <a:t>extract</a:t>
            </a:r>
            <a:r>
              <a:rPr lang="en" sz="1800">
                <a:solidFill>
                  <a:schemeClr val="lt2"/>
                </a:solidFill>
              </a:rPr>
              <a:t>.pcap </a:t>
            </a:r>
            <a:r>
              <a:rPr lang="en">
                <a:solidFill>
                  <a:schemeClr val="lt2"/>
                </a:solidFill>
              </a:rPr>
              <a:t>ja3</a:t>
            </a:r>
            <a:endParaRPr sz="1800"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" sz="1800">
                <a:solidFill>
                  <a:schemeClr val="lt2"/>
                </a:solidFill>
              </a:rPr>
              <a:t># cat ssl.lo</a:t>
            </a:r>
            <a:r>
              <a:rPr lang="en">
                <a:solidFill>
                  <a:schemeClr val="lt2"/>
                </a:solidFill>
              </a:rPr>
              <a:t>g</a:t>
            </a:r>
            <a:endParaRPr>
              <a:solidFill>
                <a:schemeClr val="lt2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">
                <a:solidFill>
                  <a:schemeClr val="lt2"/>
                </a:solidFill>
              </a:rPr>
              <a:t># cat ssl.log | zeek-cut -d ja3 ja3s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5" name="Google Shape;345;g3fa81f9c2ef_0_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a81f9c2ef_0_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>
                <a:solidFill>
                  <a:srgbClr val="00B0F0"/>
                </a:solidFill>
              </a:rPr>
              <a:t>Some great packages</a:t>
            </a:r>
            <a:endParaRPr sz="3000"/>
          </a:p>
        </p:txBody>
      </p:sp>
      <p:sp>
        <p:nvSpPr>
          <p:cNvPr id="351" name="Google Shape;351;g3fa81f9c2ef_0_6"/>
          <p:cNvSpPr txBox="1"/>
          <p:nvPr>
            <p:ph idx="1" type="body"/>
          </p:nvPr>
        </p:nvSpPr>
        <p:spPr>
          <a:xfrm>
            <a:off x="311700" y="1246825"/>
            <a:ext cx="8520600" cy="3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Detections: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emudhra-weak-keys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4"/>
              </a:rPr>
              <a:t>php2shell-detect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5"/>
              </a:rPr>
              <a:t>redis-rce</a:t>
            </a:r>
            <a:endParaRPr sz="1900"/>
          </a:p>
          <a:p>
            <a:pPr indent="-3746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Enrichments: </a:t>
            </a:r>
            <a:r>
              <a:rPr lang="en" sz="1900" u="sng">
                <a:solidFill>
                  <a:schemeClr val="hlink"/>
                </a:solidFill>
                <a:hlinkClick r:id="rId6"/>
              </a:rPr>
              <a:t>add-interfaces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7"/>
              </a:rPr>
              <a:t>remote_asn_geoip_conn</a:t>
            </a:r>
            <a:endParaRPr sz="1900"/>
          </a:p>
          <a:p>
            <a:pPr indent="-3746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Analyzers: </a:t>
            </a:r>
            <a:r>
              <a:rPr lang="en" sz="1900" u="sng">
                <a:solidFill>
                  <a:schemeClr val="hlink"/>
                </a:solidFill>
                <a:hlinkClick r:id="rId8"/>
              </a:rPr>
              <a:t>CISA's ICS parsers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9"/>
              </a:rPr>
              <a:t>spicy-nats</a:t>
            </a:r>
            <a:endParaRPr sz="1900"/>
          </a:p>
          <a:p>
            <a:pPr indent="-3746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1900"/>
              <a:t>Log writers: </a:t>
            </a:r>
            <a:r>
              <a:rPr lang="en" sz="1900" u="sng">
                <a:solidFill>
                  <a:schemeClr val="hlink"/>
                </a:solidFill>
                <a:hlinkClick r:id="rId10"/>
              </a:rPr>
              <a:t>zeek-kafka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11"/>
              </a:rPr>
              <a:t>zeek-log-writer-nats</a:t>
            </a:r>
            <a:endParaRPr sz="1900"/>
          </a:p>
          <a:p>
            <a:pPr indent="-374650" lvl="0" marL="4572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589D"/>
              </a:buClr>
              <a:buSzPts val="2300"/>
              <a:buChar char="●"/>
            </a:pPr>
            <a:r>
              <a:rPr lang="en" sz="1900"/>
              <a:t>Miscellaneous: </a:t>
            </a:r>
            <a:r>
              <a:rPr lang="en" sz="1900" u="sng">
                <a:solidFill>
                  <a:schemeClr val="hlink"/>
                </a:solidFill>
                <a:hlinkClick r:id="rId12"/>
              </a:rPr>
              <a:t>zeek-fuzzy-hashing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13"/>
              </a:rPr>
              <a:t>zeek-perf-support</a:t>
            </a:r>
            <a:r>
              <a:rPr lang="en" sz="1900"/>
              <a:t>, </a:t>
            </a:r>
            <a:r>
              <a:rPr lang="en" sz="1900" u="sng">
                <a:solidFill>
                  <a:schemeClr val="hlink"/>
                </a:solidFill>
                <a:hlinkClick r:id="rId14"/>
              </a:rPr>
              <a:t>zeek-xdp</a:t>
            </a:r>
            <a:endParaRPr sz="1900"/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rgbClr val="00589D"/>
              </a:solidFill>
            </a:endParaRPr>
          </a:p>
          <a:p>
            <a:pPr indent="0" lvl="0" marL="91440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solidFill>
                <a:srgbClr val="00AAE3"/>
              </a:solidFill>
            </a:endParaRPr>
          </a:p>
        </p:txBody>
      </p:sp>
      <p:sp>
        <p:nvSpPr>
          <p:cNvPr id="352" name="Google Shape;352;g3fa81f9c2ef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128900" y="1716375"/>
            <a:ext cx="85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4800">
                <a:solidFill>
                  <a:srgbClr val="25C804"/>
                </a:solidFill>
              </a:rPr>
              <a:t>Lunch Break</a:t>
            </a:r>
            <a:endParaRPr sz="4800">
              <a:solidFill>
                <a:srgbClr val="25C804"/>
              </a:solidFill>
            </a:endParaRPr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4800">
              <a:solidFill>
                <a:srgbClr val="25C804"/>
              </a:solidFill>
            </a:endParaRPr>
          </a:p>
        </p:txBody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2185C5"/>
      </a:lt2>
      <a:accent1>
        <a:srgbClr val="00589D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B0F0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
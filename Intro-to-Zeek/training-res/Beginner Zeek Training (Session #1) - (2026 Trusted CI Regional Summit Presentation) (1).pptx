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2"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tlCQU459fwaeN7H3Zz9jNSYA8q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2"/>
    <p:restoredTop sz="94700"/>
  </p:normalViewPr>
  <p:slideViewPr>
    <p:cSldViewPr snapToGrid="0">
      <p:cViewPr varScale="1">
        <p:scale>
          <a:sx n="188" d="100"/>
          <a:sy n="188" d="100"/>
        </p:scale>
        <p:origin x="752"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Introductions</a:t>
            </a:r>
            <a:endParaRPr/>
          </a:p>
          <a:p>
            <a:pPr marL="457200" lvl="0" indent="-298450" algn="l" rtl="0">
              <a:lnSpc>
                <a:spcPct val="100000"/>
              </a:lnSpc>
              <a:spcBef>
                <a:spcPts val="0"/>
              </a:spcBef>
              <a:spcAft>
                <a:spcPts val="0"/>
              </a:spcAft>
              <a:buSzPts val="1100"/>
              <a:buChar char="-"/>
            </a:pPr>
            <a:r>
              <a:rPr lang="en"/>
              <a:t>Provide a brief overview explaining that this presentation was created as a training resource for individuals that have never used Zeek before and that this training resource has been implemented within CENIC’s ISO Internship Program.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3eef5603a7_0_8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3eef5603a7_0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Zeek functions by ingesting network traffic and generates various log files from the raw network traffic.</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These log files may contain information pertaining to network traffic that corresponds with standard networking protocols. (i.e. http, https, ssh, ftp, etc.).</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These log files may also contain traffic that reports on abnormal network activity. (i.e. http traffic detected on a non-standard port like 20 or 21.)</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Zeek provides developers with the capability to create their own scripts to extend and customize Zeek’s functionality.</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These scripts may also be utilized to create custom log files that are created whenever activity traverses across the network that meets particular parameters or conditions.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3eef5603a7_0_248: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3eef5603a7_0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Zeek is typically configured for network monitoring via a SPAN or a TAP.</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SPAN (Switched Port Analyzer) - this refers to a port mirroring feature on a network appliance that sends copies of network traffic to network monitoring tools.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TAP (Test Access Point) - this refers to a hardware device that sits between two appliances like a router, switch, or a firewall. TAPs provide a complete view of network traffic including errors or anomalies.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TAP is the preferred method of getting traffic to Zeek in a production environment due to the shortcomings of port mirrored feeds such as: potential packet loss, switch resource consumption, and the potential for limited visibility if there is abnormally high network traffic or if a switch malfunctions.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30b8fcfd7b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330b8fcfd7b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dirty="0">
                <a:solidFill>
                  <a:schemeClr val="dk1"/>
                </a:solidFill>
              </a:rPr>
              <a:t>The “docker pull” command will download the container’s image to your system from the developer’s repository.</a:t>
            </a:r>
            <a:endParaRPr dirty="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dirty="0">
                <a:solidFill>
                  <a:schemeClr val="dk1"/>
                </a:solidFill>
              </a:rPr>
              <a:t>The “docker run -it” command will create and run a container from the image within an interactive terminal session.</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When you are analyzing a packet capture in Zeek, the first thing you will need to do is enter the “zeek” command, followed by the options that you would like to use to process the output.</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In this example, we are using the Zeek command to read a pcap file and generate the corresponding log files that we will be analyzing in the following exercises.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“zeek” command prompts the zeek application to perform a certain action.</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All of the actions &amp; options that can be utilized with the “zeek” command may be viewed by entering “zeek --help” in the command line.</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When we run the zeek command, the “-C” option ignores checksums or any errors that may be generated when the pcap file is being analyzed.</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-r option specifies that this information should be read from the following path to the specified file.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3eef5603a7_0_4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3eef5603a7_0_4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3f2de1e6ea_0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33f2de1e6ea_0_2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This slide is a representation of the normal output that is presented on the screen when we utilize the concatenate command to view the entire log file.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As you can see, there are several different elements and columns that populate the screen which would make it difficult for an analyst to view or parse through this log file efficiently.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3f2de1e6ea_0_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33f2de1e6ea_0_3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In comparison, this slide represents the output that is displayed on the screen when we utilize the zeek-cut command.</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This command allows us to specify which columns that we would like to select from the log file and presents the information in a format that is much easier to sort through and analyze accordingly.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3f2de1e6ea_0_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g33f2de1e6ea_0_4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On this slide, we utilized the zeek-cut command in order to extract the source IP address column and the respondent bytes column. We also utilized the sort command with the following options: -rnk2</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-r option sorts the output in reverse order. (from largest to smallest)</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-n option sort the output in numerical order.</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-k option specifies the “key” that determines which column the information should be sorted by.</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number 2 that follows the k specifies that column 2 (resp_bytes) will be the column that is referenced when this data is sorted and presented within the final output.</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head command allows us to specify that the output should only contain the first ten entries by default. The head command may also be modified with the -n option followed by another number to indicate if we would like to have a different number of results displayed in the output.</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b="1">
                <a:solidFill>
                  <a:schemeClr val="dk1"/>
                </a:solidFill>
              </a:rPr>
              <a:t>Example 1:</a:t>
            </a:r>
            <a:r>
              <a:rPr lang="en">
                <a:solidFill>
                  <a:schemeClr val="dk1"/>
                </a:solidFill>
              </a:rPr>
              <a:t> “head -n 3” would display the first 3 entries that were observed in the log file with the given parameters.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b="1">
              <a:solidFill>
                <a:schemeClr val="dk1"/>
              </a:solidFill>
            </a:endParaRPr>
          </a:p>
          <a:p>
            <a:pPr marL="0" lvl="0" indent="0" algn="l" rtl="0">
              <a:lnSpc>
                <a:spcPct val="100000"/>
              </a:lnSpc>
              <a:spcBef>
                <a:spcPts val="0"/>
              </a:spcBef>
              <a:spcAft>
                <a:spcPts val="0"/>
              </a:spcAft>
              <a:buSzPts val="1100"/>
              <a:buNone/>
            </a:pPr>
            <a:r>
              <a:rPr lang="en" b="1">
                <a:solidFill>
                  <a:schemeClr val="dk1"/>
                </a:solidFill>
              </a:rPr>
              <a:t>Example 2:</a:t>
            </a:r>
            <a:r>
              <a:rPr lang="en">
                <a:solidFill>
                  <a:schemeClr val="dk1"/>
                </a:solidFill>
              </a:rPr>
              <a:t> “head -n 20” would display the first 20 entries that were observed in the log file with the given parameters.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On this slide, we utilized the zeek-cut command in order to extract the source IP address column and the destination port column.</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We also utilized the sort and uniq commands to display the total unique instances where a source IP address was communicating with a destination port in the log file.</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sort command is used in order to sort the contents of the file in a logical order and </a:t>
            </a:r>
            <a:r>
              <a:rPr lang="en" b="1">
                <a:solidFill>
                  <a:schemeClr val="dk1"/>
                </a:solidFill>
              </a:rPr>
              <a:t>must</a:t>
            </a:r>
            <a:r>
              <a:rPr lang="en">
                <a:solidFill>
                  <a:schemeClr val="dk1"/>
                </a:solidFill>
              </a:rPr>
              <a:t> be specified before passing the output to the uniq command or else the output will display inaccurate results.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uniq command with the -c option is used to prefix lines by the total number of occurrences within the file.</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sort command is used once more to sort the output in reverse numerical order and specifies the source IP address column as the “key” that the information should be sorted by.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The awk command may be utilized to specify certain conditions that must be met in order to be displayed within the output of the query.</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b="1" u="sng">
                <a:solidFill>
                  <a:schemeClr val="dk1"/>
                </a:solidFill>
              </a:rPr>
              <a:t>First example:</a:t>
            </a:r>
            <a:endParaRPr b="1" u="sng">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$8 == “http” identifies all instances where the field in column 8 is equal to “http”.</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&amp;&amp; $6 != 80 the “&amp;&amp;” operator includes an additional condition that must be met in order for the condition to be met.</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second condition which must be met is column 6 not containing “80” within the corresponding field.</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 print $0 } will print all of the corresponding fields within the log file if both of these conditions are met.</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b="1" u="sng">
                <a:solidFill>
                  <a:schemeClr val="dk1"/>
                </a:solidFill>
              </a:rPr>
              <a:t>Second example:</a:t>
            </a:r>
            <a:endParaRPr b="1" u="sng">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$3 == “192.168.125.105” identifies all instances where the IP address 192.168.125.105 is observed as a field within the third column.</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{sum += $11} will perform the following action of adding up the sum of any fields in column 11 whenever the previous condition is fulfilled.</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 END rule specifies that any following actions should only be performed after all of the input is read and processed.</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{print sum} will print out the result of the resp_bytes that were identified which fulfilled the parameters that were outlined within the query.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2de1e6ea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33f2de1e6ea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cbab01e03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cbab01e0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375e461512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3375e461512_0_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Zeek Project - General slide Deck">
  <p:cSld name="TITLE_1">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645225" y="2762725"/>
            <a:ext cx="6736500" cy="1159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2185C5"/>
              </a:buClr>
              <a:buSzPts val="4400"/>
              <a:buNone/>
              <a:defRPr sz="4400">
                <a:solidFill>
                  <a:srgbClr val="2185C5"/>
                </a:solidFill>
              </a:defRPr>
            </a:lvl1pPr>
            <a:lvl2pPr lvl="1" algn="l">
              <a:lnSpc>
                <a:spcPct val="100000"/>
              </a:lnSpc>
              <a:spcBef>
                <a:spcPts val="0"/>
              </a:spcBef>
              <a:spcAft>
                <a:spcPts val="0"/>
              </a:spcAft>
              <a:buClr>
                <a:schemeClr val="dk2"/>
              </a:buClr>
              <a:buSzPts val="4400"/>
              <a:buNone/>
              <a:defRPr sz="4400">
                <a:solidFill>
                  <a:schemeClr val="dk2"/>
                </a:solidFill>
              </a:defRPr>
            </a:lvl2pPr>
            <a:lvl3pPr lvl="2" algn="l">
              <a:lnSpc>
                <a:spcPct val="100000"/>
              </a:lnSpc>
              <a:spcBef>
                <a:spcPts val="0"/>
              </a:spcBef>
              <a:spcAft>
                <a:spcPts val="0"/>
              </a:spcAft>
              <a:buClr>
                <a:schemeClr val="dk2"/>
              </a:buClr>
              <a:buSzPts val="4400"/>
              <a:buNone/>
              <a:defRPr sz="4400">
                <a:solidFill>
                  <a:schemeClr val="dk2"/>
                </a:solidFill>
              </a:defRPr>
            </a:lvl3pPr>
            <a:lvl4pPr lvl="3" algn="l">
              <a:lnSpc>
                <a:spcPct val="100000"/>
              </a:lnSpc>
              <a:spcBef>
                <a:spcPts val="0"/>
              </a:spcBef>
              <a:spcAft>
                <a:spcPts val="0"/>
              </a:spcAft>
              <a:buClr>
                <a:schemeClr val="dk2"/>
              </a:buClr>
              <a:buSzPts val="4400"/>
              <a:buNone/>
              <a:defRPr sz="4400">
                <a:solidFill>
                  <a:schemeClr val="dk2"/>
                </a:solidFill>
              </a:defRPr>
            </a:lvl4pPr>
            <a:lvl5pPr lvl="4" algn="l">
              <a:lnSpc>
                <a:spcPct val="100000"/>
              </a:lnSpc>
              <a:spcBef>
                <a:spcPts val="0"/>
              </a:spcBef>
              <a:spcAft>
                <a:spcPts val="0"/>
              </a:spcAft>
              <a:buClr>
                <a:schemeClr val="dk2"/>
              </a:buClr>
              <a:buSzPts val="4400"/>
              <a:buNone/>
              <a:defRPr sz="4400">
                <a:solidFill>
                  <a:schemeClr val="dk2"/>
                </a:solidFill>
              </a:defRPr>
            </a:lvl5pPr>
            <a:lvl6pPr lvl="5" algn="l">
              <a:lnSpc>
                <a:spcPct val="100000"/>
              </a:lnSpc>
              <a:spcBef>
                <a:spcPts val="0"/>
              </a:spcBef>
              <a:spcAft>
                <a:spcPts val="0"/>
              </a:spcAft>
              <a:buClr>
                <a:schemeClr val="dk2"/>
              </a:buClr>
              <a:buSzPts val="4400"/>
              <a:buNone/>
              <a:defRPr sz="4400">
                <a:solidFill>
                  <a:schemeClr val="dk2"/>
                </a:solidFill>
              </a:defRPr>
            </a:lvl6pPr>
            <a:lvl7pPr lvl="6" algn="l">
              <a:lnSpc>
                <a:spcPct val="100000"/>
              </a:lnSpc>
              <a:spcBef>
                <a:spcPts val="0"/>
              </a:spcBef>
              <a:spcAft>
                <a:spcPts val="0"/>
              </a:spcAft>
              <a:buClr>
                <a:schemeClr val="dk2"/>
              </a:buClr>
              <a:buSzPts val="4400"/>
              <a:buNone/>
              <a:defRPr sz="4400">
                <a:solidFill>
                  <a:schemeClr val="dk2"/>
                </a:solidFill>
              </a:defRPr>
            </a:lvl7pPr>
            <a:lvl8pPr lvl="7" algn="l">
              <a:lnSpc>
                <a:spcPct val="100000"/>
              </a:lnSpc>
              <a:spcBef>
                <a:spcPts val="0"/>
              </a:spcBef>
              <a:spcAft>
                <a:spcPts val="0"/>
              </a:spcAft>
              <a:buClr>
                <a:schemeClr val="dk2"/>
              </a:buClr>
              <a:buSzPts val="4400"/>
              <a:buNone/>
              <a:defRPr sz="4400">
                <a:solidFill>
                  <a:schemeClr val="dk2"/>
                </a:solidFill>
              </a:defRPr>
            </a:lvl8pPr>
            <a:lvl9pPr lvl="8" algn="l">
              <a:lnSpc>
                <a:spcPct val="100000"/>
              </a:lnSpc>
              <a:spcBef>
                <a:spcPts val="0"/>
              </a:spcBef>
              <a:spcAft>
                <a:spcPts val="0"/>
              </a:spcAft>
              <a:buClr>
                <a:schemeClr val="dk2"/>
              </a:buClr>
              <a:buSzPts val="4400"/>
              <a:buNone/>
              <a:defRPr sz="4400">
                <a:solidFill>
                  <a:schemeClr val="dk2"/>
                </a:solidFill>
              </a:defRPr>
            </a:lvl9pPr>
          </a:lstStyle>
          <a:p>
            <a:endParaRPr/>
          </a:p>
        </p:txBody>
      </p:sp>
      <p:sp>
        <p:nvSpPr>
          <p:cNvPr id="17" name="Google Shape;17;p22"/>
          <p:cNvSpPr/>
          <p:nvPr/>
        </p:nvSpPr>
        <p:spPr>
          <a:xfrm>
            <a:off x="5938246" y="2533163"/>
            <a:ext cx="7218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22"/>
          <p:cNvSpPr/>
          <p:nvPr/>
        </p:nvSpPr>
        <p:spPr>
          <a:xfrm>
            <a:off x="6659861" y="2533163"/>
            <a:ext cx="7218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2"/>
          <p:cNvSpPr/>
          <p:nvPr/>
        </p:nvSpPr>
        <p:spPr>
          <a:xfrm>
            <a:off x="-1" y="2533163"/>
            <a:ext cx="7218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2"/>
          <p:cNvSpPr/>
          <p:nvPr/>
        </p:nvSpPr>
        <p:spPr>
          <a:xfrm>
            <a:off x="721425" y="2533163"/>
            <a:ext cx="52167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4" name="Google Shape;2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7" name="Google Shape;2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8" name="Google Shape;2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29" name="Google Shape;29;p26"/>
          <p:cNvGrpSpPr/>
          <p:nvPr/>
        </p:nvGrpSpPr>
        <p:grpSpPr>
          <a:xfrm>
            <a:off x="0" y="5057131"/>
            <a:ext cx="9143874" cy="146552"/>
            <a:chOff x="0" y="5056825"/>
            <a:chExt cx="9143874" cy="77100"/>
          </a:xfrm>
        </p:grpSpPr>
        <p:sp>
          <p:nvSpPr>
            <p:cNvPr id="30" name="Google Shape;30;p26"/>
            <p:cNvSpPr/>
            <p:nvPr/>
          </p:nvSpPr>
          <p:spPr>
            <a:xfrm>
              <a:off x="7355977"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6"/>
            <p:cNvSpPr/>
            <p:nvPr/>
          </p:nvSpPr>
          <p:spPr>
            <a:xfrm>
              <a:off x="8249874"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6"/>
            <p:cNvSpPr/>
            <p:nvPr/>
          </p:nvSpPr>
          <p:spPr>
            <a:xfrm>
              <a:off x="0"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6"/>
            <p:cNvSpPr/>
            <p:nvPr/>
          </p:nvSpPr>
          <p:spPr>
            <a:xfrm>
              <a:off x="893663" y="5056825"/>
              <a:ext cx="6462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8" name="Google Shape;38;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sp>
        <p:nvSpPr>
          <p:cNvPr id="40" name="Google Shape;40;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2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3" name="Google Shape;43;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6" name="Google Shape;46;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3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9" name="Google Shape;49;p3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0" name="Google Shape;50;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
        <p:cNvGrpSpPr/>
        <p:nvPr/>
      </p:nvGrpSpPr>
      <p:grpSpPr>
        <a:xfrm>
          <a:off x="0" y="0"/>
          <a:ext cx="0" cy="0"/>
          <a:chOff x="0" y="0"/>
          <a:chExt cx="0" cy="0"/>
        </a:xfrm>
      </p:grpSpPr>
      <p:sp>
        <p:nvSpPr>
          <p:cNvPr id="52" name="Google Shape;52;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3" name="Google Shape;53;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7" name="Google Shape;57;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8" name="Google Shape;58;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9" name="Google Shape;59;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3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2" name="Google Shape;62;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
        <p:cNvGrpSpPr/>
        <p:nvPr/>
      </p:nvGrpSpPr>
      <p:grpSpPr>
        <a:xfrm>
          <a:off x="0" y="0"/>
          <a:ext cx="0" cy="0"/>
          <a:chOff x="0" y="0"/>
          <a:chExt cx="0" cy="0"/>
        </a:xfrm>
      </p:grpSpPr>
      <p:sp>
        <p:nvSpPr>
          <p:cNvPr id="64" name="Google Shape;64;p3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5" name="Google Shape;65;p3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6" name="Google Shape;66;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67"/>
        <p:cNvGrpSpPr/>
        <p:nvPr/>
      </p:nvGrpSpPr>
      <p:grpSpPr>
        <a:xfrm>
          <a:off x="0" y="0"/>
          <a:ext cx="0" cy="0"/>
          <a:chOff x="0" y="0"/>
          <a:chExt cx="0" cy="0"/>
        </a:xfrm>
      </p:grpSpPr>
      <p:sp>
        <p:nvSpPr>
          <p:cNvPr id="68" name="Google Shape;68;p36"/>
          <p:cNvSpPr txBox="1">
            <a:spLocks noGrp="1"/>
          </p:cNvSpPr>
          <p:nvPr>
            <p:ph type="body" idx="1"/>
          </p:nvPr>
        </p:nvSpPr>
        <p:spPr>
          <a:xfrm>
            <a:off x="1710425" y="2161800"/>
            <a:ext cx="5723700" cy="819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i="1"/>
            </a:lvl1pPr>
            <a:lvl2pPr marL="914400" lvl="1" indent="-317500" algn="ctr">
              <a:lnSpc>
                <a:spcPct val="115000"/>
              </a:lnSpc>
              <a:spcBef>
                <a:spcPts val="0"/>
              </a:spcBef>
              <a:spcAft>
                <a:spcPts val="0"/>
              </a:spcAft>
              <a:buSzPts val="1400"/>
              <a:buChar char="○"/>
              <a:defRPr i="1"/>
            </a:lvl2pPr>
            <a:lvl3pPr marL="1371600" lvl="2" indent="-317500" algn="ctr">
              <a:lnSpc>
                <a:spcPct val="115000"/>
              </a:lnSpc>
              <a:spcBef>
                <a:spcPts val="0"/>
              </a:spcBef>
              <a:spcAft>
                <a:spcPts val="0"/>
              </a:spcAft>
              <a:buSzPts val="1400"/>
              <a:buChar char="■"/>
              <a:defRPr i="1"/>
            </a:lvl3pPr>
            <a:lvl4pPr marL="1828800" lvl="3" indent="-317500" algn="ctr">
              <a:lnSpc>
                <a:spcPct val="115000"/>
              </a:lnSpc>
              <a:spcBef>
                <a:spcPts val="0"/>
              </a:spcBef>
              <a:spcAft>
                <a:spcPts val="0"/>
              </a:spcAft>
              <a:buSzPts val="1400"/>
              <a:buChar char="●"/>
              <a:defRPr i="1"/>
            </a:lvl4pPr>
            <a:lvl5pPr marL="2286000" lvl="4" indent="-317500" algn="ctr">
              <a:lnSpc>
                <a:spcPct val="115000"/>
              </a:lnSpc>
              <a:spcBef>
                <a:spcPts val="0"/>
              </a:spcBef>
              <a:spcAft>
                <a:spcPts val="0"/>
              </a:spcAft>
              <a:buSzPts val="1400"/>
              <a:buChar char="○"/>
              <a:defRPr i="1"/>
            </a:lvl5pPr>
            <a:lvl6pPr marL="2743200" lvl="5" indent="-317500" algn="ctr">
              <a:lnSpc>
                <a:spcPct val="115000"/>
              </a:lnSpc>
              <a:spcBef>
                <a:spcPts val="0"/>
              </a:spcBef>
              <a:spcAft>
                <a:spcPts val="0"/>
              </a:spcAft>
              <a:buSzPts val="1400"/>
              <a:buChar char="■"/>
              <a:defRPr i="1"/>
            </a:lvl6pPr>
            <a:lvl7pPr marL="3200400" lvl="6" indent="-317500" algn="ctr">
              <a:lnSpc>
                <a:spcPct val="115000"/>
              </a:lnSpc>
              <a:spcBef>
                <a:spcPts val="0"/>
              </a:spcBef>
              <a:spcAft>
                <a:spcPts val="0"/>
              </a:spcAft>
              <a:buSzPts val="1400"/>
              <a:buChar char="●"/>
              <a:defRPr i="1"/>
            </a:lvl7pPr>
            <a:lvl8pPr marL="3657600" lvl="7" indent="-317500" algn="ctr">
              <a:lnSpc>
                <a:spcPct val="115000"/>
              </a:lnSpc>
              <a:spcBef>
                <a:spcPts val="0"/>
              </a:spcBef>
              <a:spcAft>
                <a:spcPts val="0"/>
              </a:spcAft>
              <a:buSzPts val="1400"/>
              <a:buChar char="○"/>
              <a:defRPr i="1"/>
            </a:lvl8pPr>
            <a:lvl9pPr marL="4114800" lvl="8" indent="-317500" algn="ctr">
              <a:lnSpc>
                <a:spcPct val="115000"/>
              </a:lnSpc>
              <a:spcBef>
                <a:spcPts val="0"/>
              </a:spcBef>
              <a:spcAft>
                <a:spcPts val="0"/>
              </a:spcAft>
              <a:buSzPts val="1400"/>
              <a:buChar char="■"/>
              <a:defRPr i="1"/>
            </a:lvl9pPr>
          </a:lstStyle>
          <a:p>
            <a:endParaRPr/>
          </a:p>
        </p:txBody>
      </p:sp>
      <p:sp>
        <p:nvSpPr>
          <p:cNvPr id="69" name="Google Shape;69;p36"/>
          <p:cNvSpPr txBox="1"/>
          <p:nvPr/>
        </p:nvSpPr>
        <p:spPr>
          <a:xfrm>
            <a:off x="3593400" y="1181419"/>
            <a:ext cx="1957200" cy="653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9600"/>
              <a:buFont typeface="Arial"/>
              <a:buNone/>
            </a:pPr>
            <a:r>
              <a:rPr lang="en" sz="9600" b="1" i="0" u="none" strike="noStrike" cap="none">
                <a:solidFill>
                  <a:srgbClr val="FFEA79"/>
                </a:solidFill>
                <a:latin typeface="Arial"/>
                <a:ea typeface="Arial"/>
                <a:cs typeface="Arial"/>
                <a:sym typeface="Arial"/>
              </a:rPr>
              <a:t>“</a:t>
            </a:r>
            <a:endParaRPr sz="9600" b="1" i="0" u="none" strike="noStrike" cap="none">
              <a:solidFill>
                <a:srgbClr val="FFEA79"/>
              </a:solidFill>
              <a:latin typeface="Arial"/>
              <a:ea typeface="Arial"/>
              <a:cs typeface="Arial"/>
              <a:sym typeface="Arial"/>
            </a:endParaRPr>
          </a:p>
        </p:txBody>
      </p:sp>
      <p:sp>
        <p:nvSpPr>
          <p:cNvPr id="70" name="Google Shape;70;p36"/>
          <p:cNvSpPr/>
          <p:nvPr/>
        </p:nvSpPr>
        <p:spPr>
          <a:xfrm>
            <a:off x="5723283"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36"/>
          <p:cNvSpPr/>
          <p:nvPr/>
        </p:nvSpPr>
        <p:spPr>
          <a:xfrm>
            <a:off x="7434177"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6"/>
          <p:cNvSpPr/>
          <p:nvPr/>
        </p:nvSpPr>
        <p:spPr>
          <a:xfrm>
            <a:off x="0"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6"/>
          <p:cNvSpPr/>
          <p:nvPr/>
        </p:nvSpPr>
        <p:spPr>
          <a:xfrm>
            <a:off x="1710425"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36"/>
          <p:cNvSpPr txBox="1">
            <a:spLocks noGrp="1"/>
          </p:cNvSpPr>
          <p:nvPr>
            <p:ph type="sldNum" idx="12"/>
          </p:nvPr>
        </p:nvSpPr>
        <p:spPr>
          <a:xfrm>
            <a:off x="-125" y="4830281"/>
            <a:ext cx="9144000" cy="313500"/>
          </a:xfrm>
          <a:prstGeom prst="rect">
            <a:avLst/>
          </a:prstGeom>
          <a:noFill/>
          <a:ln>
            <a:noFill/>
          </a:ln>
        </p:spPr>
        <p:txBody>
          <a:bodyPr spcFirstLastPara="1" wrap="square" lIns="91425" tIns="91425" rIns="91425" bIns="91425" anchor="t" anchorCtr="0">
            <a:normAutofit/>
          </a:bodyPr>
          <a:lstStyle>
            <a:lvl1pPr marL="0" marR="0" lvl="0"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5"/>
        <p:cNvGrpSpPr/>
        <p:nvPr/>
      </p:nvGrpSpPr>
      <p:grpSpPr>
        <a:xfrm>
          <a:off x="0" y="0"/>
          <a:ext cx="0" cy="0"/>
          <a:chOff x="0" y="0"/>
          <a:chExt cx="0" cy="0"/>
        </a:xfrm>
      </p:grpSpPr>
      <p:sp>
        <p:nvSpPr>
          <p:cNvPr id="86" name="Google Shape;86;g33f2de1e6ea_0_6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7" name="Google Shape;87;g33f2de1e6ea_0_64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8" name="Google Shape;88;g33f2de1e6ea_0_6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Zeek Project - General slide Deck">
  <p:cSld name="TITLE_1">
    <p:spTree>
      <p:nvGrpSpPr>
        <p:cNvPr id="1" name="Shape 89"/>
        <p:cNvGrpSpPr/>
        <p:nvPr/>
      </p:nvGrpSpPr>
      <p:grpSpPr>
        <a:xfrm>
          <a:off x="0" y="0"/>
          <a:ext cx="0" cy="0"/>
          <a:chOff x="0" y="0"/>
          <a:chExt cx="0" cy="0"/>
        </a:xfrm>
      </p:grpSpPr>
      <p:sp>
        <p:nvSpPr>
          <p:cNvPr id="90" name="Google Shape;90;g33f2de1e6ea_0_634"/>
          <p:cNvSpPr txBox="1">
            <a:spLocks noGrp="1"/>
          </p:cNvSpPr>
          <p:nvPr>
            <p:ph type="ctrTitle"/>
          </p:nvPr>
        </p:nvSpPr>
        <p:spPr>
          <a:xfrm>
            <a:off x="645225" y="2762725"/>
            <a:ext cx="6736500" cy="1159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2185C5"/>
              </a:buClr>
              <a:buSzPts val="4400"/>
              <a:buNone/>
              <a:defRPr sz="4400">
                <a:solidFill>
                  <a:srgbClr val="2185C5"/>
                </a:solidFill>
              </a:defRPr>
            </a:lvl1pPr>
            <a:lvl2pPr lvl="1" algn="l">
              <a:lnSpc>
                <a:spcPct val="100000"/>
              </a:lnSpc>
              <a:spcBef>
                <a:spcPts val="0"/>
              </a:spcBef>
              <a:spcAft>
                <a:spcPts val="0"/>
              </a:spcAft>
              <a:buClr>
                <a:schemeClr val="dk2"/>
              </a:buClr>
              <a:buSzPts val="4400"/>
              <a:buNone/>
              <a:defRPr sz="4400">
                <a:solidFill>
                  <a:schemeClr val="dk2"/>
                </a:solidFill>
              </a:defRPr>
            </a:lvl2pPr>
            <a:lvl3pPr lvl="2" algn="l">
              <a:lnSpc>
                <a:spcPct val="100000"/>
              </a:lnSpc>
              <a:spcBef>
                <a:spcPts val="0"/>
              </a:spcBef>
              <a:spcAft>
                <a:spcPts val="0"/>
              </a:spcAft>
              <a:buClr>
                <a:schemeClr val="dk2"/>
              </a:buClr>
              <a:buSzPts val="4400"/>
              <a:buNone/>
              <a:defRPr sz="4400">
                <a:solidFill>
                  <a:schemeClr val="dk2"/>
                </a:solidFill>
              </a:defRPr>
            </a:lvl3pPr>
            <a:lvl4pPr lvl="3" algn="l">
              <a:lnSpc>
                <a:spcPct val="100000"/>
              </a:lnSpc>
              <a:spcBef>
                <a:spcPts val="0"/>
              </a:spcBef>
              <a:spcAft>
                <a:spcPts val="0"/>
              </a:spcAft>
              <a:buClr>
                <a:schemeClr val="dk2"/>
              </a:buClr>
              <a:buSzPts val="4400"/>
              <a:buNone/>
              <a:defRPr sz="4400">
                <a:solidFill>
                  <a:schemeClr val="dk2"/>
                </a:solidFill>
              </a:defRPr>
            </a:lvl4pPr>
            <a:lvl5pPr lvl="4" algn="l">
              <a:lnSpc>
                <a:spcPct val="100000"/>
              </a:lnSpc>
              <a:spcBef>
                <a:spcPts val="0"/>
              </a:spcBef>
              <a:spcAft>
                <a:spcPts val="0"/>
              </a:spcAft>
              <a:buClr>
                <a:schemeClr val="dk2"/>
              </a:buClr>
              <a:buSzPts val="4400"/>
              <a:buNone/>
              <a:defRPr sz="4400">
                <a:solidFill>
                  <a:schemeClr val="dk2"/>
                </a:solidFill>
              </a:defRPr>
            </a:lvl5pPr>
            <a:lvl6pPr lvl="5" algn="l">
              <a:lnSpc>
                <a:spcPct val="100000"/>
              </a:lnSpc>
              <a:spcBef>
                <a:spcPts val="0"/>
              </a:spcBef>
              <a:spcAft>
                <a:spcPts val="0"/>
              </a:spcAft>
              <a:buClr>
                <a:schemeClr val="dk2"/>
              </a:buClr>
              <a:buSzPts val="4400"/>
              <a:buNone/>
              <a:defRPr sz="4400">
                <a:solidFill>
                  <a:schemeClr val="dk2"/>
                </a:solidFill>
              </a:defRPr>
            </a:lvl6pPr>
            <a:lvl7pPr lvl="6" algn="l">
              <a:lnSpc>
                <a:spcPct val="100000"/>
              </a:lnSpc>
              <a:spcBef>
                <a:spcPts val="0"/>
              </a:spcBef>
              <a:spcAft>
                <a:spcPts val="0"/>
              </a:spcAft>
              <a:buClr>
                <a:schemeClr val="dk2"/>
              </a:buClr>
              <a:buSzPts val="4400"/>
              <a:buNone/>
              <a:defRPr sz="4400">
                <a:solidFill>
                  <a:schemeClr val="dk2"/>
                </a:solidFill>
              </a:defRPr>
            </a:lvl7pPr>
            <a:lvl8pPr lvl="7" algn="l">
              <a:lnSpc>
                <a:spcPct val="100000"/>
              </a:lnSpc>
              <a:spcBef>
                <a:spcPts val="0"/>
              </a:spcBef>
              <a:spcAft>
                <a:spcPts val="0"/>
              </a:spcAft>
              <a:buClr>
                <a:schemeClr val="dk2"/>
              </a:buClr>
              <a:buSzPts val="4400"/>
              <a:buNone/>
              <a:defRPr sz="4400">
                <a:solidFill>
                  <a:schemeClr val="dk2"/>
                </a:solidFill>
              </a:defRPr>
            </a:lvl8pPr>
            <a:lvl9pPr lvl="8" algn="l">
              <a:lnSpc>
                <a:spcPct val="100000"/>
              </a:lnSpc>
              <a:spcBef>
                <a:spcPts val="0"/>
              </a:spcBef>
              <a:spcAft>
                <a:spcPts val="0"/>
              </a:spcAft>
              <a:buClr>
                <a:schemeClr val="dk2"/>
              </a:buClr>
              <a:buSzPts val="4400"/>
              <a:buNone/>
              <a:defRPr sz="4400">
                <a:solidFill>
                  <a:schemeClr val="dk2"/>
                </a:solidFill>
              </a:defRPr>
            </a:lvl9pPr>
          </a:lstStyle>
          <a:p>
            <a:endParaRPr/>
          </a:p>
        </p:txBody>
      </p:sp>
      <p:sp>
        <p:nvSpPr>
          <p:cNvPr id="91" name="Google Shape;91;g33f2de1e6ea_0_634"/>
          <p:cNvSpPr/>
          <p:nvPr/>
        </p:nvSpPr>
        <p:spPr>
          <a:xfrm>
            <a:off x="5938246" y="2533163"/>
            <a:ext cx="7218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g33f2de1e6ea_0_634"/>
          <p:cNvSpPr/>
          <p:nvPr/>
        </p:nvSpPr>
        <p:spPr>
          <a:xfrm>
            <a:off x="6659861" y="2533163"/>
            <a:ext cx="7218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g33f2de1e6ea_0_634"/>
          <p:cNvSpPr/>
          <p:nvPr/>
        </p:nvSpPr>
        <p:spPr>
          <a:xfrm>
            <a:off x="-1" y="2533163"/>
            <a:ext cx="7218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g33f2de1e6ea_0_634"/>
          <p:cNvSpPr/>
          <p:nvPr/>
        </p:nvSpPr>
        <p:spPr>
          <a:xfrm>
            <a:off x="721425" y="2533163"/>
            <a:ext cx="52167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
        <p:cNvGrpSpPr/>
        <p:nvPr/>
      </p:nvGrpSpPr>
      <p:grpSpPr>
        <a:xfrm>
          <a:off x="0" y="0"/>
          <a:ext cx="0" cy="0"/>
          <a:chOff x="0" y="0"/>
          <a:chExt cx="0" cy="0"/>
        </a:xfrm>
      </p:grpSpPr>
      <p:sp>
        <p:nvSpPr>
          <p:cNvPr id="96" name="Google Shape;96;g33f2de1e6ea_0_64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97" name="Google Shape;97;g33f2de1e6ea_0_64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98" name="Google Shape;98;g33f2de1e6ea_0_6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99" name="Google Shape;99;g33f2de1e6ea_0_640"/>
          <p:cNvGrpSpPr/>
          <p:nvPr/>
        </p:nvGrpSpPr>
        <p:grpSpPr>
          <a:xfrm>
            <a:off x="0" y="5057110"/>
            <a:ext cx="9143874" cy="146552"/>
            <a:chOff x="0" y="5056825"/>
            <a:chExt cx="9143874" cy="77100"/>
          </a:xfrm>
        </p:grpSpPr>
        <p:sp>
          <p:nvSpPr>
            <p:cNvPr id="100" name="Google Shape;100;g33f2de1e6ea_0_640"/>
            <p:cNvSpPr/>
            <p:nvPr/>
          </p:nvSpPr>
          <p:spPr>
            <a:xfrm>
              <a:off x="7355977"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g33f2de1e6ea_0_640"/>
            <p:cNvSpPr/>
            <p:nvPr/>
          </p:nvSpPr>
          <p:spPr>
            <a:xfrm>
              <a:off x="8249874"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g33f2de1e6ea_0_640"/>
            <p:cNvSpPr/>
            <p:nvPr/>
          </p:nvSpPr>
          <p:spPr>
            <a:xfrm>
              <a:off x="0"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g33f2de1e6ea_0_640"/>
            <p:cNvSpPr/>
            <p:nvPr/>
          </p:nvSpPr>
          <p:spPr>
            <a:xfrm>
              <a:off x="893663" y="5056825"/>
              <a:ext cx="6462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105" name="Google Shape;105;g33f2de1e6ea_0_6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6"/>
        <p:cNvGrpSpPr/>
        <p:nvPr/>
      </p:nvGrpSpPr>
      <p:grpSpPr>
        <a:xfrm>
          <a:off x="0" y="0"/>
          <a:ext cx="0" cy="0"/>
          <a:chOff x="0" y="0"/>
          <a:chExt cx="0" cy="0"/>
        </a:xfrm>
      </p:grpSpPr>
      <p:sp>
        <p:nvSpPr>
          <p:cNvPr id="107" name="Google Shape;107;g33f2de1e6ea_0_65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08" name="Google Shape;108;g33f2de1e6ea_0_6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9"/>
        <p:cNvGrpSpPr/>
        <p:nvPr/>
      </p:nvGrpSpPr>
      <p:grpSpPr>
        <a:xfrm>
          <a:off x="0" y="0"/>
          <a:ext cx="0" cy="0"/>
          <a:chOff x="0" y="0"/>
          <a:chExt cx="0" cy="0"/>
        </a:xfrm>
      </p:grpSpPr>
      <p:sp>
        <p:nvSpPr>
          <p:cNvPr id="110" name="Google Shape;110;g33f2de1e6ea_0_6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1" name="Google Shape;111;g33f2de1e6ea_0_65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12" name="Google Shape;112;g33f2de1e6ea_0_65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13" name="Google Shape;113;g33f2de1e6ea_0_6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g33f2de1e6ea_0_66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6" name="Google Shape;116;g33f2de1e6ea_0_6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7"/>
        <p:cNvGrpSpPr/>
        <p:nvPr/>
      </p:nvGrpSpPr>
      <p:grpSpPr>
        <a:xfrm>
          <a:off x="0" y="0"/>
          <a:ext cx="0" cy="0"/>
          <a:chOff x="0" y="0"/>
          <a:chExt cx="0" cy="0"/>
        </a:xfrm>
      </p:grpSpPr>
      <p:sp>
        <p:nvSpPr>
          <p:cNvPr id="118" name="Google Shape;118;g33f2de1e6ea_0_66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19" name="Google Shape;119;g33f2de1e6ea_0_66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20" name="Google Shape;120;g33f2de1e6ea_0_6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1"/>
        <p:cNvGrpSpPr/>
        <p:nvPr/>
      </p:nvGrpSpPr>
      <p:grpSpPr>
        <a:xfrm>
          <a:off x="0" y="0"/>
          <a:ext cx="0" cy="0"/>
          <a:chOff x="0" y="0"/>
          <a:chExt cx="0" cy="0"/>
        </a:xfrm>
      </p:grpSpPr>
      <p:sp>
        <p:nvSpPr>
          <p:cNvPr id="122" name="Google Shape;122;g33f2de1e6ea_0_67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23" name="Google Shape;123;g33f2de1e6ea_0_6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4"/>
        <p:cNvGrpSpPr/>
        <p:nvPr/>
      </p:nvGrpSpPr>
      <p:grpSpPr>
        <a:xfrm>
          <a:off x="0" y="0"/>
          <a:ext cx="0" cy="0"/>
          <a:chOff x="0" y="0"/>
          <a:chExt cx="0" cy="0"/>
        </a:xfrm>
      </p:grpSpPr>
      <p:sp>
        <p:nvSpPr>
          <p:cNvPr id="125" name="Google Shape;125;g33f2de1e6ea_0_67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g33f2de1e6ea_0_67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27" name="Google Shape;127;g33f2de1e6ea_0_67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28" name="Google Shape;128;g33f2de1e6ea_0_67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9" name="Google Shape;129;g33f2de1e6ea_0_6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g33f2de1e6ea_0_67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32" name="Google Shape;132;g33f2de1e6ea_0_67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3"/>
        <p:cNvGrpSpPr/>
        <p:nvPr/>
      </p:nvGrpSpPr>
      <p:grpSpPr>
        <a:xfrm>
          <a:off x="0" y="0"/>
          <a:ext cx="0" cy="0"/>
          <a:chOff x="0" y="0"/>
          <a:chExt cx="0" cy="0"/>
        </a:xfrm>
      </p:grpSpPr>
      <p:sp>
        <p:nvSpPr>
          <p:cNvPr id="134" name="Google Shape;134;g33f2de1e6ea_0_68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5" name="Google Shape;135;g33f2de1e6ea_0_68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36" name="Google Shape;136;g33f2de1e6ea_0_68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37"/>
        <p:cNvGrpSpPr/>
        <p:nvPr/>
      </p:nvGrpSpPr>
      <p:grpSpPr>
        <a:xfrm>
          <a:off x="0" y="0"/>
          <a:ext cx="0" cy="0"/>
          <a:chOff x="0" y="0"/>
          <a:chExt cx="0" cy="0"/>
        </a:xfrm>
      </p:grpSpPr>
      <p:sp>
        <p:nvSpPr>
          <p:cNvPr id="138" name="Google Shape;138;g33f2de1e6ea_0_686"/>
          <p:cNvSpPr txBox="1">
            <a:spLocks noGrp="1"/>
          </p:cNvSpPr>
          <p:nvPr>
            <p:ph type="body" idx="1"/>
          </p:nvPr>
        </p:nvSpPr>
        <p:spPr>
          <a:xfrm>
            <a:off x="1710425" y="2161800"/>
            <a:ext cx="5723700" cy="819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i="1"/>
            </a:lvl1pPr>
            <a:lvl2pPr marL="914400" lvl="1" indent="-317500" algn="ctr">
              <a:lnSpc>
                <a:spcPct val="115000"/>
              </a:lnSpc>
              <a:spcBef>
                <a:spcPts val="0"/>
              </a:spcBef>
              <a:spcAft>
                <a:spcPts val="0"/>
              </a:spcAft>
              <a:buSzPts val="1400"/>
              <a:buChar char="○"/>
              <a:defRPr i="1"/>
            </a:lvl2pPr>
            <a:lvl3pPr marL="1371600" lvl="2" indent="-317500" algn="ctr">
              <a:lnSpc>
                <a:spcPct val="115000"/>
              </a:lnSpc>
              <a:spcBef>
                <a:spcPts val="0"/>
              </a:spcBef>
              <a:spcAft>
                <a:spcPts val="0"/>
              </a:spcAft>
              <a:buSzPts val="1400"/>
              <a:buChar char="■"/>
              <a:defRPr i="1"/>
            </a:lvl3pPr>
            <a:lvl4pPr marL="1828800" lvl="3" indent="-317500" algn="ctr">
              <a:lnSpc>
                <a:spcPct val="115000"/>
              </a:lnSpc>
              <a:spcBef>
                <a:spcPts val="0"/>
              </a:spcBef>
              <a:spcAft>
                <a:spcPts val="0"/>
              </a:spcAft>
              <a:buSzPts val="1400"/>
              <a:buChar char="●"/>
              <a:defRPr i="1"/>
            </a:lvl4pPr>
            <a:lvl5pPr marL="2286000" lvl="4" indent="-317500" algn="ctr">
              <a:lnSpc>
                <a:spcPct val="115000"/>
              </a:lnSpc>
              <a:spcBef>
                <a:spcPts val="0"/>
              </a:spcBef>
              <a:spcAft>
                <a:spcPts val="0"/>
              </a:spcAft>
              <a:buSzPts val="1400"/>
              <a:buChar char="○"/>
              <a:defRPr i="1"/>
            </a:lvl5pPr>
            <a:lvl6pPr marL="2743200" lvl="5" indent="-317500" algn="ctr">
              <a:lnSpc>
                <a:spcPct val="115000"/>
              </a:lnSpc>
              <a:spcBef>
                <a:spcPts val="0"/>
              </a:spcBef>
              <a:spcAft>
                <a:spcPts val="0"/>
              </a:spcAft>
              <a:buSzPts val="1400"/>
              <a:buChar char="■"/>
              <a:defRPr i="1"/>
            </a:lvl6pPr>
            <a:lvl7pPr marL="3200400" lvl="6" indent="-317500" algn="ctr">
              <a:lnSpc>
                <a:spcPct val="115000"/>
              </a:lnSpc>
              <a:spcBef>
                <a:spcPts val="0"/>
              </a:spcBef>
              <a:spcAft>
                <a:spcPts val="0"/>
              </a:spcAft>
              <a:buSzPts val="1400"/>
              <a:buChar char="●"/>
              <a:defRPr i="1"/>
            </a:lvl7pPr>
            <a:lvl8pPr marL="3657600" lvl="7" indent="-317500" algn="ctr">
              <a:lnSpc>
                <a:spcPct val="115000"/>
              </a:lnSpc>
              <a:spcBef>
                <a:spcPts val="0"/>
              </a:spcBef>
              <a:spcAft>
                <a:spcPts val="0"/>
              </a:spcAft>
              <a:buSzPts val="1400"/>
              <a:buChar char="○"/>
              <a:defRPr i="1"/>
            </a:lvl8pPr>
            <a:lvl9pPr marL="4114800" lvl="8" indent="-317500" algn="ctr">
              <a:lnSpc>
                <a:spcPct val="115000"/>
              </a:lnSpc>
              <a:spcBef>
                <a:spcPts val="0"/>
              </a:spcBef>
              <a:spcAft>
                <a:spcPts val="0"/>
              </a:spcAft>
              <a:buSzPts val="1400"/>
              <a:buChar char="■"/>
              <a:defRPr i="1"/>
            </a:lvl9pPr>
          </a:lstStyle>
          <a:p>
            <a:endParaRPr/>
          </a:p>
        </p:txBody>
      </p:sp>
      <p:sp>
        <p:nvSpPr>
          <p:cNvPr id="139" name="Google Shape;139;g33f2de1e6ea_0_686"/>
          <p:cNvSpPr txBox="1"/>
          <p:nvPr/>
        </p:nvSpPr>
        <p:spPr>
          <a:xfrm>
            <a:off x="3593400" y="1181419"/>
            <a:ext cx="1957200" cy="653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9600"/>
              <a:buFont typeface="Arial"/>
              <a:buNone/>
            </a:pPr>
            <a:r>
              <a:rPr lang="en" sz="9600" b="1" i="0" u="none" strike="noStrike" cap="none">
                <a:solidFill>
                  <a:srgbClr val="FFEA79"/>
                </a:solidFill>
                <a:latin typeface="Arial"/>
                <a:ea typeface="Arial"/>
                <a:cs typeface="Arial"/>
                <a:sym typeface="Arial"/>
              </a:rPr>
              <a:t>“</a:t>
            </a:r>
            <a:endParaRPr sz="9600" b="1" i="0" u="none" strike="noStrike" cap="none">
              <a:solidFill>
                <a:srgbClr val="FFEA79"/>
              </a:solidFill>
              <a:latin typeface="Arial"/>
              <a:ea typeface="Arial"/>
              <a:cs typeface="Arial"/>
              <a:sym typeface="Arial"/>
            </a:endParaRPr>
          </a:p>
        </p:txBody>
      </p:sp>
      <p:sp>
        <p:nvSpPr>
          <p:cNvPr id="140" name="Google Shape;140;g33f2de1e6ea_0_686"/>
          <p:cNvSpPr/>
          <p:nvPr/>
        </p:nvSpPr>
        <p:spPr>
          <a:xfrm>
            <a:off x="5723283"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g33f2de1e6ea_0_686"/>
          <p:cNvSpPr/>
          <p:nvPr/>
        </p:nvSpPr>
        <p:spPr>
          <a:xfrm>
            <a:off x="7434177"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g33f2de1e6ea_0_686"/>
          <p:cNvSpPr/>
          <p:nvPr/>
        </p:nvSpPr>
        <p:spPr>
          <a:xfrm>
            <a:off x="0"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g33f2de1e6ea_0_686"/>
          <p:cNvSpPr/>
          <p:nvPr/>
        </p:nvSpPr>
        <p:spPr>
          <a:xfrm>
            <a:off x="1710425" y="1599675"/>
            <a:ext cx="1710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g33f2de1e6ea_0_686"/>
          <p:cNvSpPr txBox="1">
            <a:spLocks noGrp="1"/>
          </p:cNvSpPr>
          <p:nvPr>
            <p:ph type="sldNum" idx="12"/>
          </p:nvPr>
        </p:nvSpPr>
        <p:spPr>
          <a:xfrm>
            <a:off x="-125" y="4830281"/>
            <a:ext cx="9144000" cy="313500"/>
          </a:xfrm>
          <a:prstGeom prst="rect">
            <a:avLst/>
          </a:prstGeom>
          <a:noFill/>
          <a:ln>
            <a:noFill/>
          </a:ln>
        </p:spPr>
        <p:txBody>
          <a:bodyPr spcFirstLastPara="1" wrap="square" lIns="91425" tIns="91425" rIns="91425" bIns="91425" anchor="t" anchorCtr="0">
            <a:normAutofit/>
          </a:bodyPr>
          <a:lstStyle>
            <a:lvl1pPr marL="0" marR="0" lvl="0"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00589D"/>
              </a:buClr>
              <a:buSzPts val="2800"/>
              <a:buFont typeface="Arial"/>
              <a:buNone/>
              <a:defRPr sz="2800" b="0" i="0" u="none" strike="noStrike" cap="none">
                <a:solidFill>
                  <a:srgbClr val="00589D"/>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rgbClr val="00589D"/>
              </a:buClr>
              <a:buSzPts val="1800"/>
              <a:buFont typeface="Arial"/>
              <a:buChar char="●"/>
              <a:defRPr sz="1800" b="0" i="0" u="none" strike="noStrike" cap="none">
                <a:solidFill>
                  <a:srgbClr val="00589D"/>
                </a:solidFill>
                <a:latin typeface="Arial"/>
                <a:ea typeface="Arial"/>
                <a:cs typeface="Arial"/>
                <a:sym typeface="Arial"/>
              </a:defRPr>
            </a:lvl1pPr>
            <a:lvl2pPr marL="914400" marR="0" lvl="1"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2pPr>
            <a:lvl3pPr marL="1371600" marR="0" lvl="2"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3pPr>
            <a:lvl4pPr marL="1828800" marR="0" lvl="3"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4pPr>
            <a:lvl5pPr marL="2286000" marR="0" lvl="4"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5pPr>
            <a:lvl6pPr marL="2743200" marR="0" lvl="5"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6pPr>
            <a:lvl7pPr marL="3200400" marR="0" lvl="6"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7pPr>
            <a:lvl8pPr marL="3657600" marR="0" lvl="7"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8pPr>
            <a:lvl9pPr marL="4114800" marR="0" lvl="8"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9pPr>
          </a:lstStyle>
          <a:p>
            <a:endParaRPr/>
          </a:p>
        </p:txBody>
      </p:sp>
      <p:sp>
        <p:nvSpPr>
          <p:cNvPr id="8" name="Google Shape;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9" name="Google Shape;9;p21"/>
          <p:cNvGrpSpPr/>
          <p:nvPr/>
        </p:nvGrpSpPr>
        <p:grpSpPr>
          <a:xfrm>
            <a:off x="0" y="5057131"/>
            <a:ext cx="9143874" cy="146552"/>
            <a:chOff x="0" y="5056825"/>
            <a:chExt cx="9143874" cy="77100"/>
          </a:xfrm>
        </p:grpSpPr>
        <p:sp>
          <p:nvSpPr>
            <p:cNvPr id="10" name="Google Shape;10;p21"/>
            <p:cNvSpPr/>
            <p:nvPr/>
          </p:nvSpPr>
          <p:spPr>
            <a:xfrm>
              <a:off x="7355977"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1"/>
            <p:cNvSpPr/>
            <p:nvPr/>
          </p:nvSpPr>
          <p:spPr>
            <a:xfrm>
              <a:off x="8249874"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1"/>
            <p:cNvSpPr/>
            <p:nvPr/>
          </p:nvSpPr>
          <p:spPr>
            <a:xfrm>
              <a:off x="0"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1"/>
            <p:cNvSpPr/>
            <p:nvPr/>
          </p:nvSpPr>
          <p:spPr>
            <a:xfrm>
              <a:off x="893663" y="5056825"/>
              <a:ext cx="6462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4" name="Google Shape;14;p21"/>
          <p:cNvPicPr preferRelativeResize="0"/>
          <p:nvPr/>
        </p:nvPicPr>
        <p:blipFill rotWithShape="1">
          <a:blip r:embed="rId15">
            <a:alphaModFix/>
          </a:blip>
          <a:srcRect/>
          <a:stretch/>
        </p:blipFill>
        <p:spPr>
          <a:xfrm>
            <a:off x="7849100" y="115250"/>
            <a:ext cx="1232250" cy="12322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5"/>
        <p:cNvGrpSpPr/>
        <p:nvPr/>
      </p:nvGrpSpPr>
      <p:grpSpPr>
        <a:xfrm>
          <a:off x="0" y="0"/>
          <a:ext cx="0" cy="0"/>
          <a:chOff x="0" y="0"/>
          <a:chExt cx="0" cy="0"/>
        </a:xfrm>
      </p:grpSpPr>
      <p:sp>
        <p:nvSpPr>
          <p:cNvPr id="76" name="Google Shape;76;g33f2de1e6ea_0_6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00589D"/>
              </a:buClr>
              <a:buSzPts val="2800"/>
              <a:buFont typeface="Arial"/>
              <a:buNone/>
              <a:defRPr sz="2800" b="0" i="0" u="none" strike="noStrike" cap="none">
                <a:solidFill>
                  <a:srgbClr val="00589D"/>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7" name="Google Shape;77;g33f2de1e6ea_0_6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rgbClr val="00589D"/>
              </a:buClr>
              <a:buSzPts val="1800"/>
              <a:buFont typeface="Arial"/>
              <a:buChar char="●"/>
              <a:defRPr sz="1800" b="0" i="0" u="none" strike="noStrike" cap="none">
                <a:solidFill>
                  <a:srgbClr val="00589D"/>
                </a:solidFill>
                <a:latin typeface="Arial"/>
                <a:ea typeface="Arial"/>
                <a:cs typeface="Arial"/>
                <a:sym typeface="Arial"/>
              </a:defRPr>
            </a:lvl1pPr>
            <a:lvl2pPr marL="914400" marR="0" lvl="1"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2pPr>
            <a:lvl3pPr marL="1371600" marR="0" lvl="2"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3pPr>
            <a:lvl4pPr marL="1828800" marR="0" lvl="3"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4pPr>
            <a:lvl5pPr marL="2286000" marR="0" lvl="4"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5pPr>
            <a:lvl6pPr marL="2743200" marR="0" lvl="5"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6pPr>
            <a:lvl7pPr marL="3200400" marR="0" lvl="6"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7pPr>
            <a:lvl8pPr marL="3657600" marR="0" lvl="7"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8pPr>
            <a:lvl9pPr marL="4114800" marR="0" lvl="8" indent="-317500" algn="l" rtl="0">
              <a:lnSpc>
                <a:spcPct val="115000"/>
              </a:lnSpc>
              <a:spcBef>
                <a:spcPts val="0"/>
              </a:spcBef>
              <a:spcAft>
                <a:spcPts val="0"/>
              </a:spcAft>
              <a:buClr>
                <a:srgbClr val="00589D"/>
              </a:buClr>
              <a:buSzPts val="1400"/>
              <a:buFont typeface="Arial"/>
              <a:buChar char="■"/>
              <a:defRPr sz="1400" b="0" i="0" u="none" strike="noStrike" cap="none">
                <a:solidFill>
                  <a:srgbClr val="00589D"/>
                </a:solidFill>
                <a:latin typeface="Arial"/>
                <a:ea typeface="Arial"/>
                <a:cs typeface="Arial"/>
                <a:sym typeface="Arial"/>
              </a:defRPr>
            </a:lvl9pPr>
          </a:lstStyle>
          <a:p>
            <a:endParaRPr/>
          </a:p>
        </p:txBody>
      </p:sp>
      <p:sp>
        <p:nvSpPr>
          <p:cNvPr id="78" name="Google Shape;78;g33f2de1e6ea_0_6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79" name="Google Shape;79;g33f2de1e6ea_0_624"/>
          <p:cNvGrpSpPr/>
          <p:nvPr/>
        </p:nvGrpSpPr>
        <p:grpSpPr>
          <a:xfrm>
            <a:off x="0" y="5057110"/>
            <a:ext cx="9143874" cy="146552"/>
            <a:chOff x="0" y="5056825"/>
            <a:chExt cx="9143874" cy="77100"/>
          </a:xfrm>
        </p:grpSpPr>
        <p:sp>
          <p:nvSpPr>
            <p:cNvPr id="80" name="Google Shape;80;g33f2de1e6ea_0_624"/>
            <p:cNvSpPr/>
            <p:nvPr/>
          </p:nvSpPr>
          <p:spPr>
            <a:xfrm>
              <a:off x="7355977"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g33f2de1e6ea_0_624"/>
            <p:cNvSpPr/>
            <p:nvPr/>
          </p:nvSpPr>
          <p:spPr>
            <a:xfrm>
              <a:off x="8249874"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g33f2de1e6ea_0_624"/>
            <p:cNvSpPr/>
            <p:nvPr/>
          </p:nvSpPr>
          <p:spPr>
            <a:xfrm>
              <a:off x="0" y="5056825"/>
              <a:ext cx="8940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g33f2de1e6ea_0_624"/>
            <p:cNvSpPr/>
            <p:nvPr/>
          </p:nvSpPr>
          <p:spPr>
            <a:xfrm>
              <a:off x="893663" y="5056825"/>
              <a:ext cx="6462300" cy="77100"/>
            </a:xfrm>
            <a:prstGeom prst="rect">
              <a:avLst/>
            </a:prstGeom>
            <a:solidFill>
              <a:srgbClr val="00AA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84" name="Google Shape;84;g33f2de1e6ea_0_624"/>
          <p:cNvPicPr preferRelativeResize="0"/>
          <p:nvPr/>
        </p:nvPicPr>
        <p:blipFill rotWithShape="1">
          <a:blip r:embed="rId15">
            <a:alphaModFix/>
          </a:blip>
          <a:srcRect/>
          <a:stretch/>
        </p:blipFill>
        <p:spPr>
          <a:xfrm>
            <a:off x="7849100" y="115250"/>
            <a:ext cx="1232250" cy="12322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ocs.docker.com/engine/install/ubuntu/"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github.com/zeek/zeek-training.git" TargetMode="External"/><Relationship Id="rId5" Type="http://schemas.openxmlformats.org/officeDocument/2006/relationships/hyperlink" Target="https://docs.docker.com/desktop/install/windows-install/" TargetMode="External"/><Relationship Id="rId4" Type="http://schemas.openxmlformats.org/officeDocument/2006/relationships/hyperlink" Target="https://docs.docker.com/desktop/install/mac-install/"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cs.zeek.org/en/master/logs/index.html" TargetMode="Externa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zeek.org/" TargetMode="External"/><Relationship Id="rId7" Type="http://schemas.openxmlformats.org/officeDocument/2006/relationships/hyperlink" Target="https://docs.zeek.org/en/master/logs/index.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github.com/zeek/zeek-training/tree/master/Intro-to-Zeek/training-res" TargetMode="External"/><Relationship Id="rId5" Type="http://schemas.openxmlformats.org/officeDocument/2006/relationships/hyperlink" Target="https://zeek.org/community/" TargetMode="External"/><Relationship Id="rId4" Type="http://schemas.openxmlformats.org/officeDocument/2006/relationships/hyperlink" Target="https://zeek.org/slack"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cs.google.com/presentation/d/11UidS9npqvTF7Cv2-8OQMDh-7u1gXWx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
          <p:cNvSpPr txBox="1">
            <a:spLocks noGrp="1"/>
          </p:cNvSpPr>
          <p:nvPr>
            <p:ph type="ctrTitle"/>
          </p:nvPr>
        </p:nvSpPr>
        <p:spPr>
          <a:xfrm>
            <a:off x="645225" y="2762725"/>
            <a:ext cx="7664100" cy="2268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30177"/>
              <a:buNone/>
            </a:pPr>
            <a:r>
              <a:rPr lang="en" sz="3755"/>
              <a:t>Beginner Zeek Training</a:t>
            </a:r>
            <a:endParaRPr sz="3755"/>
          </a:p>
          <a:p>
            <a:pPr marL="0" lvl="0" indent="0" algn="l" rtl="0">
              <a:lnSpc>
                <a:spcPct val="100000"/>
              </a:lnSpc>
              <a:spcBef>
                <a:spcPts val="0"/>
              </a:spcBef>
              <a:spcAft>
                <a:spcPts val="0"/>
              </a:spcAft>
              <a:buSzPct val="130177"/>
              <a:buNone/>
            </a:pPr>
            <a:r>
              <a:rPr lang="en" sz="3755"/>
              <a:t>Session #1</a:t>
            </a:r>
            <a:endParaRPr sz="3755"/>
          </a:p>
          <a:p>
            <a:pPr marL="0" lvl="0" indent="0" algn="l" rtl="0">
              <a:lnSpc>
                <a:spcPct val="100000"/>
              </a:lnSpc>
              <a:spcBef>
                <a:spcPts val="0"/>
              </a:spcBef>
              <a:spcAft>
                <a:spcPts val="0"/>
              </a:spcAft>
              <a:buSzPct val="244444"/>
              <a:buNone/>
            </a:pPr>
            <a:br>
              <a:rPr lang="en" sz="2000"/>
            </a:br>
            <a:r>
              <a:rPr lang="en" sz="2000"/>
              <a:t>Taylor Schutt</a:t>
            </a:r>
            <a:endParaRPr sz="2000"/>
          </a:p>
          <a:p>
            <a:pPr marL="0" lvl="0" indent="0" algn="l" rtl="0">
              <a:lnSpc>
                <a:spcPct val="100000"/>
              </a:lnSpc>
              <a:spcBef>
                <a:spcPts val="0"/>
              </a:spcBef>
              <a:spcAft>
                <a:spcPts val="0"/>
              </a:spcAft>
              <a:buSzPct val="244444"/>
              <a:buNone/>
            </a:pPr>
            <a:r>
              <a:rPr lang="en" sz="2000"/>
              <a:t>Cybersecurity Administrator</a:t>
            </a:r>
            <a:br>
              <a:rPr lang="en" sz="2000"/>
            </a:br>
            <a:r>
              <a:rPr lang="en" sz="2000"/>
              <a:t>CENIC Information Security Office</a:t>
            </a:r>
            <a:endParaRPr sz="2000"/>
          </a:p>
          <a:p>
            <a:pPr marL="0" lvl="0" indent="0" algn="l" rtl="0">
              <a:lnSpc>
                <a:spcPct val="100000"/>
              </a:lnSpc>
              <a:spcBef>
                <a:spcPts val="0"/>
              </a:spcBef>
              <a:spcAft>
                <a:spcPts val="0"/>
              </a:spcAft>
              <a:buClr>
                <a:schemeClr val="dk1"/>
              </a:buClr>
              <a:buSzPct val="148146"/>
              <a:buFont typeface="Arial"/>
              <a:buNone/>
            </a:pP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AAE3"/>
                </a:solidFill>
              </a:rPr>
              <a:t>What is Zeek?</a:t>
            </a:r>
            <a:endParaRPr b="1">
              <a:solidFill>
                <a:srgbClr val="00AAE3"/>
              </a:solidFill>
            </a:endParaRPr>
          </a:p>
        </p:txBody>
      </p:sp>
      <p:sp>
        <p:nvSpPr>
          <p:cNvPr id="155" name="Google Shape;155;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Zeek is a passive, open-source network traffic analyzer. This tool is often used as a Network Security Monitoring (NSM) solution to support investigations of suspicious or malicious activity.</a:t>
            </a:r>
            <a:endParaRPr/>
          </a:p>
          <a:p>
            <a:pPr marL="0" lvl="0" indent="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t>This solution is able to be run on commodity hardware and provides organizations with a lower cost alternative to proprietary solutions.</a:t>
            </a:r>
            <a:endParaRPr/>
          </a:p>
          <a:p>
            <a:pPr marL="0" lvl="0" indent="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t>Zeek is deployed across a large variety of sites including universities, research labs, supercomputing centers, major corporations, and government agencies.</a:t>
            </a:r>
            <a:endParaRPr/>
          </a:p>
        </p:txBody>
      </p:sp>
      <p:sp>
        <p:nvSpPr>
          <p:cNvPr id="156" name="Google Shape;15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SzPts val="2800"/>
              <a:buNone/>
            </a:pPr>
            <a:r>
              <a:rPr lang="en" sz="3000" b="1">
                <a:solidFill>
                  <a:srgbClr val="00B0F0"/>
                </a:solidFill>
              </a:rPr>
              <a:t>Who Uses Zeek?</a:t>
            </a:r>
            <a:endParaRPr sz="3000" b="1"/>
          </a:p>
        </p:txBody>
      </p:sp>
      <p:sp>
        <p:nvSpPr>
          <p:cNvPr id="162" name="Google Shape;162;p3"/>
          <p:cNvSpPr txBox="1">
            <a:spLocks noGrp="1"/>
          </p:cNvSpPr>
          <p:nvPr>
            <p:ph type="body" idx="1"/>
          </p:nvPr>
        </p:nvSpPr>
        <p:spPr>
          <a:xfrm>
            <a:off x="311700" y="1246825"/>
            <a:ext cx="8520600" cy="3416400"/>
          </a:xfrm>
          <a:prstGeom prst="rect">
            <a:avLst/>
          </a:prstGeom>
          <a:noFill/>
          <a:ln>
            <a:noFill/>
          </a:ln>
        </p:spPr>
        <p:txBody>
          <a:bodyPr spcFirstLastPara="1" wrap="square" lIns="91425" tIns="91425" rIns="91425" bIns="91425" anchor="t" anchorCtr="0">
            <a:normAutofit fontScale="40000" lnSpcReduction="20000"/>
          </a:bodyPr>
          <a:lstStyle/>
          <a:p>
            <a:pPr marL="0" lvl="0" indent="0" algn="l" rtl="0">
              <a:lnSpc>
                <a:spcPct val="93000"/>
              </a:lnSpc>
              <a:spcBef>
                <a:spcPts val="0"/>
              </a:spcBef>
              <a:spcAft>
                <a:spcPts val="0"/>
              </a:spcAft>
              <a:buSzPct val="32701"/>
              <a:buNone/>
            </a:pPr>
            <a:endParaRPr sz="4625">
              <a:solidFill>
                <a:srgbClr val="00589D"/>
              </a:solidFill>
              <a:highlight>
                <a:srgbClr val="FFFFFF"/>
              </a:highlight>
            </a:endParaRPr>
          </a:p>
          <a:p>
            <a:pPr marL="0" lvl="0" indent="0" algn="l" rtl="0">
              <a:lnSpc>
                <a:spcPct val="93000"/>
              </a:lnSpc>
              <a:spcBef>
                <a:spcPts val="0"/>
              </a:spcBef>
              <a:spcAft>
                <a:spcPts val="0"/>
              </a:spcAft>
              <a:buSzPct val="32701"/>
              <a:buNone/>
            </a:pPr>
            <a:r>
              <a:rPr lang="en" sz="4625">
                <a:solidFill>
                  <a:srgbClr val="00589D"/>
                </a:solidFill>
                <a:highlight>
                  <a:srgbClr val="FFFFFF"/>
                </a:highlight>
              </a:rPr>
              <a:t>●  Malware Researchers</a:t>
            </a:r>
            <a:br>
              <a:rPr lang="en" sz="4625">
                <a:solidFill>
                  <a:srgbClr val="00589D"/>
                </a:solidFill>
                <a:highlight>
                  <a:srgbClr val="FFFFFF"/>
                </a:highlight>
              </a:rPr>
            </a:br>
            <a:r>
              <a:rPr lang="en" sz="3625">
                <a:solidFill>
                  <a:schemeClr val="dk1"/>
                </a:solidFill>
                <a:highlight>
                  <a:srgbClr val="FFFFFF"/>
                </a:highlight>
              </a:rPr>
              <a:t>						</a:t>
            </a:r>
            <a:endParaRPr sz="3625">
              <a:solidFill>
                <a:schemeClr val="dk1"/>
              </a:solidFill>
              <a:highlight>
                <a:srgbClr val="FFFFFF"/>
              </a:highlight>
            </a:endParaRPr>
          </a:p>
          <a:p>
            <a:pPr marL="0" lvl="0" indent="0" algn="l" rtl="0">
              <a:lnSpc>
                <a:spcPct val="115000"/>
              </a:lnSpc>
              <a:spcBef>
                <a:spcPts val="1200"/>
              </a:spcBef>
              <a:spcAft>
                <a:spcPts val="0"/>
              </a:spcAft>
              <a:buSzPct val="97296"/>
              <a:buNone/>
            </a:pPr>
            <a:r>
              <a:rPr lang="en" sz="4625">
                <a:solidFill>
                  <a:srgbClr val="00589D"/>
                </a:solidFill>
                <a:highlight>
                  <a:srgbClr val="FFFFFF"/>
                </a:highlight>
              </a:rPr>
              <a:t>●  Network Defenders</a:t>
            </a:r>
            <a:br>
              <a:rPr lang="en" sz="4625">
                <a:solidFill>
                  <a:srgbClr val="00589D"/>
                </a:solidFill>
                <a:highlight>
                  <a:srgbClr val="FFFFFF"/>
                </a:highlight>
              </a:rPr>
            </a:br>
            <a:r>
              <a:rPr lang="en" sz="4625">
                <a:solidFill>
                  <a:srgbClr val="00589D"/>
                </a:solidFill>
                <a:highlight>
                  <a:srgbClr val="FFFFFF"/>
                </a:highlight>
              </a:rPr>
              <a:t> </a:t>
            </a:r>
            <a:r>
              <a:rPr lang="en" sz="3625">
                <a:solidFill>
                  <a:schemeClr val="dk1"/>
                </a:solidFill>
                <a:highlight>
                  <a:srgbClr val="FFFFFF"/>
                </a:highlight>
              </a:rPr>
              <a:t>	</a:t>
            </a:r>
            <a:r>
              <a:rPr lang="en" sz="4225">
                <a:solidFill>
                  <a:srgbClr val="00589D"/>
                </a:solidFill>
                <a:highlight>
                  <a:srgbClr val="FFFFFF"/>
                </a:highlight>
              </a:rPr>
              <a:t>○  .edu / .gov / private sector</a:t>
            </a:r>
            <a:br>
              <a:rPr lang="en" sz="4225">
                <a:solidFill>
                  <a:srgbClr val="00589D"/>
                </a:solidFill>
                <a:highlight>
                  <a:srgbClr val="FFFFFF"/>
                </a:highlight>
              </a:rPr>
            </a:br>
            <a:r>
              <a:rPr lang="en" sz="4225">
                <a:solidFill>
                  <a:srgbClr val="00589D"/>
                </a:solidFill>
                <a:highlight>
                  <a:srgbClr val="FFFFFF"/>
                </a:highlight>
              </a:rPr>
              <a:t> </a:t>
            </a:r>
            <a:r>
              <a:rPr lang="en" sz="3625">
                <a:solidFill>
                  <a:schemeClr val="dk1"/>
                </a:solidFill>
                <a:highlight>
                  <a:srgbClr val="FFFFFF"/>
                </a:highlight>
              </a:rPr>
              <a:t>	</a:t>
            </a:r>
            <a:r>
              <a:rPr lang="en" sz="4225">
                <a:solidFill>
                  <a:srgbClr val="00589D"/>
                </a:solidFill>
                <a:highlight>
                  <a:srgbClr val="FFFFFF"/>
                </a:highlight>
              </a:rPr>
              <a:t>○  Forensics, Monitoring, Detection</a:t>
            </a:r>
            <a:br>
              <a:rPr lang="en" sz="4225">
                <a:solidFill>
                  <a:srgbClr val="00589D"/>
                </a:solidFill>
                <a:highlight>
                  <a:srgbClr val="FFFFFF"/>
                </a:highlight>
              </a:rPr>
            </a:br>
            <a:endParaRPr sz="3625">
              <a:solidFill>
                <a:schemeClr val="dk1"/>
              </a:solidFill>
              <a:highlight>
                <a:srgbClr val="FFFFFF"/>
              </a:highlight>
            </a:endParaRPr>
          </a:p>
          <a:p>
            <a:pPr marL="0" lvl="0" indent="0" algn="l" rtl="0">
              <a:lnSpc>
                <a:spcPct val="115000"/>
              </a:lnSpc>
              <a:spcBef>
                <a:spcPts val="1200"/>
              </a:spcBef>
              <a:spcAft>
                <a:spcPts val="1200"/>
              </a:spcAft>
              <a:buSzPct val="97296"/>
              <a:buNone/>
            </a:pPr>
            <a:r>
              <a:rPr lang="en" sz="4625">
                <a:solidFill>
                  <a:srgbClr val="00589D"/>
                </a:solidFill>
                <a:highlight>
                  <a:srgbClr val="FFFFFF"/>
                </a:highlight>
              </a:rPr>
              <a:t>●  Network Researchers</a:t>
            </a:r>
            <a:br>
              <a:rPr lang="en" sz="4625">
                <a:solidFill>
                  <a:srgbClr val="00589D"/>
                </a:solidFill>
                <a:highlight>
                  <a:srgbClr val="FFFFFF"/>
                </a:highlight>
              </a:rPr>
            </a:br>
            <a:r>
              <a:rPr lang="en" sz="4625">
                <a:solidFill>
                  <a:srgbClr val="00589D"/>
                </a:solidFill>
                <a:highlight>
                  <a:srgbClr val="FFFFFF"/>
                </a:highlight>
              </a:rPr>
              <a:t> </a:t>
            </a:r>
            <a:r>
              <a:rPr lang="en" sz="3625">
                <a:solidFill>
                  <a:schemeClr val="dk1"/>
                </a:solidFill>
                <a:highlight>
                  <a:srgbClr val="FFFFFF"/>
                </a:highlight>
              </a:rPr>
              <a:t>							</a:t>
            </a:r>
            <a:br>
              <a:rPr lang="en" sz="3625">
                <a:solidFill>
                  <a:schemeClr val="dk1"/>
                </a:solidFill>
                <a:highlight>
                  <a:srgbClr val="FFFFFF"/>
                </a:highlight>
              </a:rPr>
            </a:br>
            <a:r>
              <a:rPr lang="en" sz="4625">
                <a:solidFill>
                  <a:srgbClr val="00589D"/>
                </a:solidFill>
                <a:highlight>
                  <a:srgbClr val="FFFFFF"/>
                </a:highlight>
              </a:rPr>
              <a:t>●  People building Zeek in their products </a:t>
            </a:r>
            <a:endParaRPr/>
          </a:p>
        </p:txBody>
      </p:sp>
      <p:sp>
        <p:nvSpPr>
          <p:cNvPr id="163" name="Google Shape;16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g33eef5603a7_0_84"/>
          <p:cNvPicPr preferRelativeResize="0"/>
          <p:nvPr/>
        </p:nvPicPr>
        <p:blipFill rotWithShape="1">
          <a:blip r:embed="rId3">
            <a:alphaModFix/>
          </a:blip>
          <a:srcRect/>
          <a:stretch/>
        </p:blipFill>
        <p:spPr>
          <a:xfrm>
            <a:off x="638002" y="3051700"/>
            <a:ext cx="2023650" cy="1749175"/>
          </a:xfrm>
          <a:prstGeom prst="rect">
            <a:avLst/>
          </a:prstGeom>
          <a:noFill/>
          <a:ln>
            <a:noFill/>
          </a:ln>
        </p:spPr>
      </p:pic>
      <p:pic>
        <p:nvPicPr>
          <p:cNvPr id="169" name="Google Shape;169;g33eef5603a7_0_84"/>
          <p:cNvPicPr preferRelativeResize="0"/>
          <p:nvPr/>
        </p:nvPicPr>
        <p:blipFill rotWithShape="1">
          <a:blip r:embed="rId4">
            <a:alphaModFix/>
          </a:blip>
          <a:srcRect/>
          <a:stretch/>
        </p:blipFill>
        <p:spPr>
          <a:xfrm>
            <a:off x="3261038" y="1017713"/>
            <a:ext cx="1876425" cy="1800225"/>
          </a:xfrm>
          <a:prstGeom prst="rect">
            <a:avLst/>
          </a:prstGeom>
          <a:noFill/>
          <a:ln>
            <a:noFill/>
          </a:ln>
        </p:spPr>
      </p:pic>
      <p:pic>
        <p:nvPicPr>
          <p:cNvPr id="170" name="Google Shape;170;g33eef5603a7_0_84"/>
          <p:cNvPicPr preferRelativeResize="0"/>
          <p:nvPr/>
        </p:nvPicPr>
        <p:blipFill rotWithShape="1">
          <a:blip r:embed="rId5">
            <a:alphaModFix/>
          </a:blip>
          <a:srcRect/>
          <a:stretch/>
        </p:blipFill>
        <p:spPr>
          <a:xfrm>
            <a:off x="6079977" y="2817938"/>
            <a:ext cx="2280575" cy="2020763"/>
          </a:xfrm>
          <a:prstGeom prst="rect">
            <a:avLst/>
          </a:prstGeom>
          <a:noFill/>
          <a:ln>
            <a:noFill/>
          </a:ln>
        </p:spPr>
      </p:pic>
      <p:pic>
        <p:nvPicPr>
          <p:cNvPr id="171" name="Google Shape;171;g33eef5603a7_0_84"/>
          <p:cNvPicPr preferRelativeResize="0"/>
          <p:nvPr/>
        </p:nvPicPr>
        <p:blipFill rotWithShape="1">
          <a:blip r:embed="rId6">
            <a:alphaModFix/>
          </a:blip>
          <a:srcRect/>
          <a:stretch/>
        </p:blipFill>
        <p:spPr>
          <a:xfrm>
            <a:off x="5353275" y="1619949"/>
            <a:ext cx="1534275" cy="1097301"/>
          </a:xfrm>
          <a:prstGeom prst="rect">
            <a:avLst/>
          </a:prstGeom>
          <a:noFill/>
          <a:ln>
            <a:noFill/>
          </a:ln>
        </p:spPr>
      </p:pic>
      <p:pic>
        <p:nvPicPr>
          <p:cNvPr id="172" name="Google Shape;172;g33eef5603a7_0_84"/>
          <p:cNvPicPr preferRelativeResize="0"/>
          <p:nvPr/>
        </p:nvPicPr>
        <p:blipFill rotWithShape="1">
          <a:blip r:embed="rId7">
            <a:alphaModFix/>
          </a:blip>
          <a:srcRect/>
          <a:stretch/>
        </p:blipFill>
        <p:spPr>
          <a:xfrm>
            <a:off x="1613125" y="1690625"/>
            <a:ext cx="1534275" cy="1069725"/>
          </a:xfrm>
          <a:prstGeom prst="rect">
            <a:avLst/>
          </a:prstGeom>
          <a:noFill/>
          <a:ln>
            <a:noFill/>
          </a:ln>
        </p:spPr>
      </p:pic>
      <p:sp>
        <p:nvSpPr>
          <p:cNvPr id="173" name="Google Shape;173;g33eef5603a7_0_84"/>
          <p:cNvSpPr txBox="1"/>
          <p:nvPr/>
        </p:nvSpPr>
        <p:spPr>
          <a:xfrm>
            <a:off x="1525075" y="1956350"/>
            <a:ext cx="1469700" cy="424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Sniffs traffic</a:t>
            </a:r>
            <a:endParaRPr sz="1800" b="0" i="0" u="none" strike="noStrike" cap="none">
              <a:solidFill>
                <a:schemeClr val="dk1"/>
              </a:solidFill>
              <a:latin typeface="Arial"/>
              <a:ea typeface="Arial"/>
              <a:cs typeface="Arial"/>
              <a:sym typeface="Arial"/>
            </a:endParaRPr>
          </a:p>
        </p:txBody>
      </p:sp>
      <p:sp>
        <p:nvSpPr>
          <p:cNvPr id="174" name="Google Shape;174;g33eef5603a7_0_84"/>
          <p:cNvSpPr txBox="1"/>
          <p:nvPr/>
        </p:nvSpPr>
        <p:spPr>
          <a:xfrm>
            <a:off x="5934800" y="1956350"/>
            <a:ext cx="1985400" cy="424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Generates logs</a:t>
            </a:r>
            <a:endParaRPr sz="1800" b="0" i="0" u="none" strike="noStrike" cap="none">
              <a:solidFill>
                <a:schemeClr val="dk1"/>
              </a:solidFill>
              <a:latin typeface="Arial"/>
              <a:ea typeface="Arial"/>
              <a:cs typeface="Arial"/>
              <a:sym typeface="Arial"/>
            </a:endParaRPr>
          </a:p>
        </p:txBody>
      </p:sp>
      <p:sp>
        <p:nvSpPr>
          <p:cNvPr id="175" name="Google Shape;175;g33eef5603a7_0_84"/>
          <p:cNvSpPr txBox="1"/>
          <p:nvPr/>
        </p:nvSpPr>
        <p:spPr>
          <a:xfrm>
            <a:off x="6294500" y="3319475"/>
            <a:ext cx="1834500" cy="1342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Arial"/>
                <a:ea typeface="Arial"/>
                <a:cs typeface="Arial"/>
                <a:sym typeface="Arial"/>
              </a:rPr>
              <a:t>http.log </a:t>
            </a: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Arial"/>
                <a:ea typeface="Arial"/>
                <a:cs typeface="Arial"/>
                <a:sym typeface="Arial"/>
              </a:rPr>
              <a:t>ssl.log </a:t>
            </a: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Arial"/>
                <a:ea typeface="Arial"/>
                <a:cs typeface="Arial"/>
                <a:sym typeface="Arial"/>
              </a:rPr>
              <a:t>ssh.log</a:t>
            </a: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Arial"/>
                <a:ea typeface="Arial"/>
                <a:cs typeface="Arial"/>
                <a:sym typeface="Arial"/>
              </a:rPr>
              <a:t>smtp.log</a:t>
            </a: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Arial"/>
                <a:ea typeface="Arial"/>
                <a:cs typeface="Arial"/>
                <a:sym typeface="Arial"/>
              </a:rPr>
              <a:t>weird.log </a:t>
            </a: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Arial"/>
                <a:ea typeface="Arial"/>
                <a:cs typeface="Arial"/>
                <a:sym typeface="Arial"/>
              </a:rPr>
              <a:t>notice.log </a:t>
            </a: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1"/>
              </a:solidFill>
              <a:latin typeface="Arial"/>
              <a:ea typeface="Arial"/>
              <a:cs typeface="Arial"/>
              <a:sym typeface="Arial"/>
            </a:endParaRPr>
          </a:p>
        </p:txBody>
      </p:sp>
      <p:sp>
        <p:nvSpPr>
          <p:cNvPr id="176" name="Google Shape;176;g33eef5603a7_0_84"/>
          <p:cNvSpPr txBox="1"/>
          <p:nvPr/>
        </p:nvSpPr>
        <p:spPr>
          <a:xfrm>
            <a:off x="3625625" y="665225"/>
            <a:ext cx="1294800" cy="352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Zeek NSM</a:t>
            </a:r>
            <a:endParaRPr sz="1800" b="0" i="0" u="none" strike="noStrike" cap="none">
              <a:solidFill>
                <a:schemeClr val="dk1"/>
              </a:solidFill>
              <a:latin typeface="Arial"/>
              <a:ea typeface="Arial"/>
              <a:cs typeface="Arial"/>
              <a:sym typeface="Arial"/>
            </a:endParaRPr>
          </a:p>
        </p:txBody>
      </p:sp>
      <p:sp>
        <p:nvSpPr>
          <p:cNvPr id="177" name="Google Shape;177;g33eef5603a7_0_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4</a:t>
            </a:fld>
            <a:endParaRPr/>
          </a:p>
        </p:txBody>
      </p:sp>
      <p:sp>
        <p:nvSpPr>
          <p:cNvPr id="178" name="Google Shape;178;g33eef5603a7_0_84"/>
          <p:cNvSpPr txBox="1">
            <a:spLocks noGrp="1"/>
          </p:cNvSpPr>
          <p:nvPr>
            <p:ph type="title"/>
          </p:nvPr>
        </p:nvSpPr>
        <p:spPr>
          <a:xfrm>
            <a:off x="311700" y="925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SzPts val="2800"/>
              <a:buNone/>
            </a:pPr>
            <a:r>
              <a:rPr lang="en" sz="3000" b="1">
                <a:solidFill>
                  <a:srgbClr val="00B0F0"/>
                </a:solidFill>
              </a:rPr>
              <a:t>Zeek Architecture</a:t>
            </a:r>
            <a:endParaRPr sz="30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3eef5603a7_0_248"/>
          <p:cNvSpPr txBox="1"/>
          <p:nvPr/>
        </p:nvSpPr>
        <p:spPr>
          <a:xfrm>
            <a:off x="6171275" y="1556500"/>
            <a:ext cx="1294800" cy="35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111"/>
              <a:buFont typeface="Arial"/>
              <a:buNone/>
            </a:pPr>
            <a:r>
              <a:rPr lang="en" sz="1800" b="1" i="0" u="none" strike="noStrike" cap="none">
                <a:solidFill>
                  <a:srgbClr val="00B0F0"/>
                </a:solidFill>
                <a:latin typeface="Arial"/>
                <a:ea typeface="Arial"/>
                <a:cs typeface="Arial"/>
                <a:sym typeface="Arial"/>
              </a:rPr>
              <a:t>TAP</a:t>
            </a:r>
            <a:endParaRPr sz="1800" b="1" i="0" u="none" strike="noStrike" cap="none">
              <a:solidFill>
                <a:srgbClr val="00B0F0"/>
              </a:solidFill>
              <a:latin typeface="Arial"/>
              <a:ea typeface="Arial"/>
              <a:cs typeface="Arial"/>
              <a:sym typeface="Arial"/>
            </a:endParaRPr>
          </a:p>
        </p:txBody>
      </p:sp>
      <p:sp>
        <p:nvSpPr>
          <p:cNvPr id="184" name="Google Shape;184;g33eef5603a7_0_248"/>
          <p:cNvSpPr txBox="1"/>
          <p:nvPr/>
        </p:nvSpPr>
        <p:spPr>
          <a:xfrm>
            <a:off x="1535875" y="1556500"/>
            <a:ext cx="1591200" cy="35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111"/>
              <a:buFont typeface="Arial"/>
              <a:buNone/>
            </a:pPr>
            <a:r>
              <a:rPr lang="en" sz="1800" b="1" i="0" u="none" strike="noStrike" cap="none">
                <a:solidFill>
                  <a:srgbClr val="00B0F0"/>
                </a:solidFill>
                <a:latin typeface="Arial"/>
                <a:ea typeface="Arial"/>
                <a:cs typeface="Arial"/>
                <a:sym typeface="Arial"/>
              </a:rPr>
              <a:t>SPAN</a:t>
            </a:r>
            <a:endParaRPr sz="1800" b="1" i="0" u="none" strike="noStrike" cap="none">
              <a:solidFill>
                <a:srgbClr val="00B0F0"/>
              </a:solidFill>
              <a:latin typeface="Arial"/>
              <a:ea typeface="Arial"/>
              <a:cs typeface="Arial"/>
              <a:sym typeface="Arial"/>
            </a:endParaRPr>
          </a:p>
        </p:txBody>
      </p:sp>
      <p:pic>
        <p:nvPicPr>
          <p:cNvPr id="185" name="Google Shape;185;g33eef5603a7_0_248"/>
          <p:cNvPicPr preferRelativeResize="0"/>
          <p:nvPr/>
        </p:nvPicPr>
        <p:blipFill rotWithShape="1">
          <a:blip r:embed="rId3">
            <a:alphaModFix/>
          </a:blip>
          <a:srcRect/>
          <a:stretch/>
        </p:blipFill>
        <p:spPr>
          <a:xfrm>
            <a:off x="5117725" y="2457424"/>
            <a:ext cx="3401899" cy="1478175"/>
          </a:xfrm>
          <a:prstGeom prst="rect">
            <a:avLst/>
          </a:prstGeom>
          <a:noFill/>
          <a:ln>
            <a:noFill/>
          </a:ln>
        </p:spPr>
      </p:pic>
      <p:sp>
        <p:nvSpPr>
          <p:cNvPr id="186" name="Google Shape;186;g33eef5603a7_0_248"/>
          <p:cNvSpPr txBox="1"/>
          <p:nvPr/>
        </p:nvSpPr>
        <p:spPr>
          <a:xfrm>
            <a:off x="4001775" y="1556500"/>
            <a:ext cx="1294800" cy="35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111"/>
              <a:buFont typeface="Arial"/>
              <a:buNone/>
            </a:pPr>
            <a:r>
              <a:rPr lang="en" sz="1800" b="1" i="0" u="sng" strike="noStrike" cap="none">
                <a:solidFill>
                  <a:srgbClr val="00B0F0"/>
                </a:solidFill>
                <a:latin typeface="Arial"/>
                <a:ea typeface="Arial"/>
                <a:cs typeface="Arial"/>
                <a:sym typeface="Arial"/>
              </a:rPr>
              <a:t>vs</a:t>
            </a:r>
            <a:endParaRPr sz="1800" b="1" i="0" u="sng" strike="noStrike" cap="none">
              <a:solidFill>
                <a:srgbClr val="00B0F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sng" strike="noStrike" cap="none">
              <a:solidFill>
                <a:schemeClr val="dk1"/>
              </a:solidFill>
              <a:latin typeface="Arial"/>
              <a:ea typeface="Arial"/>
              <a:cs typeface="Arial"/>
              <a:sym typeface="Arial"/>
            </a:endParaRPr>
          </a:p>
        </p:txBody>
      </p:sp>
      <p:sp>
        <p:nvSpPr>
          <p:cNvPr id="187" name="Google Shape;187;g33eef5603a7_0_2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5</a:t>
            </a:fld>
            <a:endParaRPr/>
          </a:p>
        </p:txBody>
      </p:sp>
      <p:pic>
        <p:nvPicPr>
          <p:cNvPr id="188" name="Google Shape;188;g33eef5603a7_0_248"/>
          <p:cNvPicPr preferRelativeResize="0"/>
          <p:nvPr/>
        </p:nvPicPr>
        <p:blipFill rotWithShape="1">
          <a:blip r:embed="rId4">
            <a:alphaModFix/>
          </a:blip>
          <a:srcRect/>
          <a:stretch/>
        </p:blipFill>
        <p:spPr>
          <a:xfrm>
            <a:off x="797150" y="1973300"/>
            <a:ext cx="3334501" cy="2976701"/>
          </a:xfrm>
          <a:prstGeom prst="rect">
            <a:avLst/>
          </a:prstGeom>
          <a:noFill/>
          <a:ln>
            <a:noFill/>
          </a:ln>
        </p:spPr>
      </p:pic>
      <p:sp>
        <p:nvSpPr>
          <p:cNvPr id="189" name="Google Shape;189;g33eef5603a7_0_248"/>
          <p:cNvSpPr txBox="1">
            <a:spLocks noGrp="1"/>
          </p:cNvSpPr>
          <p:nvPr>
            <p:ph type="title"/>
          </p:nvPr>
        </p:nvSpPr>
        <p:spPr>
          <a:xfrm>
            <a:off x="311700" y="925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SzPts val="2800"/>
              <a:buNone/>
            </a:pPr>
            <a:r>
              <a:rPr lang="en" sz="3000" b="1">
                <a:solidFill>
                  <a:srgbClr val="00B0F0"/>
                </a:solidFill>
              </a:rPr>
              <a:t>Zeek Architecture</a:t>
            </a:r>
            <a:endParaRPr sz="30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20000"/>
              </a:lnSpc>
              <a:spcBef>
                <a:spcPts val="0"/>
              </a:spcBef>
              <a:spcAft>
                <a:spcPts val="0"/>
              </a:spcAft>
              <a:buClr>
                <a:schemeClr val="dk1"/>
              </a:buClr>
              <a:buSzPct val="93333"/>
              <a:buFont typeface="Arial"/>
              <a:buNone/>
            </a:pPr>
            <a:r>
              <a:rPr lang="en" sz="3000" b="1">
                <a:solidFill>
                  <a:srgbClr val="00B0F0"/>
                </a:solidFill>
              </a:rPr>
              <a:t>Container Overview</a:t>
            </a:r>
            <a:endParaRPr sz="3000" b="1"/>
          </a:p>
          <a:p>
            <a:pPr marL="0" lvl="0" indent="0" algn="l" rtl="0">
              <a:lnSpc>
                <a:spcPct val="100000"/>
              </a:lnSpc>
              <a:spcBef>
                <a:spcPts val="0"/>
              </a:spcBef>
              <a:spcAft>
                <a:spcPts val="0"/>
              </a:spcAft>
              <a:buSzPct val="111111"/>
              <a:buNone/>
            </a:pPr>
            <a:endParaRPr/>
          </a:p>
        </p:txBody>
      </p:sp>
      <p:sp>
        <p:nvSpPr>
          <p:cNvPr id="195" name="Google Shape;195;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We will be utilizing a container to run Zeek within the Docker Desktop Application.</a:t>
            </a:r>
            <a:endParaRPr/>
          </a:p>
          <a:p>
            <a:pPr marL="0" lvl="0" indent="0" algn="l" rtl="0">
              <a:lnSpc>
                <a:spcPct val="115000"/>
              </a:lnSpc>
              <a:spcBef>
                <a:spcPts val="0"/>
              </a:spcBef>
              <a:spcAft>
                <a:spcPts val="0"/>
              </a:spcAft>
              <a:buSzPts val="1800"/>
              <a:buNone/>
            </a:pPr>
            <a:endParaRPr/>
          </a:p>
          <a:p>
            <a:pPr marL="0" lvl="0" indent="0" algn="l" rtl="0">
              <a:lnSpc>
                <a:spcPct val="115000"/>
              </a:lnSpc>
              <a:spcBef>
                <a:spcPts val="0"/>
              </a:spcBef>
              <a:spcAft>
                <a:spcPts val="0"/>
              </a:spcAft>
              <a:buSzPts val="1800"/>
              <a:buNone/>
            </a:pPr>
            <a:r>
              <a:rPr lang="en"/>
              <a:t>A container refers to a package of software that contains all of the necessary elements to run an application in any operating system environment.</a:t>
            </a:r>
            <a:endParaRPr/>
          </a:p>
          <a:p>
            <a:pPr marL="0" lvl="0" indent="0" algn="l" rtl="0">
              <a:lnSpc>
                <a:spcPct val="115000"/>
              </a:lnSpc>
              <a:spcBef>
                <a:spcPts val="0"/>
              </a:spcBef>
              <a:spcAft>
                <a:spcPts val="0"/>
              </a:spcAft>
              <a:buSzPts val="1800"/>
              <a:buNone/>
            </a:pPr>
            <a:endParaRPr/>
          </a:p>
          <a:p>
            <a:pPr marL="0" lvl="0" indent="0" algn="l" rtl="0">
              <a:lnSpc>
                <a:spcPct val="115000"/>
              </a:lnSpc>
              <a:spcBef>
                <a:spcPts val="0"/>
              </a:spcBef>
              <a:spcAft>
                <a:spcPts val="0"/>
              </a:spcAft>
              <a:buSzPts val="1800"/>
              <a:buNone/>
            </a:pPr>
            <a:r>
              <a:rPr lang="en"/>
              <a:t>Containers are lightweight, scaleable, and allow applications to move between different environments such as Windows, Apple, and Linux devices.</a:t>
            </a:r>
            <a:endParaRPr/>
          </a:p>
          <a:p>
            <a:pPr marL="0" lvl="0" indent="0" algn="l" rtl="0">
              <a:lnSpc>
                <a:spcPct val="115000"/>
              </a:lnSpc>
              <a:spcBef>
                <a:spcPts val="0"/>
              </a:spcBef>
              <a:spcAft>
                <a:spcPts val="0"/>
              </a:spcAft>
              <a:buSzPts val="1800"/>
              <a:buNone/>
            </a:pPr>
            <a:endParaRPr/>
          </a:p>
          <a:p>
            <a:pPr marL="0" lvl="0" indent="0" algn="l" rtl="0">
              <a:lnSpc>
                <a:spcPct val="115000"/>
              </a:lnSpc>
              <a:spcBef>
                <a:spcPts val="0"/>
              </a:spcBef>
              <a:spcAft>
                <a:spcPts val="0"/>
              </a:spcAft>
              <a:buSzPts val="1800"/>
              <a:buNone/>
            </a:pPr>
            <a:r>
              <a:rPr lang="en"/>
              <a:t>The container image will allow us to practice using this software in an isolated environment that is independent of our host operating system.</a:t>
            </a:r>
            <a:endParaRPr/>
          </a:p>
        </p:txBody>
      </p:sp>
      <p:sp>
        <p:nvSpPr>
          <p:cNvPr id="196" name="Google Shape;196;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30b8fcfd7b_0_51"/>
          <p:cNvSpPr txBox="1">
            <a:spLocks noGrp="1"/>
          </p:cNvSpPr>
          <p:nvPr>
            <p:ph type="title"/>
          </p:nvPr>
        </p:nvSpPr>
        <p:spPr>
          <a:xfrm>
            <a:off x="311700" y="2741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SzPts val="2800"/>
              <a:buNone/>
            </a:pPr>
            <a:r>
              <a:rPr lang="en" sz="3000" b="1">
                <a:solidFill>
                  <a:srgbClr val="00B0F0"/>
                </a:solidFill>
              </a:rPr>
              <a:t>Docker / Zeek Usage</a:t>
            </a:r>
            <a:endParaRPr sz="3000" b="1"/>
          </a:p>
        </p:txBody>
      </p:sp>
      <p:sp>
        <p:nvSpPr>
          <p:cNvPr id="202" name="Google Shape;202;g330b8fcfd7b_0_51"/>
          <p:cNvSpPr txBox="1">
            <a:spLocks noGrp="1"/>
          </p:cNvSpPr>
          <p:nvPr>
            <p:ph type="body" idx="1"/>
          </p:nvPr>
        </p:nvSpPr>
        <p:spPr>
          <a:xfrm>
            <a:off x="311700" y="948695"/>
            <a:ext cx="8520600" cy="4089000"/>
          </a:xfrm>
          <a:prstGeom prst="rect">
            <a:avLst/>
          </a:prstGeom>
          <a:noFill/>
          <a:ln>
            <a:noFill/>
          </a:ln>
        </p:spPr>
        <p:txBody>
          <a:bodyPr spcFirstLastPara="1" wrap="square" lIns="91425" tIns="91425" rIns="91425" bIns="91425" anchor="t" anchorCtr="0">
            <a:noAutofit/>
          </a:bodyPr>
          <a:lstStyle/>
          <a:p>
            <a:pPr marL="457200" lvl="0" indent="-323850" algn="l" rtl="0">
              <a:lnSpc>
                <a:spcPct val="130000"/>
              </a:lnSpc>
              <a:spcBef>
                <a:spcPts val="0"/>
              </a:spcBef>
              <a:spcAft>
                <a:spcPts val="0"/>
              </a:spcAft>
              <a:buClr>
                <a:srgbClr val="00589D"/>
              </a:buClr>
              <a:buSzPts val="1500"/>
              <a:buChar char="●"/>
            </a:pPr>
            <a:r>
              <a:rPr lang="en" sz="1531" dirty="0"/>
              <a:t>Step 1: Setup Docker on your system, open the application, and open a terminal session.</a:t>
            </a:r>
            <a:endParaRPr sz="1531" dirty="0"/>
          </a:p>
          <a:p>
            <a:pPr marL="914400" lvl="1" indent="-319468" algn="l" rtl="0">
              <a:lnSpc>
                <a:spcPct val="130000"/>
              </a:lnSpc>
              <a:spcBef>
                <a:spcPts val="0"/>
              </a:spcBef>
              <a:spcAft>
                <a:spcPts val="0"/>
              </a:spcAft>
              <a:buClr>
                <a:srgbClr val="49B0F0"/>
              </a:buClr>
              <a:buSzPts val="1431"/>
              <a:buChar char="○"/>
            </a:pPr>
            <a:r>
              <a:rPr lang="en" sz="1250" u="sng" dirty="0">
                <a:solidFill>
                  <a:srgbClr val="49B0F0"/>
                </a:solidFill>
                <a:hlinkClick r:id="rId3">
                  <a:extLst>
                    <a:ext uri="{A12FA001-AC4F-418D-AE19-62706E023703}">
                      <ahyp:hlinkClr xmlns:ahyp="http://schemas.microsoft.com/office/drawing/2018/hyperlinkcolor" val="tx"/>
                    </a:ext>
                  </a:extLst>
                </a:hlinkClick>
              </a:rPr>
              <a:t>https://docs.docker.com/engine/install/ubuntu/</a:t>
            </a:r>
            <a:endParaRPr sz="1431" dirty="0">
              <a:solidFill>
                <a:srgbClr val="49B0F0"/>
              </a:solidFill>
            </a:endParaRPr>
          </a:p>
          <a:p>
            <a:pPr marL="914400" lvl="1" indent="-319468" algn="l" rtl="0">
              <a:lnSpc>
                <a:spcPct val="130000"/>
              </a:lnSpc>
              <a:spcBef>
                <a:spcPts val="0"/>
              </a:spcBef>
              <a:spcAft>
                <a:spcPts val="0"/>
              </a:spcAft>
              <a:buClr>
                <a:srgbClr val="49B0F0"/>
              </a:buClr>
              <a:buSzPts val="1431"/>
              <a:buChar char="○"/>
            </a:pPr>
            <a:r>
              <a:rPr lang="en" sz="1250" u="sng" dirty="0">
                <a:solidFill>
                  <a:srgbClr val="49B0F0"/>
                </a:solidFill>
                <a:hlinkClick r:id="rId4">
                  <a:extLst>
                    <a:ext uri="{A12FA001-AC4F-418D-AE19-62706E023703}">
                      <ahyp:hlinkClr xmlns:ahyp="http://schemas.microsoft.com/office/drawing/2018/hyperlinkcolor" val="tx"/>
                    </a:ext>
                  </a:extLst>
                </a:hlinkClick>
              </a:rPr>
              <a:t>https://docs.docker.com/desktop/install/mac-install/</a:t>
            </a:r>
            <a:endParaRPr sz="1431" dirty="0">
              <a:solidFill>
                <a:srgbClr val="49B0F0"/>
              </a:solidFill>
            </a:endParaRPr>
          </a:p>
          <a:p>
            <a:pPr marL="914400" lvl="1" indent="-319468" algn="l" rtl="0">
              <a:lnSpc>
                <a:spcPct val="130000"/>
              </a:lnSpc>
              <a:spcBef>
                <a:spcPts val="0"/>
              </a:spcBef>
              <a:spcAft>
                <a:spcPts val="0"/>
              </a:spcAft>
              <a:buSzPts val="1431"/>
              <a:buChar char="○"/>
            </a:pPr>
            <a:r>
              <a:rPr lang="en" sz="1250" u="sng" dirty="0">
                <a:solidFill>
                  <a:srgbClr val="49B0F0"/>
                </a:solidFill>
                <a:hlinkClick r:id="rId5">
                  <a:extLst>
                    <a:ext uri="{A12FA001-AC4F-418D-AE19-62706E023703}">
                      <ahyp:hlinkClr xmlns:ahyp="http://schemas.microsoft.com/office/drawing/2018/hyperlinkcolor" val="tx"/>
                    </a:ext>
                  </a:extLst>
                </a:hlinkClick>
              </a:rPr>
              <a:t>https://docs.docker.com/desktop/install/windows-install/</a:t>
            </a:r>
            <a:br>
              <a:rPr lang="en" sz="1431" dirty="0"/>
            </a:br>
            <a:endParaRPr sz="1431" dirty="0"/>
          </a:p>
          <a:p>
            <a:pPr marL="457200" lvl="0" indent="-323899" algn="l" rtl="0">
              <a:lnSpc>
                <a:spcPct val="130000"/>
              </a:lnSpc>
              <a:spcBef>
                <a:spcPts val="0"/>
              </a:spcBef>
              <a:spcAft>
                <a:spcPts val="0"/>
              </a:spcAft>
              <a:buClr>
                <a:srgbClr val="00589D"/>
              </a:buClr>
              <a:buSzPts val="1500"/>
              <a:buChar char="●"/>
            </a:pPr>
            <a:r>
              <a:rPr lang="en" sz="1531" dirty="0"/>
              <a:t>Step 2: Setup your Zeek Docker image</a:t>
            </a:r>
            <a:endParaRPr sz="1531" dirty="0"/>
          </a:p>
          <a:p>
            <a:pPr marL="914400" lvl="1" indent="-309880" algn="l" rtl="0">
              <a:lnSpc>
                <a:spcPct val="130000"/>
              </a:lnSpc>
              <a:spcBef>
                <a:spcPts val="0"/>
              </a:spcBef>
              <a:spcAft>
                <a:spcPts val="0"/>
              </a:spcAft>
              <a:buClr>
                <a:srgbClr val="00589D"/>
              </a:buClr>
              <a:buSzPts val="1280"/>
              <a:buChar char="○"/>
            </a:pPr>
            <a:r>
              <a:rPr lang="en" sz="1280" dirty="0">
                <a:solidFill>
                  <a:srgbClr val="00589D"/>
                </a:solidFill>
              </a:rPr>
              <a:t>Grab the latest Zeek LTS image</a:t>
            </a:r>
            <a:r>
              <a:rPr lang="en" sz="1280" dirty="0"/>
              <a:t>:</a:t>
            </a:r>
            <a:endParaRPr sz="1280" dirty="0">
              <a:solidFill>
                <a:srgbClr val="49B0F0"/>
              </a:solidFill>
            </a:endParaRPr>
          </a:p>
          <a:p>
            <a:pPr marL="1371600" marR="0" lvl="2" indent="-309880" algn="l" rtl="0">
              <a:lnSpc>
                <a:spcPct val="130000"/>
              </a:lnSpc>
              <a:spcBef>
                <a:spcPts val="0"/>
              </a:spcBef>
              <a:spcAft>
                <a:spcPts val="0"/>
              </a:spcAft>
              <a:buClr>
                <a:srgbClr val="00AAE3"/>
              </a:buClr>
              <a:buSzPts val="1280"/>
              <a:buFont typeface="Courier New"/>
              <a:buChar char="■"/>
            </a:pPr>
            <a:r>
              <a:rPr lang="en" sz="1280" b="1" dirty="0">
                <a:solidFill>
                  <a:srgbClr val="00AAE3"/>
                </a:solidFill>
                <a:latin typeface="Courier New"/>
                <a:ea typeface="Courier New"/>
                <a:cs typeface="Courier New"/>
                <a:sym typeface="Courier New"/>
              </a:rPr>
              <a:t>docker pull </a:t>
            </a:r>
            <a:r>
              <a:rPr lang="en" sz="1280" b="1" dirty="0" err="1">
                <a:solidFill>
                  <a:srgbClr val="00AAE3"/>
                </a:solidFill>
                <a:latin typeface="Courier New"/>
                <a:ea typeface="Courier New"/>
                <a:cs typeface="Courier New"/>
                <a:sym typeface="Courier New"/>
              </a:rPr>
              <a:t>zeek</a:t>
            </a:r>
            <a:r>
              <a:rPr lang="en" sz="1280" b="1" dirty="0">
                <a:solidFill>
                  <a:srgbClr val="00AAE3"/>
                </a:solidFill>
                <a:latin typeface="Courier New"/>
                <a:ea typeface="Courier New"/>
                <a:cs typeface="Courier New"/>
                <a:sym typeface="Courier New"/>
              </a:rPr>
              <a:t>/</a:t>
            </a:r>
            <a:r>
              <a:rPr lang="en" sz="1280" b="1" dirty="0" err="1">
                <a:solidFill>
                  <a:srgbClr val="00AAE3"/>
                </a:solidFill>
                <a:latin typeface="Courier New"/>
                <a:ea typeface="Courier New"/>
                <a:cs typeface="Courier New"/>
                <a:sym typeface="Courier New"/>
              </a:rPr>
              <a:t>zeek:lts</a:t>
            </a:r>
            <a:endParaRPr sz="1280" b="1" dirty="0">
              <a:solidFill>
                <a:srgbClr val="00AAE3"/>
              </a:solidFill>
              <a:latin typeface="Courier New"/>
              <a:ea typeface="Courier New"/>
              <a:cs typeface="Courier New"/>
              <a:sym typeface="Courier New"/>
            </a:endParaRPr>
          </a:p>
          <a:p>
            <a:pPr marL="1371600" marR="0" lvl="2" indent="-309880" algn="l" rtl="0">
              <a:lnSpc>
                <a:spcPct val="130000"/>
              </a:lnSpc>
              <a:spcBef>
                <a:spcPts val="0"/>
              </a:spcBef>
              <a:spcAft>
                <a:spcPts val="0"/>
              </a:spcAft>
              <a:buClr>
                <a:srgbClr val="00AAE3"/>
              </a:buClr>
              <a:buSzPts val="1280"/>
              <a:buFont typeface="Courier New"/>
              <a:buChar char="■"/>
            </a:pPr>
            <a:r>
              <a:rPr lang="en" sz="1280" b="1" dirty="0">
                <a:solidFill>
                  <a:srgbClr val="00AAE3"/>
                </a:solidFill>
                <a:latin typeface="Courier New"/>
                <a:ea typeface="Courier New"/>
                <a:cs typeface="Courier New"/>
                <a:sym typeface="Courier New"/>
              </a:rPr>
              <a:t>docker run -it </a:t>
            </a:r>
            <a:r>
              <a:rPr lang="en" sz="1280" b="1" dirty="0" err="1">
                <a:solidFill>
                  <a:srgbClr val="00AAE3"/>
                </a:solidFill>
                <a:latin typeface="Courier New"/>
                <a:ea typeface="Courier New"/>
                <a:cs typeface="Courier New"/>
                <a:sym typeface="Courier New"/>
              </a:rPr>
              <a:t>zeek</a:t>
            </a:r>
            <a:r>
              <a:rPr lang="en" sz="1280" b="1" dirty="0">
                <a:solidFill>
                  <a:srgbClr val="00AAE3"/>
                </a:solidFill>
                <a:latin typeface="Courier New"/>
                <a:ea typeface="Courier New"/>
                <a:cs typeface="Courier New"/>
                <a:sym typeface="Courier New"/>
              </a:rPr>
              <a:t>/</a:t>
            </a:r>
            <a:r>
              <a:rPr lang="en" sz="1280" b="1" dirty="0" err="1">
                <a:solidFill>
                  <a:srgbClr val="00AAE3"/>
                </a:solidFill>
                <a:latin typeface="Courier New"/>
                <a:ea typeface="Courier New"/>
                <a:cs typeface="Courier New"/>
                <a:sym typeface="Courier New"/>
              </a:rPr>
              <a:t>zeek:lts</a:t>
            </a:r>
            <a:r>
              <a:rPr lang="en" sz="1280" b="1" dirty="0">
                <a:solidFill>
                  <a:srgbClr val="00AAE3"/>
                </a:solidFill>
                <a:latin typeface="Courier New"/>
                <a:ea typeface="Courier New"/>
                <a:cs typeface="Courier New"/>
                <a:sym typeface="Courier New"/>
              </a:rPr>
              <a:t> /bin/bash</a:t>
            </a:r>
            <a:endParaRPr sz="1280" b="1" dirty="0">
              <a:solidFill>
                <a:srgbClr val="00AAE3"/>
              </a:solidFill>
              <a:latin typeface="Courier New"/>
              <a:ea typeface="Courier New"/>
              <a:cs typeface="Courier New"/>
              <a:sym typeface="Courier New"/>
            </a:endParaRPr>
          </a:p>
          <a:p>
            <a:pPr marL="914400" lvl="1" indent="-309880" algn="l" rtl="0">
              <a:lnSpc>
                <a:spcPct val="130000"/>
              </a:lnSpc>
              <a:spcBef>
                <a:spcPts val="0"/>
              </a:spcBef>
              <a:spcAft>
                <a:spcPts val="0"/>
              </a:spcAft>
              <a:buClr>
                <a:srgbClr val="00589D"/>
              </a:buClr>
              <a:buSzPts val="1280"/>
              <a:buChar char="○"/>
            </a:pPr>
            <a:r>
              <a:rPr lang="en" sz="1280" dirty="0">
                <a:solidFill>
                  <a:srgbClr val="00589D"/>
                </a:solidFill>
              </a:rPr>
              <a:t>Inside the container, set up the resources that will be used during this training:</a:t>
            </a:r>
            <a:endParaRPr sz="1280" dirty="0"/>
          </a:p>
          <a:p>
            <a:pPr marL="1371600" lvl="2" indent="-309880" algn="l" rtl="0">
              <a:lnSpc>
                <a:spcPct val="130000"/>
              </a:lnSpc>
              <a:spcBef>
                <a:spcPts val="0"/>
              </a:spcBef>
              <a:spcAft>
                <a:spcPts val="0"/>
              </a:spcAft>
              <a:buClr>
                <a:srgbClr val="00AAE3"/>
              </a:buClr>
              <a:buSzPts val="1280"/>
              <a:buChar char="■"/>
            </a:pPr>
            <a:r>
              <a:rPr lang="en" sz="1280" b="1" dirty="0">
                <a:solidFill>
                  <a:srgbClr val="00AAE3"/>
                </a:solidFill>
                <a:latin typeface="Courier New"/>
                <a:ea typeface="Courier New"/>
                <a:cs typeface="Courier New"/>
                <a:sym typeface="Courier New"/>
              </a:rPr>
              <a:t>git clone </a:t>
            </a:r>
            <a:r>
              <a:rPr lang="en" sz="1280" b="1" dirty="0">
                <a:solidFill>
                  <a:srgbClr val="00AAE3"/>
                </a:solidFill>
                <a:uFill>
                  <a:noFill/>
                </a:uFill>
                <a:latin typeface="Courier New"/>
                <a:ea typeface="Courier New"/>
                <a:cs typeface="Courier New"/>
                <a:sym typeface="Courier New"/>
                <a:hlinkClick r:id="rId6">
                  <a:extLst>
                    <a:ext uri="{A12FA001-AC4F-418D-AE19-62706E023703}">
                      <ahyp:hlinkClr xmlns:ahyp="http://schemas.microsoft.com/office/drawing/2018/hyperlinkcolor" val="tx"/>
                    </a:ext>
                  </a:extLst>
                </a:hlinkClick>
              </a:rPr>
              <a:t>https://github.com/zeek/zeek-training</a:t>
            </a:r>
            <a:endParaRPr sz="1280" b="1" dirty="0">
              <a:solidFill>
                <a:srgbClr val="00AAE3"/>
              </a:solidFill>
              <a:latin typeface="Courier New"/>
              <a:ea typeface="Courier New"/>
              <a:cs typeface="Courier New"/>
              <a:sym typeface="Courier New"/>
            </a:endParaRPr>
          </a:p>
          <a:p>
            <a:pPr marL="1371600" lvl="2" indent="-309880" algn="l" rtl="0">
              <a:lnSpc>
                <a:spcPct val="130000"/>
              </a:lnSpc>
              <a:spcBef>
                <a:spcPts val="0"/>
              </a:spcBef>
              <a:spcAft>
                <a:spcPts val="0"/>
              </a:spcAft>
              <a:buClr>
                <a:srgbClr val="00AAE3"/>
              </a:buClr>
              <a:buSzPts val="1280"/>
              <a:buChar char="■"/>
            </a:pPr>
            <a:r>
              <a:rPr lang="en" sz="1280" b="1" dirty="0">
                <a:solidFill>
                  <a:srgbClr val="00AAE3"/>
                </a:solidFill>
                <a:latin typeface="Courier New"/>
                <a:ea typeface="Courier New"/>
                <a:cs typeface="Courier New"/>
                <a:sym typeface="Courier New"/>
              </a:rPr>
              <a:t>cd /</a:t>
            </a:r>
            <a:r>
              <a:rPr lang="en" sz="1280" b="1" dirty="0" err="1">
                <a:solidFill>
                  <a:srgbClr val="00AAE3"/>
                </a:solidFill>
                <a:latin typeface="Courier New"/>
                <a:ea typeface="Courier New"/>
                <a:cs typeface="Courier New"/>
                <a:sym typeface="Courier New"/>
              </a:rPr>
              <a:t>zeek</a:t>
            </a:r>
            <a:r>
              <a:rPr lang="en" sz="1280" b="1" dirty="0">
                <a:solidFill>
                  <a:srgbClr val="00AAE3"/>
                </a:solidFill>
                <a:latin typeface="Courier New"/>
                <a:ea typeface="Courier New"/>
                <a:cs typeface="Courier New"/>
                <a:sym typeface="Courier New"/>
              </a:rPr>
              <a:t>-training</a:t>
            </a:r>
            <a:endParaRPr sz="850" b="1" dirty="0">
              <a:solidFill>
                <a:srgbClr val="00AAE3"/>
              </a:solidFill>
              <a:highlight>
                <a:srgbClr val="111111"/>
              </a:highlight>
              <a:latin typeface="Courier New"/>
              <a:ea typeface="Courier New"/>
              <a:cs typeface="Courier New"/>
              <a:sym typeface="Courier New"/>
            </a:endParaRPr>
          </a:p>
          <a:p>
            <a:pPr marL="1371600" lvl="2" indent="-309880" algn="l" rtl="0">
              <a:lnSpc>
                <a:spcPct val="130000"/>
              </a:lnSpc>
              <a:spcBef>
                <a:spcPts val="0"/>
              </a:spcBef>
              <a:spcAft>
                <a:spcPts val="0"/>
              </a:spcAft>
              <a:buClr>
                <a:srgbClr val="00AAE3"/>
              </a:buClr>
              <a:buSzPts val="1280"/>
              <a:buChar char="■"/>
            </a:pPr>
            <a:r>
              <a:rPr lang="en" sz="1280" b="1" dirty="0">
                <a:solidFill>
                  <a:srgbClr val="00AAE3"/>
                </a:solidFill>
                <a:latin typeface="Courier New"/>
                <a:ea typeface="Courier New"/>
                <a:cs typeface="Courier New"/>
                <a:sym typeface="Courier New"/>
              </a:rPr>
              <a:t>./</a:t>
            </a:r>
            <a:r>
              <a:rPr lang="en" sz="1280" b="1" dirty="0" err="1">
                <a:solidFill>
                  <a:srgbClr val="00AAE3"/>
                </a:solidFill>
                <a:latin typeface="Courier New"/>
                <a:ea typeface="Courier New"/>
                <a:cs typeface="Courier New"/>
                <a:sym typeface="Courier New"/>
              </a:rPr>
              <a:t>setup.sh</a:t>
            </a:r>
            <a:r>
              <a:rPr lang="en" sz="1280" b="1" dirty="0">
                <a:solidFill>
                  <a:srgbClr val="00AAE3"/>
                </a:solidFill>
                <a:latin typeface="Courier New"/>
                <a:ea typeface="Courier New"/>
                <a:cs typeface="Courier New"/>
                <a:sym typeface="Courier New"/>
              </a:rPr>
              <a:t> all</a:t>
            </a:r>
            <a:endParaRPr sz="1280" b="1" dirty="0">
              <a:solidFill>
                <a:srgbClr val="00AAE3"/>
              </a:solidFill>
              <a:latin typeface="Courier New"/>
              <a:ea typeface="Courier New"/>
              <a:cs typeface="Courier New"/>
              <a:sym typeface="Courier New"/>
            </a:endParaRPr>
          </a:p>
          <a:p>
            <a:pPr marL="457200" lvl="0" indent="-323850" algn="l" rtl="0">
              <a:lnSpc>
                <a:spcPct val="120000"/>
              </a:lnSpc>
              <a:spcBef>
                <a:spcPts val="0"/>
              </a:spcBef>
              <a:spcAft>
                <a:spcPts val="0"/>
              </a:spcAft>
              <a:buClr>
                <a:srgbClr val="00589D"/>
              </a:buClr>
              <a:buSzPts val="1500"/>
              <a:buFont typeface="Courier New"/>
              <a:buChar char="●"/>
            </a:pPr>
            <a:r>
              <a:rPr lang="en" sz="1087" b="1" dirty="0">
                <a:solidFill>
                  <a:srgbClr val="00AAE3"/>
                </a:solidFill>
                <a:latin typeface="Courier New"/>
                <a:ea typeface="Courier New"/>
                <a:cs typeface="Courier New"/>
                <a:sym typeface="Courier New"/>
              </a:rPr>
              <a:t>Note: You will only need to run these commands </a:t>
            </a:r>
            <a:r>
              <a:rPr lang="en" sz="1087" b="1" u="sng" dirty="0">
                <a:solidFill>
                  <a:srgbClr val="00AAE3"/>
                </a:solidFill>
                <a:latin typeface="Courier New"/>
                <a:ea typeface="Courier New"/>
                <a:cs typeface="Courier New"/>
                <a:sym typeface="Courier New"/>
              </a:rPr>
              <a:t>once</a:t>
            </a:r>
            <a:r>
              <a:rPr lang="en" sz="1087" b="1" dirty="0">
                <a:solidFill>
                  <a:srgbClr val="00AAE3"/>
                </a:solidFill>
                <a:latin typeface="Courier New"/>
                <a:ea typeface="Courier New"/>
                <a:cs typeface="Courier New"/>
                <a:sym typeface="Courier New"/>
              </a:rPr>
              <a:t> in order to create the container &amp; download the training resources.</a:t>
            </a:r>
            <a:endParaRPr sz="1280" dirty="0"/>
          </a:p>
          <a:p>
            <a:pPr marL="0" lvl="0" indent="0" algn="l" rtl="0">
              <a:lnSpc>
                <a:spcPct val="130000"/>
              </a:lnSpc>
              <a:spcBef>
                <a:spcPts val="0"/>
              </a:spcBef>
              <a:spcAft>
                <a:spcPts val="0"/>
              </a:spcAft>
              <a:buNone/>
            </a:pPr>
            <a:endParaRPr sz="1842" b="1" dirty="0">
              <a:solidFill>
                <a:srgbClr val="00AAE3"/>
              </a:solidFill>
              <a:latin typeface="Courier New"/>
              <a:ea typeface="Courier New"/>
              <a:cs typeface="Courier New"/>
              <a:sym typeface="Courier New"/>
            </a:endParaRPr>
          </a:p>
        </p:txBody>
      </p:sp>
      <p:sp>
        <p:nvSpPr>
          <p:cNvPr id="203" name="Google Shape;203;g330b8fcfd7b_0_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SzPts val="2800"/>
              <a:buNone/>
            </a:pPr>
            <a:r>
              <a:rPr lang="en" sz="3000" b="1">
                <a:solidFill>
                  <a:srgbClr val="00B0F0"/>
                </a:solidFill>
              </a:rPr>
              <a:t>Docker Setup</a:t>
            </a:r>
            <a:endParaRPr sz="3000" b="1"/>
          </a:p>
        </p:txBody>
      </p:sp>
      <p:sp>
        <p:nvSpPr>
          <p:cNvPr id="209" name="Google Shape;209;p10"/>
          <p:cNvSpPr txBox="1">
            <a:spLocks noGrp="1"/>
          </p:cNvSpPr>
          <p:nvPr>
            <p:ph type="body" idx="1"/>
          </p:nvPr>
        </p:nvSpPr>
        <p:spPr>
          <a:xfrm>
            <a:off x="311700" y="1246825"/>
            <a:ext cx="8832300" cy="3896700"/>
          </a:xfrm>
          <a:prstGeom prst="rect">
            <a:avLst/>
          </a:prstGeom>
          <a:noFill/>
          <a:ln>
            <a:noFill/>
          </a:ln>
        </p:spPr>
        <p:txBody>
          <a:bodyPr spcFirstLastPara="1" wrap="square" lIns="91425" tIns="91425" rIns="91425" bIns="91425" anchor="t" anchorCtr="0">
            <a:normAutofit/>
          </a:bodyPr>
          <a:lstStyle/>
          <a:p>
            <a:pPr marL="0" lvl="0" indent="0" algn="l" rtl="0">
              <a:lnSpc>
                <a:spcPct val="93000"/>
              </a:lnSpc>
              <a:spcBef>
                <a:spcPts val="0"/>
              </a:spcBef>
              <a:spcAft>
                <a:spcPts val="0"/>
              </a:spcAft>
              <a:buSzPts val="1800"/>
              <a:buNone/>
            </a:pPr>
            <a:endParaRPr dirty="0">
              <a:solidFill>
                <a:srgbClr val="00B3EB"/>
              </a:solidFill>
              <a:latin typeface="Courier New"/>
              <a:ea typeface="Courier New"/>
              <a:cs typeface="Courier New"/>
              <a:sym typeface="Courier New"/>
            </a:endParaRPr>
          </a:p>
          <a:p>
            <a:pPr marL="457200" lvl="0" indent="-342900" algn="l" rtl="0">
              <a:lnSpc>
                <a:spcPct val="130000"/>
              </a:lnSpc>
              <a:spcBef>
                <a:spcPts val="0"/>
              </a:spcBef>
              <a:spcAft>
                <a:spcPts val="0"/>
              </a:spcAft>
              <a:buSzPts val="1800"/>
              <a:buChar char="●"/>
            </a:pPr>
            <a:r>
              <a:rPr lang="en" dirty="0"/>
              <a:t>Step 3: Verify that Zeek has been installed correctly: </a:t>
            </a:r>
            <a:endParaRPr dirty="0"/>
          </a:p>
          <a:p>
            <a:pPr marL="914400" lvl="1" indent="-317500" algn="l" rtl="0">
              <a:lnSpc>
                <a:spcPct val="93000"/>
              </a:lnSpc>
              <a:spcBef>
                <a:spcPts val="0"/>
              </a:spcBef>
              <a:spcAft>
                <a:spcPts val="0"/>
              </a:spcAft>
              <a:buClr>
                <a:srgbClr val="00B3EB"/>
              </a:buClr>
              <a:buSzPts val="1400"/>
              <a:buFont typeface="Courier New"/>
              <a:buChar char="○"/>
            </a:pPr>
            <a:r>
              <a:rPr lang="en" b="1" dirty="0" err="1">
                <a:solidFill>
                  <a:srgbClr val="00B3EB"/>
                </a:solidFill>
                <a:latin typeface="Courier New"/>
                <a:ea typeface="Courier New"/>
                <a:cs typeface="Courier New"/>
                <a:sym typeface="Courier New"/>
              </a:rPr>
              <a:t>zeek</a:t>
            </a:r>
            <a:r>
              <a:rPr lang="en" b="1" dirty="0">
                <a:solidFill>
                  <a:srgbClr val="00B3EB"/>
                </a:solidFill>
                <a:latin typeface="Courier New"/>
                <a:ea typeface="Courier New"/>
                <a:cs typeface="Courier New"/>
                <a:sym typeface="Courier New"/>
              </a:rPr>
              <a:t> –-version</a:t>
            </a:r>
            <a:endParaRPr dirty="0"/>
          </a:p>
          <a:p>
            <a:pPr marL="0" lvl="0" indent="0" algn="l" rtl="0">
              <a:lnSpc>
                <a:spcPct val="93000"/>
              </a:lnSpc>
              <a:spcBef>
                <a:spcPts val="0"/>
              </a:spcBef>
              <a:spcAft>
                <a:spcPts val="0"/>
              </a:spcAft>
              <a:buNone/>
            </a:pPr>
            <a:endParaRPr dirty="0"/>
          </a:p>
          <a:p>
            <a:pPr marL="457200" lvl="0" indent="-342900" algn="l" rtl="0">
              <a:lnSpc>
                <a:spcPct val="93000"/>
              </a:lnSpc>
              <a:spcBef>
                <a:spcPts val="0"/>
              </a:spcBef>
              <a:spcAft>
                <a:spcPts val="0"/>
              </a:spcAft>
              <a:buSzPts val="1800"/>
              <a:buChar char="●"/>
            </a:pPr>
            <a:r>
              <a:rPr lang="en" dirty="0"/>
              <a:t>Step 4: Enter the following commands to create a new folder within the logs directory, navigate into the new directory, and verify your present working directory:</a:t>
            </a:r>
            <a:endParaRPr dirty="0"/>
          </a:p>
          <a:p>
            <a:pPr marL="914400" lvl="1" indent="-317500" algn="l" rtl="0">
              <a:lnSpc>
                <a:spcPct val="93000"/>
              </a:lnSpc>
              <a:spcBef>
                <a:spcPts val="0"/>
              </a:spcBef>
              <a:spcAft>
                <a:spcPts val="0"/>
              </a:spcAft>
              <a:buClr>
                <a:srgbClr val="00B3EB"/>
              </a:buClr>
              <a:buSzPts val="1400"/>
              <a:buFont typeface="Courier New"/>
              <a:buChar char="○"/>
            </a:pPr>
            <a:r>
              <a:rPr lang="en" b="1" dirty="0" err="1">
                <a:solidFill>
                  <a:srgbClr val="00B3EB"/>
                </a:solidFill>
                <a:latin typeface="Courier New"/>
                <a:ea typeface="Courier New"/>
                <a:cs typeface="Courier New"/>
                <a:sym typeface="Courier New"/>
              </a:rPr>
              <a:t>mkdir</a:t>
            </a:r>
            <a:r>
              <a:rPr lang="en" b="1" dirty="0">
                <a:solidFill>
                  <a:srgbClr val="00B3EB"/>
                </a:solidFill>
                <a:latin typeface="Courier New"/>
                <a:ea typeface="Courier New"/>
                <a:cs typeface="Courier New"/>
                <a:sym typeface="Courier New"/>
              </a:rPr>
              <a:t> -p /</a:t>
            </a:r>
            <a:r>
              <a:rPr lang="en" b="1" dirty="0" err="1">
                <a:solidFill>
                  <a:srgbClr val="00B3EB"/>
                </a:solidFill>
                <a:latin typeface="Courier New"/>
                <a:ea typeface="Courier New"/>
                <a:cs typeface="Courier New"/>
                <a:sym typeface="Courier New"/>
              </a:rPr>
              <a:t>zeek</a:t>
            </a:r>
            <a:r>
              <a:rPr lang="en" b="1" dirty="0">
                <a:solidFill>
                  <a:srgbClr val="00B3EB"/>
                </a:solidFill>
                <a:latin typeface="Courier New"/>
                <a:ea typeface="Courier New"/>
                <a:cs typeface="Courier New"/>
                <a:sym typeface="Courier New"/>
              </a:rPr>
              <a:t>/logs/</a:t>
            </a:r>
            <a:r>
              <a:rPr lang="en" b="1" dirty="0" err="1">
                <a:solidFill>
                  <a:srgbClr val="00B3EB"/>
                </a:solidFill>
                <a:latin typeface="Courier New"/>
                <a:ea typeface="Courier New"/>
                <a:cs typeface="Courier New"/>
                <a:sym typeface="Courier New"/>
              </a:rPr>
              <a:t>capture_pcap</a:t>
            </a:r>
            <a:r>
              <a:rPr lang="en" b="1" dirty="0">
                <a:solidFill>
                  <a:srgbClr val="00B3EB"/>
                </a:solidFill>
                <a:latin typeface="Courier New"/>
                <a:ea typeface="Courier New"/>
                <a:cs typeface="Courier New"/>
                <a:sym typeface="Courier New"/>
              </a:rPr>
              <a:t> &amp;&amp; cd /</a:t>
            </a:r>
            <a:r>
              <a:rPr lang="en" b="1" dirty="0" err="1">
                <a:solidFill>
                  <a:srgbClr val="00B3EB"/>
                </a:solidFill>
                <a:latin typeface="Courier New"/>
                <a:ea typeface="Courier New"/>
                <a:cs typeface="Courier New"/>
                <a:sym typeface="Courier New"/>
              </a:rPr>
              <a:t>zeek</a:t>
            </a:r>
            <a:r>
              <a:rPr lang="en" b="1" dirty="0">
                <a:solidFill>
                  <a:srgbClr val="00B3EB"/>
                </a:solidFill>
                <a:latin typeface="Courier New"/>
                <a:ea typeface="Courier New"/>
                <a:cs typeface="Courier New"/>
                <a:sym typeface="Courier New"/>
              </a:rPr>
              <a:t>/logs/</a:t>
            </a:r>
            <a:r>
              <a:rPr lang="en" b="1" dirty="0" err="1">
                <a:solidFill>
                  <a:srgbClr val="00B3EB"/>
                </a:solidFill>
                <a:latin typeface="Courier New"/>
                <a:ea typeface="Courier New"/>
                <a:cs typeface="Courier New"/>
                <a:sym typeface="Courier New"/>
              </a:rPr>
              <a:t>capture_pcap</a:t>
            </a:r>
            <a:r>
              <a:rPr lang="en" b="1" dirty="0">
                <a:solidFill>
                  <a:srgbClr val="00B3EB"/>
                </a:solidFill>
                <a:latin typeface="Courier New"/>
                <a:ea typeface="Courier New"/>
                <a:cs typeface="Courier New"/>
                <a:sym typeface="Courier New"/>
              </a:rPr>
              <a:t> &amp;&amp; </a:t>
            </a:r>
            <a:r>
              <a:rPr lang="en" b="1" dirty="0" err="1">
                <a:solidFill>
                  <a:srgbClr val="00B3EB"/>
                </a:solidFill>
                <a:latin typeface="Courier New"/>
                <a:ea typeface="Courier New"/>
                <a:cs typeface="Courier New"/>
                <a:sym typeface="Courier New"/>
              </a:rPr>
              <a:t>pwd</a:t>
            </a:r>
            <a:endParaRPr b="1" dirty="0">
              <a:solidFill>
                <a:srgbClr val="00B3EB"/>
              </a:solidFill>
              <a:latin typeface="Courier New"/>
              <a:ea typeface="Courier New"/>
              <a:cs typeface="Courier New"/>
              <a:sym typeface="Courier New"/>
            </a:endParaRPr>
          </a:p>
          <a:p>
            <a:pPr marL="0" lvl="0" indent="0" algn="l" rtl="0">
              <a:lnSpc>
                <a:spcPct val="93000"/>
              </a:lnSpc>
              <a:spcBef>
                <a:spcPts val="0"/>
              </a:spcBef>
              <a:spcAft>
                <a:spcPts val="0"/>
              </a:spcAft>
              <a:buSzPts val="1800"/>
              <a:buNone/>
            </a:pPr>
            <a:endParaRPr dirty="0"/>
          </a:p>
          <a:p>
            <a:pPr marL="457200" lvl="0" indent="-342900" algn="l" rtl="0">
              <a:lnSpc>
                <a:spcPct val="93000"/>
              </a:lnSpc>
              <a:spcBef>
                <a:spcPts val="0"/>
              </a:spcBef>
              <a:spcAft>
                <a:spcPts val="0"/>
              </a:spcAft>
              <a:buSzPts val="1800"/>
              <a:buChar char="●"/>
            </a:pPr>
            <a:r>
              <a:rPr lang="en" dirty="0"/>
              <a:t>Step 5: Verify that you are in: </a:t>
            </a:r>
            <a:r>
              <a:rPr lang="en" sz="1400" b="1" dirty="0">
                <a:solidFill>
                  <a:srgbClr val="49B3EB"/>
                </a:solidFill>
              </a:rPr>
              <a:t>/</a:t>
            </a:r>
            <a:r>
              <a:rPr lang="en" sz="1400" b="1" dirty="0" err="1">
                <a:solidFill>
                  <a:srgbClr val="49B3EB"/>
                </a:solidFill>
              </a:rPr>
              <a:t>zeek</a:t>
            </a:r>
            <a:r>
              <a:rPr lang="en" sz="1400" b="1" dirty="0">
                <a:solidFill>
                  <a:srgbClr val="49B3EB"/>
                </a:solidFill>
              </a:rPr>
              <a:t>/logs/</a:t>
            </a:r>
            <a:r>
              <a:rPr lang="en" sz="1400" b="1" dirty="0" err="1">
                <a:solidFill>
                  <a:srgbClr val="49B3EB"/>
                </a:solidFill>
              </a:rPr>
              <a:t>capture_pcap</a:t>
            </a:r>
            <a:r>
              <a:rPr lang="en" sz="1400" b="1" dirty="0"/>
              <a:t> </a:t>
            </a:r>
            <a:r>
              <a:rPr lang="en" dirty="0"/>
              <a:t>from the previous step.</a:t>
            </a:r>
            <a:endParaRPr sz="1400" dirty="0">
              <a:solidFill>
                <a:srgbClr val="00B3EB"/>
              </a:solidFill>
              <a:latin typeface="Courier New"/>
              <a:ea typeface="Courier New"/>
              <a:cs typeface="Courier New"/>
              <a:sym typeface="Courier New"/>
            </a:endParaRPr>
          </a:p>
          <a:p>
            <a:pPr marL="0" lvl="0" indent="0" algn="l" rtl="0">
              <a:lnSpc>
                <a:spcPct val="93000"/>
              </a:lnSpc>
              <a:spcBef>
                <a:spcPts val="0"/>
              </a:spcBef>
              <a:spcAft>
                <a:spcPts val="0"/>
              </a:spcAft>
              <a:buSzPts val="1800"/>
              <a:buNone/>
            </a:pPr>
            <a:endParaRPr dirty="0"/>
          </a:p>
          <a:p>
            <a:pPr marL="457200" lvl="0" indent="-342900" algn="l" rtl="0">
              <a:lnSpc>
                <a:spcPct val="93000"/>
              </a:lnSpc>
              <a:spcBef>
                <a:spcPts val="0"/>
              </a:spcBef>
              <a:spcAft>
                <a:spcPts val="0"/>
              </a:spcAft>
              <a:buSzPts val="1800"/>
              <a:buChar char="●"/>
            </a:pPr>
            <a:r>
              <a:rPr lang="en" dirty="0"/>
              <a:t>Step 6: Enter the following commands to analyze a sample </a:t>
            </a:r>
            <a:r>
              <a:rPr lang="en" dirty="0" err="1"/>
              <a:t>pcap</a:t>
            </a:r>
            <a:r>
              <a:rPr lang="en" dirty="0"/>
              <a:t> file:</a:t>
            </a:r>
            <a:endParaRPr dirty="0"/>
          </a:p>
          <a:p>
            <a:pPr marL="914400" lvl="1" indent="-317500" algn="l" rtl="0">
              <a:lnSpc>
                <a:spcPct val="93000"/>
              </a:lnSpc>
              <a:spcBef>
                <a:spcPts val="0"/>
              </a:spcBef>
              <a:spcAft>
                <a:spcPts val="0"/>
              </a:spcAft>
              <a:buClr>
                <a:srgbClr val="00B3EB"/>
              </a:buClr>
              <a:buSzPts val="1400"/>
              <a:buFont typeface="Courier New"/>
              <a:buChar char="○"/>
            </a:pPr>
            <a:r>
              <a:rPr lang="en" b="1" dirty="0" err="1">
                <a:solidFill>
                  <a:srgbClr val="00B3EB"/>
                </a:solidFill>
                <a:latin typeface="Courier New"/>
                <a:ea typeface="Courier New"/>
                <a:cs typeface="Courier New"/>
                <a:sym typeface="Courier New"/>
              </a:rPr>
              <a:t>zeek</a:t>
            </a:r>
            <a:r>
              <a:rPr lang="en" b="1" dirty="0">
                <a:solidFill>
                  <a:srgbClr val="00B3EB"/>
                </a:solidFill>
                <a:latin typeface="Courier New"/>
                <a:ea typeface="Courier New"/>
                <a:cs typeface="Courier New"/>
                <a:sym typeface="Courier New"/>
              </a:rPr>
              <a:t> -C -r /</a:t>
            </a:r>
            <a:r>
              <a:rPr lang="en" b="1" dirty="0" err="1">
                <a:solidFill>
                  <a:srgbClr val="00B3EB"/>
                </a:solidFill>
                <a:latin typeface="Courier New"/>
                <a:ea typeface="Courier New"/>
                <a:cs typeface="Courier New"/>
                <a:sym typeface="Courier New"/>
              </a:rPr>
              <a:t>zeek</a:t>
            </a:r>
            <a:r>
              <a:rPr lang="en" b="1" dirty="0">
                <a:solidFill>
                  <a:srgbClr val="00B3EB"/>
                </a:solidFill>
                <a:latin typeface="Courier New"/>
                <a:ea typeface="Courier New"/>
                <a:cs typeface="Courier New"/>
                <a:sym typeface="Courier New"/>
              </a:rPr>
              <a:t>-training/Intro-to-Zeek/training-res/traces/</a:t>
            </a:r>
            <a:r>
              <a:rPr lang="en" b="1" dirty="0" err="1">
                <a:solidFill>
                  <a:srgbClr val="00B3EB"/>
                </a:solidFill>
                <a:latin typeface="Courier New"/>
                <a:ea typeface="Courier New"/>
                <a:cs typeface="Courier New"/>
                <a:sym typeface="Courier New"/>
              </a:rPr>
              <a:t>capture.pcap</a:t>
            </a:r>
            <a:endParaRPr b="1" dirty="0">
              <a:solidFill>
                <a:srgbClr val="00B3EB"/>
              </a:solidFill>
              <a:latin typeface="Courier New"/>
              <a:ea typeface="Courier New"/>
              <a:cs typeface="Courier New"/>
              <a:sym typeface="Courier New"/>
            </a:endParaRPr>
          </a:p>
          <a:p>
            <a:pPr marL="914400" lvl="1" indent="-317500" algn="l" rtl="0">
              <a:lnSpc>
                <a:spcPct val="93000"/>
              </a:lnSpc>
              <a:spcBef>
                <a:spcPts val="0"/>
              </a:spcBef>
              <a:spcAft>
                <a:spcPts val="0"/>
              </a:spcAft>
              <a:buClr>
                <a:srgbClr val="00B3EB"/>
              </a:buClr>
              <a:buSzPts val="1400"/>
              <a:buFont typeface="Courier New"/>
              <a:buChar char="○"/>
            </a:pPr>
            <a:r>
              <a:rPr lang="en" b="1" dirty="0">
                <a:solidFill>
                  <a:srgbClr val="00B3EB"/>
                </a:solidFill>
                <a:latin typeface="Courier New"/>
                <a:ea typeface="Courier New"/>
                <a:cs typeface="Courier New"/>
                <a:sym typeface="Courier New"/>
              </a:rPr>
              <a:t>ls</a:t>
            </a:r>
            <a:endParaRPr dirty="0">
              <a:solidFill>
                <a:srgbClr val="00B3EB"/>
              </a:solidFill>
              <a:latin typeface="Courier New"/>
              <a:ea typeface="Courier New"/>
              <a:cs typeface="Courier New"/>
              <a:sym typeface="Courier New"/>
            </a:endParaRPr>
          </a:p>
        </p:txBody>
      </p:sp>
      <p:sp>
        <p:nvSpPr>
          <p:cNvPr id="210" name="Google Shape;21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3eef5603a7_0_405"/>
          <p:cNvSpPr txBox="1">
            <a:spLocks noGrp="1"/>
          </p:cNvSpPr>
          <p:nvPr>
            <p:ph type="title"/>
          </p:nvPr>
        </p:nvSpPr>
        <p:spPr>
          <a:xfrm>
            <a:off x="266800" y="2693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B3EB"/>
                </a:solidFill>
              </a:rPr>
              <a:t>Logs</a:t>
            </a:r>
            <a:endParaRPr b="1">
              <a:solidFill>
                <a:srgbClr val="00B3EB"/>
              </a:solidFill>
            </a:endParaRPr>
          </a:p>
        </p:txBody>
      </p:sp>
      <p:sp>
        <p:nvSpPr>
          <p:cNvPr id="216" name="Google Shape;216;g33eef5603a7_0_405"/>
          <p:cNvSpPr txBox="1">
            <a:spLocks noGrp="1"/>
          </p:cNvSpPr>
          <p:nvPr>
            <p:ph type="body" idx="1"/>
          </p:nvPr>
        </p:nvSpPr>
        <p:spPr>
          <a:xfrm>
            <a:off x="311700" y="572700"/>
            <a:ext cx="8520600" cy="457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Clr>
                <a:schemeClr val="dk1"/>
              </a:buClr>
              <a:buSzPts val="1100"/>
              <a:buFont typeface="Arial"/>
              <a:buNone/>
            </a:pPr>
            <a:r>
              <a:rPr lang="en" sz="1400"/>
              <a:t>● </a:t>
            </a:r>
            <a:r>
              <a:rPr lang="en" sz="1300"/>
              <a:t>Zeek generates log files based on the protocols that it sees in your</a:t>
            </a:r>
            <a:endParaRPr sz="1300"/>
          </a:p>
          <a:p>
            <a:pPr marL="0" lvl="0" indent="0" algn="l" rtl="0">
              <a:lnSpc>
                <a:spcPct val="115000"/>
              </a:lnSpc>
              <a:spcBef>
                <a:spcPts val="0"/>
              </a:spcBef>
              <a:spcAft>
                <a:spcPts val="0"/>
              </a:spcAft>
              <a:buClr>
                <a:schemeClr val="dk1"/>
              </a:buClr>
              <a:buSzPts val="1100"/>
              <a:buFont typeface="Arial"/>
              <a:buNone/>
            </a:pPr>
            <a:r>
              <a:rPr lang="en" sz="1300"/>
              <a:t>network traffic. (More than 50 protocols are currently parsed)</a:t>
            </a:r>
            <a:endParaRPr sz="1300"/>
          </a:p>
          <a:p>
            <a:pPr marL="0" lvl="0" indent="0" algn="l" rtl="0">
              <a:lnSpc>
                <a:spcPct val="115000"/>
              </a:lnSpc>
              <a:spcBef>
                <a:spcPts val="0"/>
              </a:spcBef>
              <a:spcAft>
                <a:spcPts val="0"/>
              </a:spcAft>
              <a:buClr>
                <a:schemeClr val="dk1"/>
              </a:buClr>
              <a:buSzPts val="1100"/>
              <a:buFont typeface="Arial"/>
              <a:buNone/>
            </a:pPr>
            <a:endParaRPr sz="1300"/>
          </a:p>
          <a:p>
            <a:pPr marL="0" lvl="0" indent="0" algn="l" rtl="0">
              <a:lnSpc>
                <a:spcPct val="115000"/>
              </a:lnSpc>
              <a:spcBef>
                <a:spcPts val="0"/>
              </a:spcBef>
              <a:spcAft>
                <a:spcPts val="0"/>
              </a:spcAft>
              <a:buClr>
                <a:schemeClr val="dk1"/>
              </a:buClr>
              <a:buSzPts val="1100"/>
              <a:buFont typeface="Arial"/>
              <a:buNone/>
            </a:pPr>
            <a:endParaRPr sz="1300"/>
          </a:p>
          <a:p>
            <a:pPr marL="0" lvl="0" indent="0" algn="l" rtl="0">
              <a:lnSpc>
                <a:spcPct val="115000"/>
              </a:lnSpc>
              <a:spcBef>
                <a:spcPts val="0"/>
              </a:spcBef>
              <a:spcAft>
                <a:spcPts val="0"/>
              </a:spcAft>
              <a:buClr>
                <a:schemeClr val="dk1"/>
              </a:buClr>
              <a:buSzPts val="1100"/>
              <a:buFont typeface="Arial"/>
              <a:buNone/>
            </a:pPr>
            <a:r>
              <a:rPr lang="en" sz="1300"/>
              <a:t>● Apart from conventional protocol log files, Zeek also makes a record of interesting logs pertaining to noticeable or abnormal activity.</a:t>
            </a:r>
            <a:br>
              <a:rPr lang="en" sz="1300"/>
            </a:br>
            <a:r>
              <a:rPr lang="en" sz="1300"/>
              <a:t>(weird.log, notice.log, etc.)</a:t>
            </a:r>
            <a:br>
              <a:rPr lang="en" sz="1300"/>
            </a:br>
            <a:endParaRPr sz="1300"/>
          </a:p>
          <a:p>
            <a:pPr marL="0" lvl="0" indent="0" algn="l" rtl="0">
              <a:lnSpc>
                <a:spcPct val="115000"/>
              </a:lnSpc>
              <a:spcBef>
                <a:spcPts val="0"/>
              </a:spcBef>
              <a:spcAft>
                <a:spcPts val="0"/>
              </a:spcAft>
              <a:buClr>
                <a:schemeClr val="dk1"/>
              </a:buClr>
              <a:buSzPts val="1100"/>
              <a:buFont typeface="Arial"/>
              <a:buNone/>
            </a:pPr>
            <a:endParaRPr sz="1300"/>
          </a:p>
          <a:p>
            <a:pPr marL="0" lvl="0" indent="0" algn="l" rtl="0">
              <a:lnSpc>
                <a:spcPct val="115000"/>
              </a:lnSpc>
              <a:spcBef>
                <a:spcPts val="0"/>
              </a:spcBef>
              <a:spcAft>
                <a:spcPts val="0"/>
              </a:spcAft>
              <a:buClr>
                <a:schemeClr val="dk1"/>
              </a:buClr>
              <a:buSzPts val="1100"/>
              <a:buFont typeface="Arial"/>
              <a:buNone/>
            </a:pPr>
            <a:r>
              <a:rPr lang="en" sz="1300" b="1" u="sng"/>
              <a:t>Log File Overview</a:t>
            </a:r>
            <a:r>
              <a:rPr lang="en" sz="1300" b="1"/>
              <a:t>:</a:t>
            </a:r>
            <a:r>
              <a:rPr lang="en" sz="1300"/>
              <a:t> </a:t>
            </a:r>
            <a:r>
              <a:rPr lang="en" sz="1300" u="sng">
                <a:solidFill>
                  <a:srgbClr val="49B3EB"/>
                </a:solidFill>
                <a:hlinkClick r:id="rId3">
                  <a:extLst>
                    <a:ext uri="{A12FA001-AC4F-418D-AE19-62706E023703}">
                      <ahyp:hlinkClr xmlns:ahyp="http://schemas.microsoft.com/office/drawing/2018/hyperlinkcolor" val="tx"/>
                    </a:ext>
                  </a:extLst>
                </a:hlinkClick>
              </a:rPr>
              <a:t>https://docs.zeek.org/en/master/logs/index.html</a:t>
            </a:r>
            <a:endParaRPr sz="1300">
              <a:solidFill>
                <a:srgbClr val="49B3EB"/>
              </a:solidFill>
            </a:endParaRPr>
          </a:p>
          <a:p>
            <a:pPr marL="0" lvl="0" indent="0" algn="l" rtl="0">
              <a:lnSpc>
                <a:spcPct val="115000"/>
              </a:lnSpc>
              <a:spcBef>
                <a:spcPts val="0"/>
              </a:spcBef>
              <a:spcAft>
                <a:spcPts val="0"/>
              </a:spcAft>
              <a:buClr>
                <a:schemeClr val="dk1"/>
              </a:buClr>
              <a:buSzPts val="1100"/>
              <a:buFont typeface="Arial"/>
              <a:buNone/>
            </a:pPr>
            <a:endParaRPr sz="1600"/>
          </a:p>
          <a:p>
            <a:pPr marL="0" lvl="0" indent="0" algn="l" rtl="0">
              <a:lnSpc>
                <a:spcPct val="115000"/>
              </a:lnSpc>
              <a:spcBef>
                <a:spcPts val="0"/>
              </a:spcBef>
              <a:spcAft>
                <a:spcPts val="0"/>
              </a:spcAft>
              <a:buSzPts val="1800"/>
              <a:buNone/>
            </a:pPr>
            <a:endParaRPr sz="1600"/>
          </a:p>
        </p:txBody>
      </p:sp>
      <p:sp>
        <p:nvSpPr>
          <p:cNvPr id="217" name="Google Shape;217;g33eef5603a7_0_40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9</a:t>
            </a:fld>
            <a:endParaRPr/>
          </a:p>
        </p:txBody>
      </p:sp>
      <p:pic>
        <p:nvPicPr>
          <p:cNvPr id="218" name="Google Shape;218;g33eef5603a7_0_405"/>
          <p:cNvPicPr preferRelativeResize="0"/>
          <p:nvPr/>
        </p:nvPicPr>
        <p:blipFill rotWithShape="1">
          <a:blip r:embed="rId4">
            <a:alphaModFix/>
          </a:blip>
          <a:srcRect/>
          <a:stretch/>
        </p:blipFill>
        <p:spPr>
          <a:xfrm>
            <a:off x="401900" y="1319000"/>
            <a:ext cx="8340176" cy="929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SzPts val="2800"/>
              <a:buNone/>
            </a:pPr>
            <a:r>
              <a:rPr lang="en" sz="3000" b="1">
                <a:solidFill>
                  <a:srgbClr val="00B0F0"/>
                </a:solidFill>
              </a:rPr>
              <a:t>Zeek Cut</a:t>
            </a:r>
            <a:endParaRPr sz="3000" b="1"/>
          </a:p>
        </p:txBody>
      </p:sp>
      <p:sp>
        <p:nvSpPr>
          <p:cNvPr id="224" name="Google Shape;224;p12"/>
          <p:cNvSpPr txBox="1">
            <a:spLocks noGrp="1"/>
          </p:cNvSpPr>
          <p:nvPr>
            <p:ph type="body" idx="1"/>
          </p:nvPr>
        </p:nvSpPr>
        <p:spPr>
          <a:xfrm>
            <a:off x="311700" y="124682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93000"/>
              </a:lnSpc>
              <a:spcBef>
                <a:spcPts val="0"/>
              </a:spcBef>
              <a:spcAft>
                <a:spcPts val="0"/>
              </a:spcAft>
              <a:buSzPts val="1800"/>
              <a:buChar char="●"/>
            </a:pPr>
            <a:r>
              <a:rPr lang="en"/>
              <a:t>Each log file consists of a set of headers or fields that contain information such as: timestamp, unique identifier, source IP address, destination IP address, protocol, duration, and more.</a:t>
            </a:r>
            <a:endParaRPr/>
          </a:p>
          <a:p>
            <a:pPr marL="457200" lvl="0" indent="0" algn="l" rtl="0">
              <a:lnSpc>
                <a:spcPct val="93000"/>
              </a:lnSpc>
              <a:spcBef>
                <a:spcPts val="0"/>
              </a:spcBef>
              <a:spcAft>
                <a:spcPts val="0"/>
              </a:spcAft>
              <a:buSzPts val="1800"/>
              <a:buNone/>
            </a:pPr>
            <a:endParaRPr/>
          </a:p>
          <a:p>
            <a:pPr marL="457200" lvl="0" indent="-342900" algn="l" rtl="0">
              <a:lnSpc>
                <a:spcPct val="93000"/>
              </a:lnSpc>
              <a:spcBef>
                <a:spcPts val="0"/>
              </a:spcBef>
              <a:spcAft>
                <a:spcPts val="0"/>
              </a:spcAft>
              <a:buSzPts val="1800"/>
              <a:buChar char="●"/>
            </a:pPr>
            <a:r>
              <a:rPr lang="en"/>
              <a:t>Zeek-cut is a command that allows you to extract individual columns from log files.</a:t>
            </a:r>
            <a:endParaRPr/>
          </a:p>
          <a:p>
            <a:pPr marL="0" lvl="0" indent="0" algn="l" rtl="0">
              <a:lnSpc>
                <a:spcPct val="93000"/>
              </a:lnSpc>
              <a:spcBef>
                <a:spcPts val="0"/>
              </a:spcBef>
              <a:spcAft>
                <a:spcPts val="0"/>
              </a:spcAft>
              <a:buSzPts val="1800"/>
              <a:buNone/>
            </a:pPr>
            <a:endParaRPr/>
          </a:p>
          <a:p>
            <a:pPr marL="457200" lvl="0" indent="-342900" algn="l" rtl="0">
              <a:lnSpc>
                <a:spcPct val="93000"/>
              </a:lnSpc>
              <a:spcBef>
                <a:spcPts val="0"/>
              </a:spcBef>
              <a:spcAft>
                <a:spcPts val="0"/>
              </a:spcAft>
              <a:buSzPts val="1800"/>
              <a:buChar char="●"/>
            </a:pPr>
            <a:r>
              <a:rPr lang="en"/>
              <a:t>This makes it easier for analysts to interact with Zeek logs by specifying the headers of the information that they would like to parse from the complete log file.</a:t>
            </a:r>
            <a:endParaRPr/>
          </a:p>
        </p:txBody>
      </p:sp>
      <p:sp>
        <p:nvSpPr>
          <p:cNvPr id="225" name="Google Shape;225;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33f2de1e6ea_0_2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AAE3"/>
                </a:solidFill>
              </a:rPr>
              <a:t>Standard Log Output</a:t>
            </a:r>
            <a:endParaRPr b="1">
              <a:solidFill>
                <a:srgbClr val="00AAE3"/>
              </a:solidFill>
            </a:endParaRPr>
          </a:p>
        </p:txBody>
      </p:sp>
      <p:pic>
        <p:nvPicPr>
          <p:cNvPr id="231" name="Google Shape;231;g33f2de1e6ea_0_227"/>
          <p:cNvPicPr preferRelativeResize="0"/>
          <p:nvPr/>
        </p:nvPicPr>
        <p:blipFill rotWithShape="1">
          <a:blip r:embed="rId3">
            <a:alphaModFix/>
          </a:blip>
          <a:srcRect/>
          <a:stretch/>
        </p:blipFill>
        <p:spPr>
          <a:xfrm>
            <a:off x="0" y="1269825"/>
            <a:ext cx="9144000" cy="45935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3f2de1e6ea_0_30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AAE3"/>
                </a:solidFill>
              </a:rPr>
              <a:t>Zeek-Cut Output</a:t>
            </a:r>
            <a:endParaRPr b="1">
              <a:solidFill>
                <a:srgbClr val="00AAE3"/>
              </a:solidFill>
            </a:endParaRPr>
          </a:p>
        </p:txBody>
      </p:sp>
      <p:pic>
        <p:nvPicPr>
          <p:cNvPr id="237" name="Google Shape;237;g33f2de1e6ea_0_302"/>
          <p:cNvPicPr preferRelativeResize="0"/>
          <p:nvPr/>
        </p:nvPicPr>
        <p:blipFill rotWithShape="1">
          <a:blip r:embed="rId3">
            <a:alphaModFix/>
          </a:blip>
          <a:srcRect/>
          <a:stretch/>
        </p:blipFill>
        <p:spPr>
          <a:xfrm>
            <a:off x="0" y="1228300"/>
            <a:ext cx="9143999" cy="3915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3f2de1e6ea_0_453"/>
          <p:cNvSpPr txBox="1">
            <a:spLocks noGrp="1"/>
          </p:cNvSpPr>
          <p:nvPr>
            <p:ph type="title"/>
          </p:nvPr>
        </p:nvSpPr>
        <p:spPr>
          <a:xfrm>
            <a:off x="311700" y="4008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B3EB"/>
                </a:solidFill>
              </a:rPr>
              <a:t>Log Processing Commands</a:t>
            </a:r>
            <a:endParaRPr b="1">
              <a:solidFill>
                <a:srgbClr val="00B3EB"/>
              </a:solidFill>
            </a:endParaRPr>
          </a:p>
        </p:txBody>
      </p:sp>
      <p:sp>
        <p:nvSpPr>
          <p:cNvPr id="243" name="Google Shape;243;g33f2de1e6ea_0_453"/>
          <p:cNvSpPr txBox="1">
            <a:spLocks noGrp="1"/>
          </p:cNvSpPr>
          <p:nvPr>
            <p:ph type="body" idx="1"/>
          </p:nvPr>
        </p:nvSpPr>
        <p:spPr>
          <a:xfrm>
            <a:off x="311700" y="1151650"/>
            <a:ext cx="7503900" cy="3097500"/>
          </a:xfrm>
          <a:prstGeom prst="rect">
            <a:avLst/>
          </a:prstGeom>
          <a:noFill/>
          <a:ln>
            <a:noFill/>
          </a:ln>
        </p:spPr>
        <p:txBody>
          <a:bodyPr spcFirstLastPara="1" wrap="square" lIns="91425" tIns="91425" rIns="91425" bIns="91425" anchor="t" anchorCtr="0">
            <a:noAutofit/>
          </a:bodyPr>
          <a:lstStyle/>
          <a:p>
            <a:pPr marL="0" lvl="0" indent="0" algn="l" rtl="0">
              <a:lnSpc>
                <a:spcPct val="50000"/>
              </a:lnSpc>
              <a:spcBef>
                <a:spcPts val="0"/>
              </a:spcBef>
              <a:spcAft>
                <a:spcPts val="0"/>
              </a:spcAft>
              <a:buClr>
                <a:schemeClr val="dk1"/>
              </a:buClr>
              <a:buSzPts val="1100"/>
              <a:buFont typeface="Arial"/>
              <a:buNone/>
            </a:pPr>
            <a:endParaRPr sz="1500">
              <a:solidFill>
                <a:schemeClr val="dk1"/>
              </a:solidFill>
              <a:highlight>
                <a:srgbClr val="FFFFFF"/>
              </a:highlight>
            </a:endParaRPr>
          </a:p>
          <a:p>
            <a:pPr marL="0" lvl="0" indent="0" algn="l" rtl="0">
              <a:lnSpc>
                <a:spcPct val="143636"/>
              </a:lnSpc>
              <a:spcBef>
                <a:spcPts val="0"/>
              </a:spcBef>
              <a:spcAft>
                <a:spcPts val="0"/>
              </a:spcAft>
              <a:buClr>
                <a:schemeClr val="dk1"/>
              </a:buClr>
              <a:buSzPts val="1100"/>
              <a:buFont typeface="Arial"/>
              <a:buNone/>
            </a:pPr>
            <a:r>
              <a:rPr lang="en" sz="1500">
                <a:solidFill>
                  <a:schemeClr val="dk1"/>
                </a:solidFill>
                <a:highlight>
                  <a:srgbClr val="FFFFFF"/>
                </a:highlight>
              </a:rPr>
              <a:t>There are various commands that may be used in conjunction with zeek cut to sort, filter, and modify the output of your queries.</a:t>
            </a:r>
            <a:endParaRPr sz="1500">
              <a:solidFill>
                <a:schemeClr val="dk1"/>
              </a:solidFill>
              <a:highlight>
                <a:srgbClr val="FFFFFF"/>
              </a:highlight>
            </a:endParaRPr>
          </a:p>
          <a:p>
            <a:pPr marL="0" lvl="0" indent="0" algn="l" rtl="0">
              <a:lnSpc>
                <a:spcPct val="143636"/>
              </a:lnSpc>
              <a:spcBef>
                <a:spcPts val="0"/>
              </a:spcBef>
              <a:spcAft>
                <a:spcPts val="0"/>
              </a:spcAft>
              <a:buClr>
                <a:schemeClr val="dk1"/>
              </a:buClr>
              <a:buSzPts val="1100"/>
              <a:buFont typeface="Arial"/>
              <a:buNone/>
            </a:pPr>
            <a:endParaRPr sz="1500">
              <a:solidFill>
                <a:schemeClr val="dk1"/>
              </a:solidFill>
              <a:highlight>
                <a:srgbClr val="FFFFFF"/>
              </a:highlight>
            </a:endParaRPr>
          </a:p>
          <a:p>
            <a:pPr marL="0" lvl="0" indent="0" algn="l" rtl="0">
              <a:lnSpc>
                <a:spcPct val="143636"/>
              </a:lnSpc>
              <a:spcBef>
                <a:spcPts val="0"/>
              </a:spcBef>
              <a:spcAft>
                <a:spcPts val="0"/>
              </a:spcAft>
              <a:buClr>
                <a:schemeClr val="dk1"/>
              </a:buClr>
              <a:buSzPts val="1100"/>
              <a:buFont typeface="Arial"/>
              <a:buNone/>
            </a:pPr>
            <a:r>
              <a:rPr lang="en" sz="1500">
                <a:solidFill>
                  <a:schemeClr val="dk1"/>
                </a:solidFill>
                <a:highlight>
                  <a:srgbClr val="FFFFFF"/>
                </a:highlight>
              </a:rPr>
              <a:t>In order to use these commands in conjunction with zeek-cut, we will be utilizing the pipe “ | ” operator.</a:t>
            </a:r>
            <a:endParaRPr sz="1500">
              <a:solidFill>
                <a:schemeClr val="dk1"/>
              </a:solidFill>
              <a:highlight>
                <a:srgbClr val="FFFFFF"/>
              </a:highlight>
            </a:endParaRPr>
          </a:p>
          <a:p>
            <a:pPr marL="0" lvl="0" indent="0" algn="l" rtl="0">
              <a:lnSpc>
                <a:spcPct val="143636"/>
              </a:lnSpc>
              <a:spcBef>
                <a:spcPts val="0"/>
              </a:spcBef>
              <a:spcAft>
                <a:spcPts val="0"/>
              </a:spcAft>
              <a:buClr>
                <a:schemeClr val="dk1"/>
              </a:buClr>
              <a:buSzPts val="1100"/>
              <a:buFont typeface="Arial"/>
              <a:buNone/>
            </a:pPr>
            <a:endParaRPr sz="1500">
              <a:solidFill>
                <a:schemeClr val="dk1"/>
              </a:solidFill>
              <a:highlight>
                <a:srgbClr val="FFFFFF"/>
              </a:highlight>
            </a:endParaRPr>
          </a:p>
          <a:p>
            <a:pPr marL="0" lvl="0" indent="0" algn="l" rtl="0">
              <a:lnSpc>
                <a:spcPct val="143636"/>
              </a:lnSpc>
              <a:spcBef>
                <a:spcPts val="0"/>
              </a:spcBef>
              <a:spcAft>
                <a:spcPts val="0"/>
              </a:spcAft>
              <a:buClr>
                <a:schemeClr val="dk1"/>
              </a:buClr>
              <a:buSzPts val="1100"/>
              <a:buFont typeface="Arial"/>
              <a:buNone/>
            </a:pPr>
            <a:r>
              <a:rPr lang="en" sz="1500">
                <a:solidFill>
                  <a:schemeClr val="dk1"/>
                </a:solidFill>
                <a:highlight>
                  <a:srgbClr val="FFFFFF"/>
                </a:highlight>
              </a:rPr>
              <a:t>The pipe operator will ingest the output of the preceding command and allow us to perform additional filtering operations to the data in order to receive our desired output.</a:t>
            </a:r>
            <a:endParaRPr sz="1500">
              <a:solidFill>
                <a:schemeClr val="dk1"/>
              </a:solidFill>
              <a:highlight>
                <a:srgbClr val="FFFFFF"/>
              </a:highlight>
            </a:endParaRPr>
          </a:p>
          <a:p>
            <a:pPr marL="0" lvl="0" indent="0" algn="l" rtl="0">
              <a:lnSpc>
                <a:spcPct val="143636"/>
              </a:lnSpc>
              <a:spcBef>
                <a:spcPts val="1800"/>
              </a:spcBef>
              <a:spcAft>
                <a:spcPts val="1800"/>
              </a:spcAft>
              <a:buSzPts val="1800"/>
              <a:buNone/>
            </a:pPr>
            <a:endParaRPr sz="897">
              <a:solidFill>
                <a:srgbClr val="E74C3C"/>
              </a:solidFill>
              <a:highlight>
                <a:srgbClr val="FFFFFF"/>
              </a:highlight>
              <a:latin typeface="Courier New"/>
              <a:ea typeface="Courier New"/>
              <a:cs typeface="Courier New"/>
              <a:sym typeface="Courier New"/>
            </a:endParaRPr>
          </a:p>
        </p:txBody>
      </p:sp>
      <p:sp>
        <p:nvSpPr>
          <p:cNvPr id="244" name="Google Shape;244;g33f2de1e6ea_0_4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6"/>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B3EB"/>
                </a:solidFill>
              </a:rPr>
              <a:t>Log Processing Commands</a:t>
            </a:r>
            <a:endParaRPr b="1">
              <a:solidFill>
                <a:srgbClr val="00B3EB"/>
              </a:solidFill>
            </a:endParaRPr>
          </a:p>
        </p:txBody>
      </p:sp>
      <p:sp>
        <p:nvSpPr>
          <p:cNvPr id="250" name="Google Shape;250;p16"/>
          <p:cNvSpPr txBox="1">
            <a:spLocks noGrp="1"/>
          </p:cNvSpPr>
          <p:nvPr>
            <p:ph type="body" idx="1"/>
          </p:nvPr>
        </p:nvSpPr>
        <p:spPr>
          <a:xfrm>
            <a:off x="311700" y="572700"/>
            <a:ext cx="8520600" cy="4379400"/>
          </a:xfrm>
          <a:prstGeom prst="rect">
            <a:avLst/>
          </a:prstGeom>
          <a:noFill/>
          <a:ln>
            <a:noFill/>
          </a:ln>
        </p:spPr>
        <p:txBody>
          <a:bodyPr spcFirstLastPara="1" wrap="square" lIns="91425" tIns="91425" rIns="91425" bIns="91425" anchor="t" anchorCtr="0">
            <a:noAutofit/>
          </a:bodyPr>
          <a:lstStyle/>
          <a:p>
            <a:pPr marL="0" lvl="0" indent="0" algn="l" rtl="0">
              <a:lnSpc>
                <a:spcPct val="143636"/>
              </a:lnSpc>
              <a:spcBef>
                <a:spcPts val="0"/>
              </a:spcBef>
              <a:spcAft>
                <a:spcPts val="0"/>
              </a:spcAft>
              <a:buSzPts val="1800"/>
              <a:buNone/>
            </a:pPr>
            <a:r>
              <a:rPr lang="en" dirty="0">
                <a:solidFill>
                  <a:schemeClr val="dk1"/>
                </a:solidFill>
                <a:highlight>
                  <a:srgbClr val="FFFFFF"/>
                </a:highlight>
              </a:rPr>
              <a:t>sort - This tool allows you to sort lines within text files.</a:t>
            </a:r>
            <a:endParaRPr dirty="0">
              <a:solidFill>
                <a:schemeClr val="dk1"/>
              </a:solidFill>
              <a:highlight>
                <a:srgbClr val="FFFFFF"/>
              </a:highlight>
            </a:endParaRPr>
          </a:p>
          <a:p>
            <a:pPr marL="0" lvl="0" indent="0" algn="l" rtl="0">
              <a:lnSpc>
                <a:spcPct val="143636"/>
              </a:lnSpc>
              <a:spcBef>
                <a:spcPts val="0"/>
              </a:spcBef>
              <a:spcAft>
                <a:spcPts val="0"/>
              </a:spcAft>
              <a:buSzPts val="1800"/>
              <a:buNone/>
            </a:pPr>
            <a:r>
              <a:rPr lang="en" sz="1600" b="1" dirty="0">
                <a:solidFill>
                  <a:srgbClr val="00B3EB"/>
                </a:solidFill>
                <a:highlight>
                  <a:srgbClr val="FFFFFF"/>
                </a:highlight>
                <a:latin typeface="Courier New"/>
                <a:ea typeface="Courier New"/>
                <a:cs typeface="Courier New"/>
                <a:sym typeface="Courier New"/>
              </a:rPr>
              <a:t>cat </a:t>
            </a:r>
            <a:r>
              <a:rPr lang="en" sz="1600" b="1" dirty="0" err="1">
                <a:solidFill>
                  <a:srgbClr val="00B3EB"/>
                </a:solidFill>
                <a:highlight>
                  <a:srgbClr val="FFFFFF"/>
                </a:highlight>
                <a:latin typeface="Courier New"/>
                <a:ea typeface="Courier New"/>
                <a:cs typeface="Courier New"/>
                <a:sym typeface="Courier New"/>
              </a:rPr>
              <a:t>conn.log</a:t>
            </a:r>
            <a:r>
              <a:rPr lang="en" sz="1600" b="1" dirty="0">
                <a:solidFill>
                  <a:srgbClr val="00B3EB"/>
                </a:solidFill>
                <a:highlight>
                  <a:srgbClr val="FFFFFF"/>
                </a:highlight>
                <a:latin typeface="Courier New"/>
                <a:ea typeface="Courier New"/>
                <a:cs typeface="Courier New"/>
                <a:sym typeface="Courier New"/>
              </a:rPr>
              <a:t> | </a:t>
            </a:r>
            <a:r>
              <a:rPr lang="en" sz="1600" b="1" dirty="0" err="1">
                <a:solidFill>
                  <a:srgbClr val="00B3EB"/>
                </a:solidFill>
                <a:highlight>
                  <a:srgbClr val="FFFFFF"/>
                </a:highlight>
                <a:latin typeface="Courier New"/>
                <a:ea typeface="Courier New"/>
                <a:cs typeface="Courier New"/>
                <a:sym typeface="Courier New"/>
              </a:rPr>
              <a:t>zeek</a:t>
            </a:r>
            <a:r>
              <a:rPr lang="en" sz="1600" b="1" dirty="0">
                <a:solidFill>
                  <a:srgbClr val="00B3EB"/>
                </a:solidFill>
                <a:highlight>
                  <a:srgbClr val="FFFFFF"/>
                </a:highlight>
                <a:latin typeface="Courier New"/>
                <a:ea typeface="Courier New"/>
                <a:cs typeface="Courier New"/>
                <a:sym typeface="Courier New"/>
              </a:rPr>
              <a:t>-cut </a:t>
            </a:r>
            <a:r>
              <a:rPr lang="en" sz="1600" b="1" dirty="0" err="1">
                <a:solidFill>
                  <a:srgbClr val="00B3EB"/>
                </a:solidFill>
                <a:highlight>
                  <a:srgbClr val="FFFFFF"/>
                </a:highlight>
                <a:latin typeface="Courier New"/>
                <a:ea typeface="Courier New"/>
                <a:cs typeface="Courier New"/>
                <a:sym typeface="Courier New"/>
              </a:rPr>
              <a:t>id.orig_h</a:t>
            </a:r>
            <a:r>
              <a:rPr lang="en" sz="1600" b="1" dirty="0">
                <a:solidFill>
                  <a:srgbClr val="00B3EB"/>
                </a:solidFill>
                <a:highlight>
                  <a:srgbClr val="FFFFFF"/>
                </a:highlight>
                <a:latin typeface="Courier New"/>
                <a:ea typeface="Courier New"/>
                <a:cs typeface="Courier New"/>
                <a:sym typeface="Courier New"/>
              </a:rPr>
              <a:t> </a:t>
            </a:r>
            <a:r>
              <a:rPr lang="en" sz="1600" b="1" dirty="0" err="1">
                <a:solidFill>
                  <a:srgbClr val="00B3EB"/>
                </a:solidFill>
                <a:highlight>
                  <a:srgbClr val="FFFFFF"/>
                </a:highlight>
                <a:latin typeface="Courier New"/>
                <a:ea typeface="Courier New"/>
                <a:cs typeface="Courier New"/>
                <a:sym typeface="Courier New"/>
              </a:rPr>
              <a:t>resp_bytes</a:t>
            </a:r>
            <a:r>
              <a:rPr lang="en" sz="1600" b="1" dirty="0">
                <a:solidFill>
                  <a:srgbClr val="00B3EB"/>
                </a:solidFill>
                <a:highlight>
                  <a:srgbClr val="FFFFFF"/>
                </a:highlight>
                <a:latin typeface="Courier New"/>
                <a:ea typeface="Courier New"/>
                <a:cs typeface="Courier New"/>
                <a:sym typeface="Courier New"/>
              </a:rPr>
              <a:t> | sort -rnk2 | head</a:t>
            </a:r>
            <a:endParaRPr sz="1600" b="1" dirty="0">
              <a:solidFill>
                <a:srgbClr val="00B3EB"/>
              </a:solidFill>
              <a:highlight>
                <a:srgbClr val="FFFFFF"/>
              </a:highlight>
              <a:latin typeface="Courier New"/>
              <a:ea typeface="Courier New"/>
              <a:cs typeface="Courier New"/>
              <a:sym typeface="Courier New"/>
            </a:endParaRPr>
          </a:p>
          <a:p>
            <a:pPr marL="0" lvl="0" indent="0" algn="l" rtl="0">
              <a:lnSpc>
                <a:spcPct val="100000"/>
              </a:lnSpc>
              <a:spcBef>
                <a:spcPts val="1800"/>
              </a:spcBef>
              <a:spcAft>
                <a:spcPts val="0"/>
              </a:spcAft>
              <a:buClr>
                <a:schemeClr val="dk1"/>
              </a:buClr>
              <a:buSzPts val="1100"/>
              <a:buFont typeface="Arial"/>
              <a:buNone/>
            </a:pPr>
            <a:r>
              <a:rPr lang="en" dirty="0">
                <a:solidFill>
                  <a:schemeClr val="dk1"/>
                </a:solidFill>
                <a:highlight>
                  <a:srgbClr val="FFFFFF"/>
                </a:highlight>
              </a:rPr>
              <a:t>192.168.125.105	60505</a:t>
            </a:r>
            <a:br>
              <a:rPr lang="en" dirty="0">
                <a:solidFill>
                  <a:schemeClr val="dk1"/>
                </a:solidFill>
                <a:highlight>
                  <a:srgbClr val="FFFFFF"/>
                </a:highlight>
              </a:rPr>
            </a:br>
            <a:r>
              <a:rPr lang="en" dirty="0">
                <a:solidFill>
                  <a:schemeClr val="dk1"/>
                </a:solidFill>
                <a:highlight>
                  <a:srgbClr val="FFFFFF"/>
                </a:highlight>
              </a:rPr>
              <a:t>192.168.125.1	60502</a:t>
            </a:r>
            <a:br>
              <a:rPr lang="en" dirty="0">
                <a:solidFill>
                  <a:schemeClr val="dk1"/>
                </a:solidFill>
                <a:highlight>
                  <a:srgbClr val="FFFFFF"/>
                </a:highlight>
              </a:rPr>
            </a:br>
            <a:r>
              <a:rPr lang="en" dirty="0">
                <a:solidFill>
                  <a:schemeClr val="dk1"/>
                </a:solidFill>
                <a:highlight>
                  <a:srgbClr val="FFFFFF"/>
                </a:highlight>
              </a:rPr>
              <a:t>192.168.125.1	60496</a:t>
            </a:r>
            <a:br>
              <a:rPr lang="en" dirty="0">
                <a:solidFill>
                  <a:schemeClr val="dk1"/>
                </a:solidFill>
                <a:highlight>
                  <a:srgbClr val="FFFFFF"/>
                </a:highlight>
              </a:rPr>
            </a:br>
            <a:r>
              <a:rPr lang="en" dirty="0">
                <a:solidFill>
                  <a:schemeClr val="dk1"/>
                </a:solidFill>
                <a:highlight>
                  <a:srgbClr val="FFFFFF"/>
                </a:highlight>
              </a:rPr>
              <a:t>192.168.125.1	60484</a:t>
            </a:r>
            <a:br>
              <a:rPr lang="en" dirty="0">
                <a:solidFill>
                  <a:schemeClr val="dk1"/>
                </a:solidFill>
                <a:highlight>
                  <a:srgbClr val="FFFFFF"/>
                </a:highlight>
              </a:rPr>
            </a:br>
            <a:r>
              <a:rPr lang="en" dirty="0">
                <a:solidFill>
                  <a:schemeClr val="dk1"/>
                </a:solidFill>
                <a:highlight>
                  <a:srgbClr val="FFFFFF"/>
                </a:highlight>
              </a:rPr>
              <a:t>192.168.125.1	60484</a:t>
            </a:r>
            <a:br>
              <a:rPr lang="en" dirty="0">
                <a:solidFill>
                  <a:schemeClr val="dk1"/>
                </a:solidFill>
                <a:highlight>
                  <a:srgbClr val="FFFFFF"/>
                </a:highlight>
              </a:rPr>
            </a:br>
            <a:r>
              <a:rPr lang="en" dirty="0">
                <a:solidFill>
                  <a:schemeClr val="dk1"/>
                </a:solidFill>
                <a:highlight>
                  <a:srgbClr val="FFFFFF"/>
                </a:highlight>
              </a:rPr>
              <a:t>192.168.125.1	49782</a:t>
            </a:r>
            <a:br>
              <a:rPr lang="en" dirty="0">
                <a:solidFill>
                  <a:schemeClr val="dk1"/>
                </a:solidFill>
                <a:highlight>
                  <a:srgbClr val="FFFFFF"/>
                </a:highlight>
              </a:rPr>
            </a:br>
            <a:r>
              <a:rPr lang="en" dirty="0">
                <a:solidFill>
                  <a:schemeClr val="dk1"/>
                </a:solidFill>
                <a:highlight>
                  <a:srgbClr val="FFFFFF"/>
                </a:highlight>
              </a:rPr>
              <a:t>192.168.125.1	49779</a:t>
            </a:r>
            <a:br>
              <a:rPr lang="en" dirty="0">
                <a:solidFill>
                  <a:schemeClr val="dk1"/>
                </a:solidFill>
                <a:highlight>
                  <a:srgbClr val="FFFFFF"/>
                </a:highlight>
              </a:rPr>
            </a:br>
            <a:r>
              <a:rPr lang="en" dirty="0">
                <a:solidFill>
                  <a:schemeClr val="dk1"/>
                </a:solidFill>
                <a:highlight>
                  <a:srgbClr val="FFFFFF"/>
                </a:highlight>
              </a:rPr>
              <a:t>192.168.125.1	49776</a:t>
            </a:r>
            <a:br>
              <a:rPr lang="en" dirty="0">
                <a:solidFill>
                  <a:schemeClr val="dk1"/>
                </a:solidFill>
                <a:highlight>
                  <a:srgbClr val="FFFFFF"/>
                </a:highlight>
              </a:rPr>
            </a:br>
            <a:r>
              <a:rPr lang="en" dirty="0">
                <a:solidFill>
                  <a:schemeClr val="dk1"/>
                </a:solidFill>
                <a:highlight>
                  <a:srgbClr val="FFFFFF"/>
                </a:highlight>
              </a:rPr>
              <a:t>192.168.125.1	49773</a:t>
            </a:r>
            <a:br>
              <a:rPr lang="en" dirty="0">
                <a:solidFill>
                  <a:schemeClr val="dk1"/>
                </a:solidFill>
                <a:highlight>
                  <a:srgbClr val="FFFFFF"/>
                </a:highlight>
              </a:rPr>
            </a:br>
            <a:r>
              <a:rPr lang="en" dirty="0">
                <a:solidFill>
                  <a:schemeClr val="dk1"/>
                </a:solidFill>
                <a:highlight>
                  <a:srgbClr val="FFFFFF"/>
                </a:highlight>
              </a:rPr>
              <a:t>192.168.125.1	49773</a:t>
            </a:r>
            <a:endParaRPr dirty="0">
              <a:solidFill>
                <a:schemeClr val="dk1"/>
              </a:solidFill>
              <a:highlight>
                <a:srgbClr val="FFFFFF"/>
              </a:highlight>
            </a:endParaRPr>
          </a:p>
          <a:p>
            <a:pPr marL="0" lvl="0" indent="0" algn="l" rtl="0">
              <a:lnSpc>
                <a:spcPct val="100000"/>
              </a:lnSpc>
              <a:spcBef>
                <a:spcPts val="1800"/>
              </a:spcBef>
              <a:spcAft>
                <a:spcPts val="0"/>
              </a:spcAft>
              <a:buSzPts val="1800"/>
              <a:buNone/>
            </a:pPr>
            <a:endParaRPr dirty="0">
              <a:solidFill>
                <a:schemeClr val="dk1"/>
              </a:solidFill>
              <a:highlight>
                <a:srgbClr val="FFFFFF"/>
              </a:highlight>
            </a:endParaRPr>
          </a:p>
          <a:p>
            <a:pPr marL="0" lvl="0" indent="0" algn="l" rtl="0">
              <a:lnSpc>
                <a:spcPct val="100000"/>
              </a:lnSpc>
              <a:spcBef>
                <a:spcPts val="1800"/>
              </a:spcBef>
              <a:spcAft>
                <a:spcPts val="1800"/>
              </a:spcAft>
              <a:buSzPts val="1800"/>
              <a:buNone/>
            </a:pPr>
            <a:endParaRPr dirty="0">
              <a:solidFill>
                <a:schemeClr val="dk1"/>
              </a:solidFill>
              <a:highlight>
                <a:srgbClr val="FFFFFF"/>
              </a:highlight>
            </a:endParaRPr>
          </a:p>
        </p:txBody>
      </p:sp>
      <p:sp>
        <p:nvSpPr>
          <p:cNvPr id="251" name="Google Shape;25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7"/>
          <p:cNvSpPr txBox="1">
            <a:spLocks noGrp="1"/>
          </p:cNvSpPr>
          <p:nvPr>
            <p:ph type="body" idx="1"/>
          </p:nvPr>
        </p:nvSpPr>
        <p:spPr>
          <a:xfrm>
            <a:off x="311700" y="607512"/>
            <a:ext cx="8520600" cy="4379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800"/>
              <a:buNone/>
            </a:pPr>
            <a:r>
              <a:rPr lang="en" dirty="0" err="1">
                <a:solidFill>
                  <a:schemeClr val="dk1"/>
                </a:solidFill>
                <a:highlight>
                  <a:srgbClr val="FFFFFF"/>
                </a:highlight>
              </a:rPr>
              <a:t>uniq</a:t>
            </a:r>
            <a:r>
              <a:rPr lang="en" dirty="0">
                <a:solidFill>
                  <a:schemeClr val="dk1"/>
                </a:solidFill>
                <a:highlight>
                  <a:srgbClr val="FFFFFF"/>
                </a:highlight>
              </a:rPr>
              <a:t> - This tool allows you to filter out repeated lines in a file.</a:t>
            </a:r>
            <a:endParaRPr sz="1500" dirty="0">
              <a:solidFill>
                <a:srgbClr val="00B3EB"/>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SzPts val="1800"/>
              <a:buNone/>
            </a:pPr>
            <a:r>
              <a:rPr lang="en" sz="1400" b="1" dirty="0">
                <a:solidFill>
                  <a:srgbClr val="00B3EB"/>
                </a:solidFill>
                <a:highlight>
                  <a:schemeClr val="lt1"/>
                </a:highlight>
                <a:latin typeface="Courier New"/>
                <a:ea typeface="Courier New"/>
                <a:cs typeface="Courier New"/>
                <a:sym typeface="Courier New"/>
              </a:rPr>
              <a:t>cat </a:t>
            </a:r>
            <a:r>
              <a:rPr lang="en" sz="1400" b="1" dirty="0" err="1">
                <a:solidFill>
                  <a:srgbClr val="00B3EB"/>
                </a:solidFill>
                <a:highlight>
                  <a:schemeClr val="lt1"/>
                </a:highlight>
                <a:latin typeface="Courier New"/>
                <a:ea typeface="Courier New"/>
                <a:cs typeface="Courier New"/>
                <a:sym typeface="Courier New"/>
              </a:rPr>
              <a:t>conn.log</a:t>
            </a:r>
            <a:r>
              <a:rPr lang="en" sz="1400" b="1" dirty="0">
                <a:solidFill>
                  <a:srgbClr val="00B3EB"/>
                </a:solidFill>
                <a:highlight>
                  <a:schemeClr val="lt1"/>
                </a:highlight>
                <a:latin typeface="Courier New"/>
                <a:ea typeface="Courier New"/>
                <a:cs typeface="Courier New"/>
                <a:sym typeface="Courier New"/>
              </a:rPr>
              <a:t> | </a:t>
            </a:r>
            <a:r>
              <a:rPr lang="en" sz="1400" b="1" dirty="0" err="1">
                <a:solidFill>
                  <a:srgbClr val="00B3EB"/>
                </a:solidFill>
                <a:highlight>
                  <a:schemeClr val="lt1"/>
                </a:highlight>
                <a:latin typeface="Courier New"/>
                <a:ea typeface="Courier New"/>
                <a:cs typeface="Courier New"/>
                <a:sym typeface="Courier New"/>
              </a:rPr>
              <a:t>zeek</a:t>
            </a:r>
            <a:r>
              <a:rPr lang="en" sz="1400" b="1" dirty="0">
                <a:solidFill>
                  <a:srgbClr val="00B3EB"/>
                </a:solidFill>
                <a:highlight>
                  <a:schemeClr val="lt1"/>
                </a:highlight>
                <a:latin typeface="Courier New"/>
                <a:ea typeface="Courier New"/>
                <a:cs typeface="Courier New"/>
                <a:sym typeface="Courier New"/>
              </a:rPr>
              <a:t>-cut </a:t>
            </a:r>
            <a:r>
              <a:rPr lang="en" sz="1400" b="1" dirty="0" err="1">
                <a:solidFill>
                  <a:srgbClr val="00B3EB"/>
                </a:solidFill>
                <a:highlight>
                  <a:schemeClr val="lt1"/>
                </a:highlight>
                <a:latin typeface="Courier New"/>
                <a:ea typeface="Courier New"/>
                <a:cs typeface="Courier New"/>
                <a:sym typeface="Courier New"/>
              </a:rPr>
              <a:t>id.orig_h</a:t>
            </a:r>
            <a:r>
              <a:rPr lang="en" sz="1400" b="1" dirty="0">
                <a:solidFill>
                  <a:srgbClr val="00B3EB"/>
                </a:solidFill>
                <a:highlight>
                  <a:schemeClr val="lt1"/>
                </a:highlight>
                <a:latin typeface="Courier New"/>
                <a:ea typeface="Courier New"/>
                <a:cs typeface="Courier New"/>
                <a:sym typeface="Courier New"/>
              </a:rPr>
              <a:t> </a:t>
            </a:r>
            <a:r>
              <a:rPr lang="en" sz="1400" b="1" dirty="0" err="1">
                <a:solidFill>
                  <a:srgbClr val="00B3EB"/>
                </a:solidFill>
                <a:highlight>
                  <a:schemeClr val="lt1"/>
                </a:highlight>
                <a:latin typeface="Courier New"/>
                <a:ea typeface="Courier New"/>
                <a:cs typeface="Courier New"/>
                <a:sym typeface="Courier New"/>
              </a:rPr>
              <a:t>id.resp_p</a:t>
            </a:r>
            <a:r>
              <a:rPr lang="en" sz="1400" b="1" dirty="0">
                <a:solidFill>
                  <a:srgbClr val="00B3EB"/>
                </a:solidFill>
                <a:highlight>
                  <a:schemeClr val="lt1"/>
                </a:highlight>
                <a:latin typeface="Courier New"/>
                <a:ea typeface="Courier New"/>
                <a:cs typeface="Courier New"/>
                <a:sym typeface="Courier New"/>
              </a:rPr>
              <a:t> | sort | </a:t>
            </a:r>
            <a:r>
              <a:rPr lang="en" sz="1400" b="1" dirty="0" err="1">
                <a:solidFill>
                  <a:srgbClr val="00B3EB"/>
                </a:solidFill>
                <a:highlight>
                  <a:schemeClr val="lt1"/>
                </a:highlight>
                <a:latin typeface="Courier New"/>
                <a:ea typeface="Courier New"/>
                <a:cs typeface="Courier New"/>
                <a:sym typeface="Courier New"/>
              </a:rPr>
              <a:t>uniq</a:t>
            </a:r>
            <a:r>
              <a:rPr lang="en" sz="1400" b="1" dirty="0">
                <a:solidFill>
                  <a:srgbClr val="00B3EB"/>
                </a:solidFill>
                <a:highlight>
                  <a:schemeClr val="lt1"/>
                </a:highlight>
                <a:latin typeface="Courier New"/>
                <a:ea typeface="Courier New"/>
                <a:cs typeface="Courier New"/>
                <a:sym typeface="Courier New"/>
              </a:rPr>
              <a:t> -c | sort -rnk1</a:t>
            </a:r>
            <a:br>
              <a:rPr lang="en" sz="1400" b="1" dirty="0">
                <a:solidFill>
                  <a:srgbClr val="00B3EB"/>
                </a:solidFill>
                <a:highlight>
                  <a:schemeClr val="lt1"/>
                </a:highlight>
                <a:latin typeface="Courier New"/>
                <a:ea typeface="Courier New"/>
                <a:cs typeface="Courier New"/>
                <a:sym typeface="Courier New"/>
              </a:rPr>
            </a:br>
            <a:br>
              <a:rPr lang="en" dirty="0">
                <a:solidFill>
                  <a:srgbClr val="00B3EB"/>
                </a:solidFill>
                <a:highlight>
                  <a:srgbClr val="FFFFFF"/>
                </a:highlight>
              </a:rPr>
            </a:br>
            <a:r>
              <a:rPr lang="en" dirty="0">
                <a:solidFill>
                  <a:schemeClr val="dk1"/>
                </a:solidFill>
                <a:highlight>
                  <a:srgbClr val="FFFFFF"/>
                </a:highlight>
              </a:rPr>
              <a:t>129  192.168.125.1       80</a:t>
            </a:r>
            <a:br>
              <a:rPr lang="en" dirty="0">
                <a:solidFill>
                  <a:schemeClr val="dk1"/>
                </a:solidFill>
                <a:highlight>
                  <a:srgbClr val="FFFFFF"/>
                </a:highlight>
              </a:rPr>
            </a:br>
            <a:r>
              <a:rPr lang="en" dirty="0">
                <a:solidFill>
                  <a:schemeClr val="dk1"/>
                </a:solidFill>
                <a:highlight>
                  <a:srgbClr val="FFFFFF"/>
                </a:highlight>
              </a:rPr>
              <a:t>  25  127.0.0.1               53</a:t>
            </a:r>
            <a:br>
              <a:rPr lang="en" dirty="0">
                <a:solidFill>
                  <a:schemeClr val="dk1"/>
                </a:solidFill>
                <a:highlight>
                  <a:srgbClr val="FFFFFF"/>
                </a:highlight>
              </a:rPr>
            </a:br>
            <a:r>
              <a:rPr lang="en" dirty="0">
                <a:solidFill>
                  <a:schemeClr val="dk1"/>
                </a:solidFill>
                <a:highlight>
                  <a:srgbClr val="FFFFFF"/>
                </a:highlight>
              </a:rPr>
              <a:t>  24  192.168.125.105   80</a:t>
            </a:r>
            <a:br>
              <a:rPr lang="en" dirty="0">
                <a:solidFill>
                  <a:schemeClr val="dk1"/>
                </a:solidFill>
                <a:highlight>
                  <a:srgbClr val="FFFFFF"/>
                </a:highlight>
              </a:rPr>
            </a:br>
            <a:r>
              <a:rPr lang="en" dirty="0">
                <a:solidFill>
                  <a:schemeClr val="dk1"/>
                </a:solidFill>
                <a:highlight>
                  <a:srgbClr val="FFFFFF"/>
                </a:highlight>
              </a:rPr>
              <a:t>  17   ::1     80</a:t>
            </a:r>
            <a:br>
              <a:rPr lang="en" dirty="0">
                <a:solidFill>
                  <a:schemeClr val="dk1"/>
                </a:solidFill>
                <a:highlight>
                  <a:srgbClr val="FFFFFF"/>
                </a:highlight>
              </a:rPr>
            </a:br>
            <a:r>
              <a:rPr lang="en" dirty="0">
                <a:solidFill>
                  <a:schemeClr val="dk1"/>
                </a:solidFill>
                <a:highlight>
                  <a:srgbClr val="FFFFFF"/>
                </a:highlight>
              </a:rPr>
              <a:t>  13  192.168.125.105   123</a:t>
            </a:r>
            <a:br>
              <a:rPr lang="en" dirty="0">
                <a:solidFill>
                  <a:schemeClr val="dk1"/>
                </a:solidFill>
                <a:highlight>
                  <a:srgbClr val="FFFFFF"/>
                </a:highlight>
              </a:rPr>
            </a:br>
            <a:r>
              <a:rPr lang="en" dirty="0">
                <a:solidFill>
                  <a:schemeClr val="dk1"/>
                </a:solidFill>
                <a:highlight>
                  <a:srgbClr val="FFFFFF"/>
                </a:highlight>
              </a:rPr>
              <a:t>    8  192.168.125.105   53</a:t>
            </a:r>
            <a:br>
              <a:rPr lang="en" dirty="0">
                <a:solidFill>
                  <a:schemeClr val="dk1"/>
                </a:solidFill>
                <a:highlight>
                  <a:srgbClr val="FFFFFF"/>
                </a:highlight>
              </a:rPr>
            </a:br>
            <a:r>
              <a:rPr lang="en" dirty="0">
                <a:solidFill>
                  <a:schemeClr val="dk1"/>
                </a:solidFill>
                <a:highlight>
                  <a:srgbClr val="FFFFFF"/>
                </a:highlight>
              </a:rPr>
              <a:t>    7  192.168.125.105   5000</a:t>
            </a:r>
            <a:br>
              <a:rPr lang="en" dirty="0">
                <a:solidFill>
                  <a:schemeClr val="dk1"/>
                </a:solidFill>
                <a:highlight>
                  <a:srgbClr val="FFFFFF"/>
                </a:highlight>
              </a:rPr>
            </a:br>
            <a:r>
              <a:rPr lang="en" dirty="0">
                <a:solidFill>
                  <a:schemeClr val="dk1"/>
                </a:solidFill>
                <a:highlight>
                  <a:srgbClr val="FFFFFF"/>
                </a:highlight>
              </a:rPr>
              <a:t>    4  192.168.125.105   0</a:t>
            </a:r>
            <a:br>
              <a:rPr lang="en" dirty="0">
                <a:solidFill>
                  <a:schemeClr val="dk1"/>
                </a:solidFill>
                <a:highlight>
                  <a:srgbClr val="FFFFFF"/>
                </a:highlight>
              </a:rPr>
            </a:br>
            <a:r>
              <a:rPr lang="en" dirty="0">
                <a:solidFill>
                  <a:schemeClr val="dk1"/>
                </a:solidFill>
                <a:highlight>
                  <a:srgbClr val="FFFFFF"/>
                </a:highlight>
              </a:rPr>
              <a:t>    2  fe80::f816:3eff:fed7:36aa       134</a:t>
            </a:r>
            <a:br>
              <a:rPr lang="en" dirty="0">
                <a:solidFill>
                  <a:schemeClr val="dk1"/>
                </a:solidFill>
                <a:highlight>
                  <a:srgbClr val="FFFFFF"/>
                </a:highlight>
              </a:rPr>
            </a:br>
            <a:r>
              <a:rPr lang="en" dirty="0">
                <a:solidFill>
                  <a:schemeClr val="dk1"/>
                </a:solidFill>
                <a:highlight>
                  <a:srgbClr val="FFFFFF"/>
                </a:highlight>
              </a:rPr>
              <a:t>    2  192.168.125.1       25</a:t>
            </a:r>
            <a:br>
              <a:rPr lang="en" dirty="0">
                <a:solidFill>
                  <a:schemeClr val="dk1"/>
                </a:solidFill>
                <a:highlight>
                  <a:srgbClr val="FFFFFF"/>
                </a:highlight>
              </a:rPr>
            </a:br>
            <a:r>
              <a:rPr lang="en" dirty="0">
                <a:solidFill>
                  <a:schemeClr val="dk1"/>
                </a:solidFill>
                <a:highlight>
                  <a:srgbClr val="FFFFFF"/>
                </a:highlight>
              </a:rPr>
              <a:t>    1  192.168.125.106   22</a:t>
            </a:r>
            <a:endParaRPr dirty="0">
              <a:solidFill>
                <a:schemeClr val="dk1"/>
              </a:solidFill>
              <a:highlight>
                <a:srgbClr val="FFFFFF"/>
              </a:highlight>
            </a:endParaRPr>
          </a:p>
          <a:p>
            <a:pPr marL="0" lvl="0" indent="0" algn="l" rtl="0">
              <a:lnSpc>
                <a:spcPct val="100000"/>
              </a:lnSpc>
              <a:spcBef>
                <a:spcPts val="1800"/>
              </a:spcBef>
              <a:spcAft>
                <a:spcPts val="1800"/>
              </a:spcAft>
              <a:buSzPts val="1800"/>
              <a:buNone/>
            </a:pPr>
            <a:endParaRPr dirty="0">
              <a:solidFill>
                <a:schemeClr val="dk1"/>
              </a:solidFill>
              <a:highlight>
                <a:srgbClr val="FFFFFF"/>
              </a:highlight>
            </a:endParaRPr>
          </a:p>
        </p:txBody>
      </p:sp>
      <p:sp>
        <p:nvSpPr>
          <p:cNvPr id="257" name="Google Shape;257;p17"/>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B3EB"/>
                </a:solidFill>
              </a:rPr>
              <a:t>Log Processing Commands</a:t>
            </a:r>
            <a:endParaRPr b="1">
              <a:solidFill>
                <a:srgbClr val="00B3EB"/>
              </a:solidFill>
            </a:endParaRPr>
          </a:p>
        </p:txBody>
      </p:sp>
      <p:sp>
        <p:nvSpPr>
          <p:cNvPr id="258" name="Google Shape;258;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8"/>
          <p:cNvSpPr txBox="1">
            <a:spLocks noGrp="1"/>
          </p:cNvSpPr>
          <p:nvPr>
            <p:ph type="body" idx="1"/>
          </p:nvPr>
        </p:nvSpPr>
        <p:spPr>
          <a:xfrm>
            <a:off x="311700" y="572700"/>
            <a:ext cx="8520600" cy="4379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dirty="0">
                <a:solidFill>
                  <a:schemeClr val="dk1"/>
                </a:solidFill>
                <a:highlight>
                  <a:srgbClr val="FFFFFF"/>
                </a:highlight>
              </a:rPr>
              <a:t>awk - This tool is a pattern-directed scanning and processing language</a:t>
            </a:r>
            <a:br>
              <a:rPr lang="en" dirty="0">
                <a:solidFill>
                  <a:schemeClr val="dk1"/>
                </a:solidFill>
                <a:highlight>
                  <a:srgbClr val="FFFFFF"/>
                </a:highlight>
              </a:rPr>
            </a:br>
            <a:r>
              <a:rPr lang="en" dirty="0">
                <a:solidFill>
                  <a:schemeClr val="dk1"/>
                </a:solidFill>
                <a:highlight>
                  <a:srgbClr val="FFFFFF"/>
                </a:highlight>
              </a:rPr>
              <a:t>which may be used to specify parameters that must be fulfilled within the</a:t>
            </a:r>
            <a:br>
              <a:rPr lang="en" dirty="0">
                <a:solidFill>
                  <a:schemeClr val="dk1"/>
                </a:solidFill>
                <a:highlight>
                  <a:srgbClr val="FFFFFF"/>
                </a:highlight>
              </a:rPr>
            </a:br>
            <a:r>
              <a:rPr lang="en" dirty="0">
                <a:solidFill>
                  <a:schemeClr val="dk1"/>
                </a:solidFill>
                <a:highlight>
                  <a:srgbClr val="FFFFFF"/>
                </a:highlight>
              </a:rPr>
              <a:t>output of the query.</a:t>
            </a:r>
            <a:br>
              <a:rPr lang="en" dirty="0">
                <a:solidFill>
                  <a:schemeClr val="dk1"/>
                </a:solidFill>
                <a:highlight>
                  <a:srgbClr val="FFFFFF"/>
                </a:highlight>
              </a:rPr>
            </a:br>
            <a:endParaRPr dirty="0">
              <a:solidFill>
                <a:schemeClr val="dk1"/>
              </a:solidFill>
              <a:highlight>
                <a:srgbClr val="FFFFFF"/>
              </a:highlight>
            </a:endParaRPr>
          </a:p>
          <a:p>
            <a:pPr marL="0" lvl="0" indent="0" algn="l" rtl="0">
              <a:lnSpc>
                <a:spcPct val="100000"/>
              </a:lnSpc>
              <a:spcBef>
                <a:spcPts val="1800"/>
              </a:spcBef>
              <a:spcAft>
                <a:spcPts val="0"/>
              </a:spcAft>
              <a:buSzPts val="1800"/>
              <a:buNone/>
            </a:pPr>
            <a:br>
              <a:rPr lang="en" dirty="0">
                <a:solidFill>
                  <a:schemeClr val="dk1"/>
                </a:solidFill>
                <a:highlight>
                  <a:srgbClr val="FFFFFF"/>
                </a:highlight>
              </a:rPr>
            </a:br>
            <a:r>
              <a:rPr lang="en" dirty="0">
                <a:solidFill>
                  <a:schemeClr val="dk1"/>
                </a:solidFill>
                <a:highlight>
                  <a:srgbClr val="FFFFFF"/>
                </a:highlight>
              </a:rPr>
              <a:t>Find hosts with http not on port 80</a:t>
            </a:r>
            <a:br>
              <a:rPr lang="en" dirty="0">
                <a:solidFill>
                  <a:schemeClr val="dk1"/>
                </a:solidFill>
                <a:highlight>
                  <a:srgbClr val="FFFFFF"/>
                </a:highlight>
              </a:rPr>
            </a:br>
            <a:r>
              <a:rPr lang="en" b="1" dirty="0">
                <a:solidFill>
                  <a:srgbClr val="00B3EB"/>
                </a:solidFill>
                <a:highlight>
                  <a:srgbClr val="FFFFFF"/>
                </a:highlight>
                <a:latin typeface="Courier New"/>
                <a:ea typeface="Courier New"/>
                <a:cs typeface="Courier New"/>
                <a:sym typeface="Courier New"/>
              </a:rPr>
              <a:t>awk '$8 == "http" &amp;&amp; $6 != 80 { print $0 }' </a:t>
            </a:r>
            <a:r>
              <a:rPr lang="en" b="1" dirty="0" err="1">
                <a:solidFill>
                  <a:srgbClr val="00B3EB"/>
                </a:solidFill>
                <a:highlight>
                  <a:srgbClr val="FFFFFF"/>
                </a:highlight>
                <a:latin typeface="Courier New"/>
                <a:ea typeface="Courier New"/>
                <a:cs typeface="Courier New"/>
                <a:sym typeface="Courier New"/>
              </a:rPr>
              <a:t>conn.log</a:t>
            </a:r>
            <a:endParaRPr b="1" dirty="0">
              <a:solidFill>
                <a:srgbClr val="00B3EB"/>
              </a:solidFill>
              <a:highlight>
                <a:srgbClr val="FFFFFF"/>
              </a:highlight>
              <a:latin typeface="Courier New"/>
              <a:ea typeface="Courier New"/>
              <a:cs typeface="Courier New"/>
              <a:sym typeface="Courier New"/>
            </a:endParaRPr>
          </a:p>
          <a:p>
            <a:pPr marL="0" lvl="0" indent="0" algn="l" rtl="0">
              <a:lnSpc>
                <a:spcPct val="100000"/>
              </a:lnSpc>
              <a:spcBef>
                <a:spcPts val="1800"/>
              </a:spcBef>
              <a:spcAft>
                <a:spcPts val="0"/>
              </a:spcAft>
              <a:buSzPts val="1800"/>
              <a:buNone/>
            </a:pPr>
            <a:endParaRPr dirty="0">
              <a:solidFill>
                <a:srgbClr val="00B3EB"/>
              </a:solidFill>
              <a:highlight>
                <a:srgbClr val="FFFFFF"/>
              </a:highlight>
              <a:latin typeface="Courier New"/>
              <a:ea typeface="Courier New"/>
              <a:cs typeface="Courier New"/>
              <a:sym typeface="Courier New"/>
            </a:endParaRPr>
          </a:p>
          <a:p>
            <a:pPr marL="0" lvl="0" indent="0" algn="l" rtl="0">
              <a:lnSpc>
                <a:spcPct val="100000"/>
              </a:lnSpc>
              <a:spcBef>
                <a:spcPts val="1800"/>
              </a:spcBef>
              <a:spcAft>
                <a:spcPts val="0"/>
              </a:spcAft>
              <a:buSzPts val="1800"/>
              <a:buNone/>
            </a:pPr>
            <a:r>
              <a:rPr lang="en" dirty="0">
                <a:solidFill>
                  <a:schemeClr val="dk1"/>
                </a:solidFill>
                <a:highlight>
                  <a:srgbClr val="FFFFFF"/>
                </a:highlight>
              </a:rPr>
              <a:t>Total </a:t>
            </a:r>
            <a:r>
              <a:rPr lang="en" dirty="0" err="1">
                <a:solidFill>
                  <a:schemeClr val="dk1"/>
                </a:solidFill>
                <a:highlight>
                  <a:srgbClr val="FFFFFF"/>
                </a:highlight>
              </a:rPr>
              <a:t>resp_bytes</a:t>
            </a:r>
            <a:r>
              <a:rPr lang="en" dirty="0">
                <a:solidFill>
                  <a:schemeClr val="dk1"/>
                </a:solidFill>
                <a:highlight>
                  <a:srgbClr val="FFFFFF"/>
                </a:highlight>
              </a:rPr>
              <a:t> for host :</a:t>
            </a:r>
            <a:br>
              <a:rPr lang="en" dirty="0">
                <a:solidFill>
                  <a:srgbClr val="00B3EB"/>
                </a:solidFill>
                <a:highlight>
                  <a:srgbClr val="FFFFFF"/>
                </a:highlight>
                <a:latin typeface="Courier New"/>
                <a:ea typeface="Courier New"/>
                <a:cs typeface="Courier New"/>
                <a:sym typeface="Courier New"/>
              </a:rPr>
            </a:br>
            <a:r>
              <a:rPr lang="en" b="1" dirty="0">
                <a:solidFill>
                  <a:srgbClr val="00B3EB"/>
                </a:solidFill>
                <a:highlight>
                  <a:schemeClr val="lt1"/>
                </a:highlight>
                <a:latin typeface="Courier New"/>
                <a:ea typeface="Courier New"/>
                <a:cs typeface="Courier New"/>
                <a:sym typeface="Courier New"/>
              </a:rPr>
              <a:t>awk '$3 == "192.168.125.105" {sum += $11} END {print sum}' </a:t>
            </a:r>
            <a:r>
              <a:rPr lang="en" b="1" dirty="0" err="1">
                <a:solidFill>
                  <a:srgbClr val="00B3EB"/>
                </a:solidFill>
                <a:highlight>
                  <a:schemeClr val="lt1"/>
                </a:highlight>
                <a:latin typeface="Courier New"/>
                <a:ea typeface="Courier New"/>
                <a:cs typeface="Courier New"/>
                <a:sym typeface="Courier New"/>
              </a:rPr>
              <a:t>conn.log</a:t>
            </a:r>
            <a:endParaRPr b="1" dirty="0">
              <a:solidFill>
                <a:srgbClr val="00B3EB"/>
              </a:solidFill>
              <a:highlight>
                <a:schemeClr val="lt1"/>
              </a:highlight>
              <a:latin typeface="Courier New"/>
              <a:ea typeface="Courier New"/>
              <a:cs typeface="Courier New"/>
              <a:sym typeface="Courier New"/>
            </a:endParaRPr>
          </a:p>
          <a:p>
            <a:pPr marL="0" lvl="0" indent="0" algn="l" rtl="0">
              <a:lnSpc>
                <a:spcPct val="100000"/>
              </a:lnSpc>
              <a:spcBef>
                <a:spcPts val="1800"/>
              </a:spcBef>
              <a:spcAft>
                <a:spcPts val="0"/>
              </a:spcAft>
              <a:buSzPts val="1800"/>
              <a:buNone/>
            </a:pPr>
            <a:endParaRPr b="1" dirty="0">
              <a:solidFill>
                <a:srgbClr val="00B3EB"/>
              </a:solidFill>
              <a:highlight>
                <a:schemeClr val="lt1"/>
              </a:highlight>
              <a:latin typeface="Courier New"/>
              <a:ea typeface="Courier New"/>
              <a:cs typeface="Courier New"/>
              <a:sym typeface="Courier New"/>
            </a:endParaRPr>
          </a:p>
          <a:p>
            <a:pPr marL="0" lvl="0" indent="0" algn="l" rtl="0">
              <a:lnSpc>
                <a:spcPct val="100000"/>
              </a:lnSpc>
              <a:spcBef>
                <a:spcPts val="1800"/>
              </a:spcBef>
              <a:spcAft>
                <a:spcPts val="1800"/>
              </a:spcAft>
              <a:buSzPts val="1800"/>
              <a:buNone/>
            </a:pPr>
            <a:endParaRPr dirty="0">
              <a:solidFill>
                <a:schemeClr val="dk1"/>
              </a:solidFill>
              <a:highlight>
                <a:srgbClr val="FFFFFF"/>
              </a:highlight>
            </a:endParaRPr>
          </a:p>
        </p:txBody>
      </p:sp>
      <p:sp>
        <p:nvSpPr>
          <p:cNvPr id="264" name="Google Shape;264;p18"/>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B3EB"/>
                </a:solidFill>
              </a:rPr>
              <a:t>Log Processing Commands</a:t>
            </a:r>
            <a:endParaRPr b="1">
              <a:solidFill>
                <a:srgbClr val="00B3EB"/>
              </a:solidFill>
            </a:endParaRPr>
          </a:p>
        </p:txBody>
      </p:sp>
      <p:sp>
        <p:nvSpPr>
          <p:cNvPr id="265" name="Google Shape;265;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33f2de1e6ea_0_76"/>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B3EB"/>
                </a:solidFill>
              </a:rPr>
              <a:t>Log Processing Exercises</a:t>
            </a:r>
            <a:endParaRPr b="1">
              <a:solidFill>
                <a:srgbClr val="00B3EB"/>
              </a:solidFill>
            </a:endParaRPr>
          </a:p>
        </p:txBody>
      </p:sp>
      <p:sp>
        <p:nvSpPr>
          <p:cNvPr id="271" name="Google Shape;271;g33f2de1e6ea_0_76"/>
          <p:cNvSpPr txBox="1">
            <a:spLocks noGrp="1"/>
          </p:cNvSpPr>
          <p:nvPr>
            <p:ph type="body" idx="1"/>
          </p:nvPr>
        </p:nvSpPr>
        <p:spPr>
          <a:xfrm>
            <a:off x="311700" y="572700"/>
            <a:ext cx="8759700" cy="4439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b="1" u="sng">
                <a:solidFill>
                  <a:srgbClr val="00B3EB"/>
                </a:solidFill>
                <a:highlight>
                  <a:srgbClr val="FFFFFF"/>
                </a:highlight>
                <a:latin typeface="Courier New"/>
                <a:ea typeface="Courier New"/>
                <a:cs typeface="Courier New"/>
                <a:sym typeface="Courier New"/>
              </a:rPr>
              <a:t>Directory</a:t>
            </a:r>
            <a:r>
              <a:rPr lang="en" b="1">
                <a:solidFill>
                  <a:srgbClr val="00B3EB"/>
                </a:solidFill>
                <a:highlight>
                  <a:srgbClr val="FFFFFF"/>
                </a:highlight>
                <a:latin typeface="Courier New"/>
                <a:ea typeface="Courier New"/>
                <a:cs typeface="Courier New"/>
                <a:sym typeface="Courier New"/>
              </a:rPr>
              <a:t>:</a:t>
            </a:r>
            <a:r>
              <a:rPr lang="en">
                <a:solidFill>
                  <a:srgbClr val="00B3EB"/>
                </a:solidFill>
                <a:highlight>
                  <a:srgbClr val="FFFFFF"/>
                </a:highlight>
                <a:latin typeface="Courier New"/>
                <a:ea typeface="Courier New"/>
                <a:cs typeface="Courier New"/>
                <a:sym typeface="Courier New"/>
              </a:rPr>
              <a:t> </a:t>
            </a:r>
            <a:r>
              <a:rPr lang="en" b="1">
                <a:solidFill>
                  <a:srgbClr val="00B3EB"/>
                </a:solidFill>
                <a:highlight>
                  <a:srgbClr val="FFFFFF"/>
                </a:highlight>
                <a:latin typeface="Courier New"/>
                <a:ea typeface="Courier New"/>
                <a:cs typeface="Courier New"/>
                <a:sym typeface="Courier New"/>
              </a:rPr>
              <a:t>/zeek/logs/capture_pcap</a:t>
            </a:r>
            <a:endParaRPr b="1">
              <a:solidFill>
                <a:srgbClr val="00B3EB"/>
              </a:solidFill>
              <a:highlight>
                <a:srgbClr val="FFFFFF"/>
              </a:highlight>
              <a:latin typeface="Courier New"/>
              <a:ea typeface="Courier New"/>
              <a:cs typeface="Courier New"/>
              <a:sym typeface="Courier New"/>
            </a:endParaRPr>
          </a:p>
          <a:p>
            <a:pPr marL="0" lvl="0" indent="0" algn="l" rtl="0">
              <a:lnSpc>
                <a:spcPct val="100000"/>
              </a:lnSpc>
              <a:spcBef>
                <a:spcPts val="1800"/>
              </a:spcBef>
              <a:spcAft>
                <a:spcPts val="0"/>
              </a:spcAft>
              <a:buSzPts val="1800"/>
              <a:buNone/>
            </a:pPr>
            <a:r>
              <a:rPr lang="en" b="1" u="sng">
                <a:solidFill>
                  <a:srgbClr val="00B3EB"/>
                </a:solidFill>
                <a:highlight>
                  <a:schemeClr val="lt1"/>
                </a:highlight>
                <a:latin typeface="Courier New"/>
                <a:ea typeface="Courier New"/>
                <a:cs typeface="Courier New"/>
                <a:sym typeface="Courier New"/>
              </a:rPr>
              <a:t>File</a:t>
            </a:r>
            <a:r>
              <a:rPr lang="en" b="1">
                <a:solidFill>
                  <a:srgbClr val="00B3EB"/>
                </a:solidFill>
                <a:highlight>
                  <a:schemeClr val="lt1"/>
                </a:highlight>
                <a:latin typeface="Courier New"/>
                <a:ea typeface="Courier New"/>
                <a:cs typeface="Courier New"/>
                <a:sym typeface="Courier New"/>
              </a:rPr>
              <a:t>:</a:t>
            </a:r>
            <a:r>
              <a:rPr lang="en">
                <a:solidFill>
                  <a:srgbClr val="00B3EB"/>
                </a:solidFill>
                <a:highlight>
                  <a:schemeClr val="lt1"/>
                </a:highlight>
                <a:latin typeface="Courier New"/>
                <a:ea typeface="Courier New"/>
                <a:cs typeface="Courier New"/>
                <a:sym typeface="Courier New"/>
              </a:rPr>
              <a:t> </a:t>
            </a:r>
            <a:r>
              <a:rPr lang="en" b="1">
                <a:solidFill>
                  <a:srgbClr val="00B3EB"/>
                </a:solidFill>
                <a:highlight>
                  <a:schemeClr val="lt1"/>
                </a:highlight>
                <a:latin typeface="Courier New"/>
                <a:ea typeface="Courier New"/>
                <a:cs typeface="Courier New"/>
                <a:sym typeface="Courier New"/>
              </a:rPr>
              <a:t>/zeek/logs/capture_pcap/conn.log</a:t>
            </a:r>
            <a:endParaRPr b="1">
              <a:solidFill>
                <a:srgbClr val="00B3EB"/>
              </a:solidFill>
              <a:highlight>
                <a:srgbClr val="FFFFFF"/>
              </a:highlight>
              <a:latin typeface="Courier New"/>
              <a:ea typeface="Courier New"/>
              <a:cs typeface="Courier New"/>
              <a:sym typeface="Courier New"/>
            </a:endParaRPr>
          </a:p>
          <a:p>
            <a:pPr marL="457200" lvl="0" indent="-342900" algn="l" rtl="0">
              <a:lnSpc>
                <a:spcPct val="100000"/>
              </a:lnSpc>
              <a:spcBef>
                <a:spcPts val="1800"/>
              </a:spcBef>
              <a:spcAft>
                <a:spcPts val="0"/>
              </a:spcAft>
              <a:buClr>
                <a:schemeClr val="dk1"/>
              </a:buClr>
              <a:buSzPts val="1800"/>
              <a:buAutoNum type="arabicParenR"/>
            </a:pPr>
            <a:r>
              <a:rPr lang="en">
                <a:solidFill>
                  <a:schemeClr val="dk1"/>
                </a:solidFill>
                <a:highlight>
                  <a:schemeClr val="lt1"/>
                </a:highlight>
              </a:rPr>
              <a:t>Using the sort command, show the connections from the shortest to the longest duration. (Hint: Refer to the speaker notes on slide 17)</a:t>
            </a:r>
            <a:br>
              <a:rPr lang="en">
                <a:solidFill>
                  <a:schemeClr val="dk1"/>
                </a:solidFill>
                <a:highlight>
                  <a:srgbClr val="FFFFFF"/>
                </a:highlight>
              </a:rPr>
            </a:br>
            <a:r>
              <a:rPr lang="en" b="1">
                <a:solidFill>
                  <a:srgbClr val="00B3EB"/>
                </a:solidFill>
                <a:highlight>
                  <a:srgbClr val="FFFFFF"/>
                </a:highlight>
                <a:latin typeface="Courier New"/>
                <a:ea typeface="Courier New"/>
                <a:cs typeface="Courier New"/>
                <a:sym typeface="Courier New"/>
              </a:rPr>
              <a:t>Query: </a:t>
            </a:r>
            <a:br>
              <a:rPr lang="en" b="1">
                <a:solidFill>
                  <a:srgbClr val="00B3EB"/>
                </a:solidFill>
                <a:highlight>
                  <a:srgbClr val="FFFFFF"/>
                </a:highlight>
                <a:latin typeface="Courier New"/>
                <a:ea typeface="Courier New"/>
                <a:cs typeface="Courier New"/>
                <a:sym typeface="Courier New"/>
              </a:rPr>
            </a:br>
            <a:r>
              <a:rPr lang="en">
                <a:solidFill>
                  <a:srgbClr val="00B3EB"/>
                </a:solidFill>
                <a:highlight>
                  <a:srgbClr val="FFFFFF"/>
                </a:highlight>
                <a:latin typeface="Courier New"/>
                <a:ea typeface="Courier New"/>
                <a:cs typeface="Courier New"/>
                <a:sym typeface="Courier New"/>
              </a:rPr>
              <a:t> </a:t>
            </a:r>
            <a:endParaRPr>
              <a:solidFill>
                <a:schemeClr val="dk1"/>
              </a:solidFill>
              <a:highlight>
                <a:srgbClr val="FFFFFF"/>
              </a:highlight>
            </a:endParaRPr>
          </a:p>
          <a:p>
            <a:pPr marL="457200" lvl="0" indent="-342900" algn="l" rtl="0">
              <a:lnSpc>
                <a:spcPct val="100000"/>
              </a:lnSpc>
              <a:spcBef>
                <a:spcPts val="0"/>
              </a:spcBef>
              <a:spcAft>
                <a:spcPts val="0"/>
              </a:spcAft>
              <a:buClr>
                <a:schemeClr val="dk1"/>
              </a:buClr>
              <a:buSzPts val="1800"/>
              <a:buAutoNum type="arabicParenR"/>
            </a:pPr>
            <a:r>
              <a:rPr lang="en">
                <a:solidFill>
                  <a:schemeClr val="dk1"/>
                </a:solidFill>
                <a:highlight>
                  <a:schemeClr val="lt1"/>
                </a:highlight>
              </a:rPr>
              <a:t>Using the sort &amp; uniq commands, show the top 5 destination ports from largest to smallest. (Hint: Refer to the speaker notes on slides 17 and 18)</a:t>
            </a:r>
            <a:br>
              <a:rPr lang="en">
                <a:solidFill>
                  <a:schemeClr val="dk1"/>
                </a:solidFill>
                <a:highlight>
                  <a:srgbClr val="FFFFFF"/>
                </a:highlight>
              </a:rPr>
            </a:br>
            <a:r>
              <a:rPr lang="en" b="1">
                <a:solidFill>
                  <a:srgbClr val="00B3EB"/>
                </a:solidFill>
                <a:highlight>
                  <a:schemeClr val="lt1"/>
                </a:highlight>
                <a:latin typeface="Courier New"/>
                <a:ea typeface="Courier New"/>
                <a:cs typeface="Courier New"/>
                <a:sym typeface="Courier New"/>
              </a:rPr>
              <a:t>Query:</a:t>
            </a:r>
            <a:r>
              <a:rPr lang="en">
                <a:solidFill>
                  <a:srgbClr val="00B3EB"/>
                </a:solidFill>
                <a:highlight>
                  <a:schemeClr val="lt1"/>
                </a:highlight>
                <a:latin typeface="Courier New"/>
                <a:ea typeface="Courier New"/>
                <a:cs typeface="Courier New"/>
                <a:sym typeface="Courier New"/>
              </a:rPr>
              <a:t> </a:t>
            </a:r>
            <a:br>
              <a:rPr lang="en">
                <a:solidFill>
                  <a:schemeClr val="dk1"/>
                </a:solidFill>
                <a:highlight>
                  <a:srgbClr val="FFFFFF"/>
                </a:highlight>
              </a:rPr>
            </a:br>
            <a:endParaRPr>
              <a:solidFill>
                <a:schemeClr val="dk1"/>
              </a:solidFill>
              <a:highlight>
                <a:srgbClr val="FFFFFF"/>
              </a:highlight>
            </a:endParaRPr>
          </a:p>
          <a:p>
            <a:pPr marL="457200" lvl="0" indent="-342900" algn="l" rtl="0">
              <a:lnSpc>
                <a:spcPct val="100000"/>
              </a:lnSpc>
              <a:spcBef>
                <a:spcPts val="0"/>
              </a:spcBef>
              <a:spcAft>
                <a:spcPts val="0"/>
              </a:spcAft>
              <a:buClr>
                <a:schemeClr val="dk1"/>
              </a:buClr>
              <a:buSzPts val="1800"/>
              <a:buAutoNum type="arabicParenR"/>
            </a:pPr>
            <a:r>
              <a:rPr lang="en">
                <a:solidFill>
                  <a:schemeClr val="dk1"/>
                </a:solidFill>
                <a:highlight>
                  <a:srgbClr val="FFFFFF"/>
                </a:highlight>
              </a:rPr>
              <a:t>Using awk, find all connections that have a duration longer than 5 seconds.</a:t>
            </a:r>
            <a:br>
              <a:rPr lang="en">
                <a:solidFill>
                  <a:schemeClr val="dk1"/>
                </a:solidFill>
                <a:highlight>
                  <a:srgbClr val="FFFFFF"/>
                </a:highlight>
              </a:rPr>
            </a:br>
            <a:r>
              <a:rPr lang="en">
                <a:solidFill>
                  <a:schemeClr val="dk1"/>
                </a:solidFill>
                <a:highlight>
                  <a:srgbClr val="FFFFFF"/>
                </a:highlight>
              </a:rPr>
              <a:t>(Hint: Refer to the speaker notes on slide 19)</a:t>
            </a:r>
            <a:br>
              <a:rPr lang="en">
                <a:solidFill>
                  <a:schemeClr val="dk1"/>
                </a:solidFill>
                <a:highlight>
                  <a:srgbClr val="FFFFFF"/>
                </a:highlight>
              </a:rPr>
            </a:br>
            <a:r>
              <a:rPr lang="en" b="1">
                <a:solidFill>
                  <a:srgbClr val="00B3EB"/>
                </a:solidFill>
                <a:highlight>
                  <a:schemeClr val="lt1"/>
                </a:highlight>
                <a:latin typeface="Courier New"/>
                <a:ea typeface="Courier New"/>
                <a:cs typeface="Courier New"/>
                <a:sym typeface="Courier New"/>
              </a:rPr>
              <a:t>Query:</a:t>
            </a:r>
            <a:r>
              <a:rPr lang="en">
                <a:solidFill>
                  <a:srgbClr val="00B3EB"/>
                </a:solidFill>
                <a:highlight>
                  <a:schemeClr val="lt1"/>
                </a:highlight>
                <a:latin typeface="Courier New"/>
                <a:ea typeface="Courier New"/>
                <a:cs typeface="Courier New"/>
                <a:sym typeface="Courier New"/>
              </a:rPr>
              <a:t> </a:t>
            </a:r>
            <a:br>
              <a:rPr lang="en">
                <a:solidFill>
                  <a:schemeClr val="dk1"/>
                </a:solidFill>
                <a:highlight>
                  <a:srgbClr val="FFFFFF"/>
                </a:highlight>
              </a:rPr>
            </a:br>
            <a:endParaRPr>
              <a:solidFill>
                <a:schemeClr val="dk1"/>
              </a:solidFill>
              <a:highlight>
                <a:srgbClr val="FFFFFF"/>
              </a:highlight>
            </a:endParaRPr>
          </a:p>
        </p:txBody>
      </p:sp>
      <p:sp>
        <p:nvSpPr>
          <p:cNvPr id="272" name="Google Shape;272;g33f2de1e6ea_0_7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cbab01e034_0_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100000"/>
              <a:buFont typeface="Arial"/>
              <a:buNone/>
            </a:pPr>
            <a:r>
              <a:rPr lang="en" b="1">
                <a:solidFill>
                  <a:srgbClr val="00AAE3"/>
                </a:solidFill>
              </a:rPr>
              <a:t>Q &amp; A</a:t>
            </a:r>
            <a:endParaRPr b="1">
              <a:solidFill>
                <a:srgbClr val="00AAE3"/>
              </a:solidFill>
            </a:endParaRPr>
          </a:p>
          <a:p>
            <a:pPr marL="0" lvl="0" indent="0" algn="l" rtl="0">
              <a:spcBef>
                <a:spcPts val="0"/>
              </a:spcBef>
              <a:spcAft>
                <a:spcPts val="0"/>
              </a:spcAft>
              <a:buNone/>
            </a:pPr>
            <a:endParaRPr/>
          </a:p>
        </p:txBody>
      </p:sp>
      <p:sp>
        <p:nvSpPr>
          <p:cNvPr id="278" name="Google Shape;278;g3cbab01e034_0_0"/>
          <p:cNvSpPr txBox="1">
            <a:spLocks noGrp="1"/>
          </p:cNvSpPr>
          <p:nvPr>
            <p:ph type="body" idx="1"/>
          </p:nvPr>
        </p:nvSpPr>
        <p:spPr>
          <a:xfrm>
            <a:off x="311700" y="1416922"/>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Clr>
                <a:schemeClr val="dk1"/>
              </a:buClr>
              <a:buSzPts val="2200"/>
              <a:buChar char="-"/>
            </a:pPr>
            <a:r>
              <a:rPr lang="en" sz="2200">
                <a:solidFill>
                  <a:schemeClr val="dk1"/>
                </a:solidFill>
              </a:rPr>
              <a:t>Questions?</a:t>
            </a:r>
            <a:endParaRPr sz="2200">
              <a:solidFill>
                <a:schemeClr val="dk1"/>
              </a:solidFill>
            </a:endParaRPr>
          </a:p>
          <a:p>
            <a:pPr marL="0" lvl="0" indent="0" algn="l" rtl="0">
              <a:spcBef>
                <a:spcPts val="0"/>
              </a:spcBef>
              <a:spcAft>
                <a:spcPts val="0"/>
              </a:spcAft>
              <a:buNone/>
            </a:pPr>
            <a:endParaRPr sz="2200">
              <a:solidFill>
                <a:schemeClr val="dk1"/>
              </a:solidFill>
            </a:endParaRPr>
          </a:p>
          <a:p>
            <a:pPr marL="457200" lvl="0" indent="-368300" algn="l" rtl="0">
              <a:spcBef>
                <a:spcPts val="0"/>
              </a:spcBef>
              <a:spcAft>
                <a:spcPts val="0"/>
              </a:spcAft>
              <a:buClr>
                <a:schemeClr val="dk1"/>
              </a:buClr>
              <a:buSzPts val="2200"/>
              <a:buChar char="-"/>
            </a:pPr>
            <a:r>
              <a:rPr lang="en" sz="2200">
                <a:solidFill>
                  <a:schemeClr val="dk1"/>
                </a:solidFill>
              </a:rPr>
              <a:t>Discussion</a:t>
            </a:r>
            <a:endParaRPr sz="2200">
              <a:solidFill>
                <a:schemeClr val="dk1"/>
              </a:solidFill>
            </a:endParaRPr>
          </a:p>
          <a:p>
            <a:pPr marL="0" lvl="0" indent="0" algn="l" rtl="0">
              <a:spcBef>
                <a:spcPts val="0"/>
              </a:spcBef>
              <a:spcAft>
                <a:spcPts val="0"/>
              </a:spcAft>
              <a:buNone/>
            </a:pPr>
            <a:endParaRPr sz="2200">
              <a:solidFill>
                <a:schemeClr val="dk1"/>
              </a:solidFill>
            </a:endParaRPr>
          </a:p>
          <a:p>
            <a:pPr marL="457200" lvl="0" indent="-368300" algn="l" rtl="0">
              <a:spcBef>
                <a:spcPts val="0"/>
              </a:spcBef>
              <a:spcAft>
                <a:spcPts val="0"/>
              </a:spcAft>
              <a:buClr>
                <a:schemeClr val="dk1"/>
              </a:buClr>
              <a:buSzPts val="2200"/>
              <a:buChar char="-"/>
            </a:pPr>
            <a:r>
              <a:rPr lang="en" sz="2200">
                <a:solidFill>
                  <a:schemeClr val="dk1"/>
                </a:solidFill>
              </a:rPr>
              <a:t>Key Takeaways</a:t>
            </a:r>
            <a:endParaRPr sz="2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0"/>
          <p:cNvSpPr txBox="1">
            <a:spLocks noGrp="1"/>
          </p:cNvSpPr>
          <p:nvPr>
            <p:ph type="title"/>
          </p:nvPr>
        </p:nvSpPr>
        <p:spPr>
          <a:xfrm>
            <a:off x="311700" y="36195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b="1">
                <a:solidFill>
                  <a:srgbClr val="00AAE3"/>
                </a:solidFill>
              </a:rPr>
              <a:t>Additional Resources</a:t>
            </a:r>
            <a:endParaRPr b="1">
              <a:solidFill>
                <a:srgbClr val="00AAE3"/>
              </a:solidFill>
            </a:endParaRPr>
          </a:p>
        </p:txBody>
      </p:sp>
      <p:sp>
        <p:nvSpPr>
          <p:cNvPr id="284" name="Google Shape;284;p20"/>
          <p:cNvSpPr txBox="1">
            <a:spLocks noGrp="1"/>
          </p:cNvSpPr>
          <p:nvPr>
            <p:ph type="body" idx="1"/>
          </p:nvPr>
        </p:nvSpPr>
        <p:spPr>
          <a:xfrm>
            <a:off x="311700" y="124682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800"/>
              <a:buFont typeface="Arial"/>
              <a:buNone/>
            </a:pPr>
            <a:r>
              <a:rPr lang="en" sz="1600" b="1">
                <a:solidFill>
                  <a:schemeClr val="dk1"/>
                </a:solidFill>
              </a:rPr>
              <a:t>Website:</a:t>
            </a:r>
            <a:r>
              <a:rPr lang="en" sz="1600">
                <a:solidFill>
                  <a:schemeClr val="dk2"/>
                </a:solidFill>
              </a:rPr>
              <a:t> </a:t>
            </a:r>
            <a:r>
              <a:rPr lang="en" sz="1600" u="sng">
                <a:solidFill>
                  <a:srgbClr val="46ABE3"/>
                </a:solidFill>
                <a:hlinkClick r:id="rId3">
                  <a:extLst>
                    <a:ext uri="{A12FA001-AC4F-418D-AE19-62706E023703}">
                      <ahyp:hlinkClr xmlns:ahyp="http://schemas.microsoft.com/office/drawing/2018/hyperlinkcolor" val="tx"/>
                    </a:ext>
                  </a:extLst>
                </a:hlinkClick>
              </a:rPr>
              <a:t>https://zeek.org</a:t>
            </a:r>
            <a:endParaRPr sz="1600">
              <a:solidFill>
                <a:srgbClr val="46ABE3"/>
              </a:solidFill>
            </a:endParaRPr>
          </a:p>
          <a:p>
            <a:pPr marL="0" lvl="0" indent="0" algn="l" rtl="0">
              <a:lnSpc>
                <a:spcPct val="115000"/>
              </a:lnSpc>
              <a:spcBef>
                <a:spcPts val="1600"/>
              </a:spcBef>
              <a:spcAft>
                <a:spcPts val="0"/>
              </a:spcAft>
              <a:buClr>
                <a:schemeClr val="dk1"/>
              </a:buClr>
              <a:buSzPts val="1800"/>
              <a:buFont typeface="Arial"/>
              <a:buNone/>
            </a:pPr>
            <a:r>
              <a:rPr lang="en" sz="1600" b="1">
                <a:solidFill>
                  <a:schemeClr val="dk1"/>
                </a:solidFill>
              </a:rPr>
              <a:t>Slack:</a:t>
            </a:r>
            <a:r>
              <a:rPr lang="en" sz="1600">
                <a:solidFill>
                  <a:srgbClr val="FF0000"/>
                </a:solidFill>
              </a:rPr>
              <a:t> </a:t>
            </a:r>
            <a:r>
              <a:rPr lang="en" sz="1600" u="sng">
                <a:solidFill>
                  <a:srgbClr val="46ABE3"/>
                </a:solidFill>
                <a:hlinkClick r:id="rId4">
                  <a:extLst>
                    <a:ext uri="{A12FA001-AC4F-418D-AE19-62706E023703}">
                      <ahyp:hlinkClr xmlns:ahyp="http://schemas.microsoft.com/office/drawing/2018/hyperlinkcolor" val="tx"/>
                    </a:ext>
                  </a:extLst>
                </a:hlinkClick>
              </a:rPr>
              <a:t>https://zeek.org/slack</a:t>
            </a:r>
            <a:endParaRPr sz="1600">
              <a:solidFill>
                <a:srgbClr val="46ABE3"/>
              </a:solidFill>
            </a:endParaRPr>
          </a:p>
          <a:p>
            <a:pPr marL="0" lvl="0" indent="0" algn="l" rtl="0">
              <a:lnSpc>
                <a:spcPct val="115000"/>
              </a:lnSpc>
              <a:spcBef>
                <a:spcPts val="1600"/>
              </a:spcBef>
              <a:spcAft>
                <a:spcPts val="0"/>
              </a:spcAft>
              <a:buClr>
                <a:schemeClr val="dk1"/>
              </a:buClr>
              <a:buSzPts val="1800"/>
              <a:buFont typeface="Arial"/>
              <a:buNone/>
            </a:pPr>
            <a:r>
              <a:rPr lang="en" sz="1600" b="1">
                <a:solidFill>
                  <a:schemeClr val="dk1"/>
                </a:solidFill>
              </a:rPr>
              <a:t>Discourse:</a:t>
            </a:r>
            <a:r>
              <a:rPr lang="en" sz="1600">
                <a:solidFill>
                  <a:srgbClr val="FF0000"/>
                </a:solidFill>
              </a:rPr>
              <a:t> </a:t>
            </a:r>
            <a:r>
              <a:rPr lang="en" sz="1600" u="sng">
                <a:solidFill>
                  <a:srgbClr val="46ABE3"/>
                </a:solidFill>
                <a:hlinkClick r:id="rId4">
                  <a:extLst>
                    <a:ext uri="{A12FA001-AC4F-418D-AE19-62706E023703}">
                      <ahyp:hlinkClr xmlns:ahyp="http://schemas.microsoft.com/office/drawing/2018/hyperlinkcolor" val="tx"/>
                    </a:ext>
                  </a:extLst>
                </a:hlinkClick>
              </a:rPr>
              <a:t>https://community.zeek.org</a:t>
            </a:r>
            <a:endParaRPr sz="1600" b="1">
              <a:solidFill>
                <a:srgbClr val="46ABE3"/>
              </a:solidFill>
            </a:endParaRPr>
          </a:p>
          <a:p>
            <a:pPr marL="0" lvl="0" indent="0" algn="l" rtl="0">
              <a:lnSpc>
                <a:spcPct val="115000"/>
              </a:lnSpc>
              <a:spcBef>
                <a:spcPts val="1600"/>
              </a:spcBef>
              <a:spcAft>
                <a:spcPts val="0"/>
              </a:spcAft>
              <a:buSzPts val="1800"/>
              <a:buNone/>
            </a:pPr>
            <a:r>
              <a:rPr lang="en" sz="1600" b="1">
                <a:solidFill>
                  <a:schemeClr val="dk1"/>
                </a:solidFill>
              </a:rPr>
              <a:t>Find out more ways to connect at:</a:t>
            </a:r>
            <a:r>
              <a:rPr lang="en" sz="1600">
                <a:solidFill>
                  <a:schemeClr val="dk2"/>
                </a:solidFill>
              </a:rPr>
              <a:t> </a:t>
            </a:r>
            <a:r>
              <a:rPr lang="en" sz="1600" u="sng">
                <a:solidFill>
                  <a:srgbClr val="46ABE3"/>
                </a:solidFill>
                <a:hlinkClick r:id="rId5">
                  <a:extLst>
                    <a:ext uri="{A12FA001-AC4F-418D-AE19-62706E023703}">
                      <ahyp:hlinkClr xmlns:ahyp="http://schemas.microsoft.com/office/drawing/2018/hyperlinkcolor" val="tx"/>
                    </a:ext>
                  </a:extLst>
                </a:hlinkClick>
              </a:rPr>
              <a:t>https://zeek.org/community/</a:t>
            </a:r>
            <a:endParaRPr sz="1600">
              <a:solidFill>
                <a:srgbClr val="46ABE3"/>
              </a:solidFill>
            </a:endParaRPr>
          </a:p>
          <a:p>
            <a:pPr marL="0" lvl="0" indent="0" algn="l" rtl="0">
              <a:lnSpc>
                <a:spcPct val="115000"/>
              </a:lnSpc>
              <a:spcBef>
                <a:spcPts val="1600"/>
              </a:spcBef>
              <a:spcAft>
                <a:spcPts val="0"/>
              </a:spcAft>
              <a:buSzPts val="1800"/>
              <a:buNone/>
            </a:pPr>
            <a:r>
              <a:rPr lang="en" sz="1600" b="1">
                <a:solidFill>
                  <a:schemeClr val="dk1"/>
                </a:solidFill>
              </a:rPr>
              <a:t>Zeek Training Resources:</a:t>
            </a:r>
            <a:r>
              <a:rPr lang="en" sz="1600">
                <a:solidFill>
                  <a:schemeClr val="dk2"/>
                </a:solidFill>
              </a:rPr>
              <a:t> </a:t>
            </a:r>
            <a:r>
              <a:rPr lang="en" sz="1600" u="sng">
                <a:solidFill>
                  <a:srgbClr val="46ABE3"/>
                </a:solidFill>
                <a:hlinkClick r:id="rId6">
                  <a:extLst>
                    <a:ext uri="{A12FA001-AC4F-418D-AE19-62706E023703}">
                      <ahyp:hlinkClr xmlns:ahyp="http://schemas.microsoft.com/office/drawing/2018/hyperlinkcolor" val="tx"/>
                    </a:ext>
                  </a:extLst>
                </a:hlinkClick>
              </a:rPr>
              <a:t>https://github.com/zeek/zeek-training/tree/master/Intro-to-Zeek/training-res</a:t>
            </a:r>
            <a:br>
              <a:rPr lang="en" sz="1600"/>
            </a:br>
            <a:endParaRPr sz="1600"/>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rPr>
              <a:t>Log File Overview:</a:t>
            </a:r>
            <a:r>
              <a:rPr lang="en" sz="1600"/>
              <a:t> </a:t>
            </a:r>
            <a:r>
              <a:rPr lang="en" sz="1600" u="sng">
                <a:solidFill>
                  <a:srgbClr val="46ABE3"/>
                </a:solidFill>
                <a:hlinkClick r:id="rId7">
                  <a:extLst>
                    <a:ext uri="{A12FA001-AC4F-418D-AE19-62706E023703}">
                      <ahyp:hlinkClr xmlns:ahyp="http://schemas.microsoft.com/office/drawing/2018/hyperlinkcolor" val="tx"/>
                    </a:ext>
                  </a:extLst>
                </a:hlinkClick>
              </a:rPr>
              <a:t>https://docs.zeek.org/en/master/logs/index.html</a:t>
            </a:r>
            <a:endParaRPr sz="1600">
              <a:solidFill>
                <a:srgbClr val="46ABE3"/>
              </a:solidFill>
            </a:endParaRPr>
          </a:p>
        </p:txBody>
      </p:sp>
      <p:sp>
        <p:nvSpPr>
          <p:cNvPr id="285" name="Google Shape;285;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3375e461512_0_150"/>
          <p:cNvSpPr txBox="1">
            <a:spLocks noGrp="1"/>
          </p:cNvSpPr>
          <p:nvPr>
            <p:ph type="title"/>
          </p:nvPr>
        </p:nvSpPr>
        <p:spPr>
          <a:xfrm>
            <a:off x="311700" y="36195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b="1">
                <a:solidFill>
                  <a:srgbClr val="00AAE3"/>
                </a:solidFill>
              </a:rPr>
              <a:t>Citation</a:t>
            </a:r>
            <a:endParaRPr b="1">
              <a:solidFill>
                <a:srgbClr val="00AAE3"/>
              </a:solidFill>
            </a:endParaRPr>
          </a:p>
        </p:txBody>
      </p:sp>
      <p:sp>
        <p:nvSpPr>
          <p:cNvPr id="291" name="Google Shape;291;g3375e461512_0_150"/>
          <p:cNvSpPr txBox="1">
            <a:spLocks noGrp="1"/>
          </p:cNvSpPr>
          <p:nvPr>
            <p:ph type="body" idx="1"/>
          </p:nvPr>
        </p:nvSpPr>
        <p:spPr>
          <a:xfrm>
            <a:off x="311700" y="1246825"/>
            <a:ext cx="8520600" cy="34164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Clr>
                <a:schemeClr val="dk1"/>
              </a:buClr>
              <a:buSzPts val="1100"/>
              <a:buFont typeface="Arial"/>
              <a:buNone/>
            </a:pPr>
            <a:r>
              <a:rPr lang="en" sz="1600" b="1">
                <a:solidFill>
                  <a:schemeClr val="dk1"/>
                </a:solidFill>
              </a:rPr>
              <a:t>The theme for these slides and portions of the content within this presentation were borrowed from existing Zeek training material.</a:t>
            </a: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rPr>
              <a:t>Authors: </a:t>
            </a:r>
            <a:r>
              <a:rPr lang="en" sz="1600">
                <a:solidFill>
                  <a:schemeClr val="dk1"/>
                </a:solidFill>
              </a:rPr>
              <a:t>Keith Lehigh, Christian Kreibich, Fatema Bannat Wala</a:t>
            </a:r>
            <a:endParaRPr sz="16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600" b="1">
                <a:solidFill>
                  <a:schemeClr val="dk1"/>
                </a:solidFill>
              </a:rPr>
              <a:t>Reference:</a:t>
            </a:r>
            <a:r>
              <a:rPr lang="en" sz="1600">
                <a:solidFill>
                  <a:schemeClr val="dk1"/>
                </a:solidFill>
              </a:rPr>
              <a:t> </a:t>
            </a:r>
            <a:r>
              <a:rPr lang="en" sz="1600" u="sng">
                <a:solidFill>
                  <a:srgbClr val="46ABE3"/>
                </a:solidFill>
                <a:hlinkClick r:id="rId3">
                  <a:extLst>
                    <a:ext uri="{A12FA001-AC4F-418D-AE19-62706E023703}">
                      <ahyp:hlinkClr xmlns:ahyp="http://schemas.microsoft.com/office/drawing/2018/hyperlinkcolor" val="tx"/>
                    </a:ext>
                  </a:extLst>
                </a:hlinkClick>
              </a:rPr>
              <a:t>Introduction to real-world Zeek deployment</a:t>
            </a:r>
            <a:endParaRPr sz="1600">
              <a:solidFill>
                <a:srgbClr val="46ABE3"/>
              </a:solidFill>
            </a:endParaRPr>
          </a:p>
          <a:p>
            <a:pPr marL="0" lvl="0" indent="0" algn="l" rtl="0">
              <a:lnSpc>
                <a:spcPct val="115000"/>
              </a:lnSpc>
              <a:spcBef>
                <a:spcPts val="0"/>
              </a:spcBef>
              <a:spcAft>
                <a:spcPts val="0"/>
              </a:spcAft>
              <a:buClr>
                <a:schemeClr val="dk1"/>
              </a:buClr>
              <a:buSzPts val="1100"/>
              <a:buFont typeface="Arial"/>
              <a:buNone/>
            </a:pP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br>
              <a:rPr lang="en" sz="1600" b="1">
                <a:solidFill>
                  <a:schemeClr val="dk1"/>
                </a:solidFill>
              </a:rPr>
            </a:b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600" b="1">
              <a:solidFill>
                <a:schemeClr val="dk1"/>
              </a:solidFill>
            </a:endParaRPr>
          </a:p>
        </p:txBody>
      </p:sp>
      <p:sp>
        <p:nvSpPr>
          <p:cNvPr id="292" name="Google Shape;292;g3375e461512_0_1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20</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2598</Words>
  <Application>Microsoft Macintosh PowerPoint</Application>
  <PresentationFormat>On-screen Show (16:9)</PresentationFormat>
  <Paragraphs>228</Paragraphs>
  <Slides>20</Slides>
  <Notes>20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20</vt:i4>
      </vt:variant>
    </vt:vector>
  </HeadingPairs>
  <TitlesOfParts>
    <vt:vector size="24" baseType="lpstr">
      <vt:lpstr>Arial</vt:lpstr>
      <vt:lpstr>Courier New</vt:lpstr>
      <vt:lpstr>Simple Light</vt:lpstr>
      <vt:lpstr>Simple Light</vt:lpstr>
      <vt:lpstr>Beginner Zeek Training Session #1  Taylor Schutt Cybersecurity Administrator CENIC Information Security Office </vt:lpstr>
      <vt:lpstr>What is Zeek?</vt:lpstr>
      <vt:lpstr>Who Uses Zeek?</vt:lpstr>
      <vt:lpstr>Zeek Architecture</vt:lpstr>
      <vt:lpstr>Zeek Architecture</vt:lpstr>
      <vt:lpstr>Container Overview </vt:lpstr>
      <vt:lpstr>Docker / Zeek Usage</vt:lpstr>
      <vt:lpstr>Docker Setup</vt:lpstr>
      <vt:lpstr>Logs</vt:lpstr>
      <vt:lpstr>Zeek Cut</vt:lpstr>
      <vt:lpstr>Standard Log Output</vt:lpstr>
      <vt:lpstr>Zeek-Cut Output</vt:lpstr>
      <vt:lpstr>Log Processing Commands</vt:lpstr>
      <vt:lpstr>Log Processing Commands</vt:lpstr>
      <vt:lpstr>Log Processing Commands</vt:lpstr>
      <vt:lpstr>Log Processing Commands</vt:lpstr>
      <vt:lpstr>Log Processing Exercises</vt:lpstr>
      <vt:lpstr>Q &amp; A </vt:lpstr>
      <vt:lpstr>Additional Resources</vt:lpstr>
      <vt:lpstr>Citation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Arwa Hussain Chaiwala</cp:lastModifiedBy>
  <cp:revision>2</cp:revision>
  <dcterms:modified xsi:type="dcterms:W3CDTF">2026-04-21T17:03:02Z</dcterms:modified>
</cp:coreProperties>
</file>